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Hangman: Rescue Mission είναι ένα παιχνίδι λεξιλογίου που έφτιαξα ως project στο bootcamp το 2023 και ξαναέφτιαξα το 2026, με έναν αυστηρό κανόνα: να μη στοιχίζει τίποτα στη λειτουργία του. Σε αυτή την παρουσίαση θα δείτε την ιστορία της ανακατασκευής και, περισσότερο από τα features, τις αποφάσεις που κρύβονται πίσω της. Τα γράμματα στο κάτω μέρος σχηματίζουν τη λέξη RESCUE με ένα γράμμα να λείπει ακόμα, γιατί το project συνεχίζεται.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έκδοση του 2023 ήταν project bootcamp: MERN stack, με το OpenAI να παράγει περιεχόμενο. Δούλευε, όμως οι προτάσεις-παραδείγματα έβγαιναν από LLM και αποδίδονταν σε υπαρκτούς συγγραφείς, έργα και ημερομηνίες. Τα κατασκευασμένα παραθέματα δεν έχουν θέση σε ένα εργαλείο εκμάθησης, και γι αυτό είδα την ανακατασκευή ως ανασχεδιασμό και όχι ως απλό καθάρισμα. Από τους πίνακες που είχε φτιάξει το DALL·E 2 το 2023 σώζονται 116 και χρησιμοποιούνται ακόμα.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βασική απόφαση: δεν προσπάθησα να μεταφέρω τον παλιό κώδικα. Κράτησα την ιδέα, τις 105 λέξεις και τους πίνακες που διασώθηκαν, και ξαναέχτισα όλα τα υπόλοιπα με τρεις κανόνες: μόνο πραγματικό περιεχόμενο με αναφορά της πηγής, σύγχρονες τεχνολογίες και κόστος λειτουργίας που μένει μηδέν. Κάθε πρόταση που απαιτεί πληρωμένο πλάνο σημειώνεται για απόφαση και δεν υλοποιείται σιωπηλά.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Αυτό είναι το live site. Η ιστορία είναι μια αποστολή διάσωσης: το ρομπότ-ζωγράφος Artsy έχει σβήσει και κάθε σωστό γράμμα τον επανεκκινεί. Το πρώτο στιγμιότυπο δείχνει έναν γύρο σε εξέλιξη με ανοιχτή την πρώτη υπόδειξη. Το δεύτερο είναι η οθόνη νίκης: ένας από τους πίνακες που διασώθηκαν, ο ορισμός, η προφορά και ο ήχος από το Merriam-Webster, και η αναφορά στο λεξικό που απαιτεί η άδεια χρήσης. Ένας επισκέπτης χωρίς σύνδεση μπορεί να παίξει, αλλά δεν κερδίζει πόντους. Το UI της εφαρμογής είναι εσκεμμένα στα αγγλικά, γιατί το παιχνίδι υπάρχει για να μαθαίνει κανείς αγγλικό λεξιλόγιο.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Hall of Fame είναι δημόσιο και διαβάζει live από το API. Ο πίνακας περιέχει πραγματικά δεδομένα από λογαριασμούς του site. Το στιγμιότυπο για κινητό είναι η ίδια σελίδα του Hangman σε πλάτος κινητού: τη διάταξη τη δούλεψα σε δικό της βήμα και την επιβεβαίωσα σε πραγματικό κινητό στις 28 Σεπτεμβρίου. Θυμηθείτε τη διαφάνεια για το σκορ: ο πίνακας αυτός δηλώνει ανοιχτά ότι είναι ένας φιλικός πίνακας και όχι αξιόπιστη κατάταξη.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σχήμα του συστήματος. Το client είναι μια εφαρμογή React και Vite στο Cloudflare Pages. Ένας μικρός Worker με Hono χειρίζεται λογαριασμούς και σκορ πάνω σε D1. Τα δεδομένα των λέξεων είναι ένα στατικό JSON manifest και οι πίνακες ζωγραφικής βρίσκονται στο R2, οπότε το παιχνίδι δεν χρειάζεται API για λέξεις. Η τελευταία κάρτα έχει σημασία: δεν υπάρχει staging, κάθε push στο main και κάθε wrangler deploy είναι παραγωγή. Γι αυτό κάθε αλλαγή μένει μικρή και ελέγχεται πριν βγει.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Τέσσερις αριθμοί. Το κόστος είναι μηδέν και μένει μηδέν. Οι 105 λέξεις έχουν η καθεμία τον δικό της πίνακα. Το λεξιλόγιο της Illucia είναι 135.897 λέξεις μετά το φιλτράρισμα για προσβλητικό περιεχόμενο. Και ο αριθμός για το CPU προέρχεται από τις πρώτες μετρήσεις στο Free plan: διάμεσος 1,96 χιλιοστά του δευτερολέπτου και 3,56 στο 99ο εκατοστημόριο. Το σημειώνω επίτηδες ως μικρό δείγμα: είναι ένδειξη ότι ο σχεδιασμός χωράει στο free tier, όχι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Εδώ διορθώνεται το λάθος του 2023. Οι ορισμοί, η προφορά, ο ήχος και τα παραδείγματα προέρχονται από το Collegiate Dictionary του Merriam-Webster, με αναφορά στην οθόνη. Όπου το λεξικό είναι διφορούμενο, αποφασίζουν 76 ρητές ανθρώπινες επιλογές, ποτέ κάποιος κρυφός αλγόριθμος κατάταξης. Τις υποδείξεις και τις επεξηγήσεις τις συνέταξε ένα LLM στις συζητήσεις σχεδιασμού, τις έλεγξα εγώ και μπήκαν ως στατικά δεδομένα, οπότε το πεδίο provenance λέει ειλικρινά llm-generated. Ένας μικρός ντετερμινιστικός assembler και ένας validator με βάση ένα schema παράγουν το manifest που στέλνεται με το παιχνίδι. Το pipeline δεν τρέχει ποτέ στην παραγωγή.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πιο σημαντική τεχνική απόφαση. Δοκίμασα το bcryptjs σε Worker και επιβεβαίωσα ότι ξεπερνά το όριο CPU του free tier. Η εύκολη λύση θα ήταν ένας πιο αδύναμος αλγόριθμος κατακερματισμού. Αντί γι αυτό, η επεξεργασία του κωδικού πρόσβασης μεταφέρθηκε στον browser, με Web Crypto: PBKDF2 με 600.000 επαναλήψεις και τυχαίο salt για κάθε λογαριασμό. Ο Worker βλέπει μόνο το παραγόμενο αποτέλεσμα και αποθηκεύει έναν HMAC verifier με μυστικό pepper. Ο κανόνας που έγραψα: το work factor μπορεί μόνο να αυξηθεί, με νέο kdf_version, και δεν μειώνεται ποτέ για να χωρέσει σε όριο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Στο σκορ διάλεξα την ειλικρίνεια αντί για τον εντυπωσιασμό. Ο διακομιστής εκδίδει ένα ticket και επιλέγει τη λέξη. Όταν ο παίκτης κερδίσει, οι κινήσεις του ξαναπαίζονται με τους ίδιους κοινούς κανόνες που χρησιμοποιεί το client, και οι 100 πόντοι δίνονται το πολύ μία φορά ανά γύρο. Ένα όριο πέντε δευτερολέπτων περιορίζει κάθε λογαριασμό σε δώδεκα βραβεύσεις το λεπτό. Όμως η απάντηση είναι δημόσια εσκεμμένα, οπότε ένα script μπορεί να κατασκευάσει έγκυρα ιστορικά. Το λέω ξεκάθαρα στα docs και στο UI, αντί να προσποιούμαι ότι ο πίνακας είναι αξιόπιστος διαγωνισμός.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Illucia αντιστρέφει το παιχνίδι: ο παίκτης διαλέγει μια μυστική λέξη και ένας τοπικός solver τη μαντεύει γράμμα προς γράμμα. Η δυσκολία είναι το μέγεθος του λεξιλογίου, άρα το Master θα έπρεπε να νικά το Apprentice. Το μέτρησα και στις συχνές σύντομες λέξεις τα επίπεδα βγήκαν ανάποδα: Apprentice 56%, Scholar 46%, Master 42%, επειδή ένα μεγαλύτερο λεξιλόγιο περιέχει περισσότερες παρόμοιες σύντομες λέξεις. Η στάθμιση των υποψηφίων με βάση τη συχνότητα χρήσης το διόρθωσε: σε συχνές λέξεις 4 έως 6 γραμμάτων τα επίπεδα είναι ισοδύναμα, γύρω στο 72 με 73%, και ένας έλεγχος στα benchmarks επιβεβαιώνει πλέον τη σειρά. Το ειλικρινές κόστος είναι στις σπάνιες λέξεις που ξέρει το Master, όπου το ποσοστό νικών έπεσε από 92,1% σε 87,2%. Οι δύο γραμμές χρησιμοποιούν διαφορετικά σύνολα λέξεων, οπότε διαβάστε τες ως τάση και όχι ως ακριβή σύγκριση. Το γράμμα το επιλέγει απλός κώδικας, χωρίς κανένα μοντέλο.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Μια πραγματική μονομαχία στο live site. Διάλεξα τη λέξη GARDEN στο επίπεδο Apprentice και η Illucia έπαιξε μόνη της. Στην κίνηση 4 έχει περιορίσει το λεξιλόγιό της σε πέντε λέξεις, που φαίνονται στο κάτω μέρος του σημειωματαρίου, και το γράφημα δείχνει γιατί το N είναι επόμενο: καλύπτει το 80% από αυτές. Η φράση κάτω από το γράφημα παράγεται από το πραγματικό αρχείο απόφασής της. Στην αρχή, το κείμενο που εξηγούσε τη σκέψη της έλεγε πράγματα που έπαψαν να ισχύουν όταν άρχισε να εξερευνά, οπότε έκανα την ειλικρίνεια αυτών των φράσεων κανόνα. Κέρδισε αυτόν τον γύρο σε επτά κινήσεις.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Η διαδικασία μετράει όσο και το προϊόν. Ο σχεδιασμός γίνεται σε ένα Project στο Claude chat, που κρατά τις οδηγίες μου, ένα αρχείο κατάστασης και ένα ημερολόγιο. Η υλοποίηση γίνεται στο Claude Code, που δεν βλέπει αυτό το Project, οπότε κάθε session ξεκινά από ένα στενά οριοθετημένο prompt και από τους περιορισμούς του CLAUDE.md. Η πειθαρχία που το κάνει να δουλεύει: μικρά βήματα, ένα θέμα ανά commit, πραγματικά diffs και αποτελέσματα τεστ πριν χαρακτηριστεί κάτι ολοκληρωμένο, και τεστ που πρέπει να αποδείξουν ότι ελέγχουν κάτι, σπάζοντας εγώ τη διόρθωση και βλέποντάς τα να αποτυγχάνουν. Οι ίδιοι κανόνες ισχύουν για κώδικα που γράφει AI και για τον δικό μου.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Σε κάθε σημείωση κατάστασης κρατώ χωριστές τρεις καταστάσεις: υλοποιημένο και committed, δοκιμασμένο τοπικά, και επαληθευμένο live. Αυτός ο πίνακας είναι η πειθαρχία αυτή εφαρμοσμένη με ειλικρίνεια. Το βασικό παιχνίδι, οι λογαριασμοί και το σκορ είναι live. Αρκετά πράγματα έχουν γίνει deploy αλλά δεν έχουν ελεγχθεί ακόμα στην παραγωγή, και τα καταγράφω ως μη ελεγμένα αντί να τα στρογγυλεύω σε «έτοιμα». Για έναν recruiter ή έναν senior developer, αυτό είναι πιο χρήσιμο σήμα από έναν τοίχο με πράσινα τικ.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Το project δεν έχει τελειώσει και προτιμώ να το λέω. Η Illucia v2 χτίζεται σε μικρά βήματα και μένει να ελεγχθεί στο live site. Οι ανοιχτοί έλεγχοι στην παραγωγή είναι στη λίστα μου, σε κοινή θέα. Πέρα από αυτά: φιλοξενία του ήχου του λεξικού σε δική μου υποδομή, αν το επιτρέπει η άδεια χρήσης, και καθάρισμα των ειδοποιήσεων ασφαλείας για τις εξαρτήσεις. Το site και ο κώδικας είναι δημόσια, οπότε οτιδήποτε ακούστηκε σε αυτή την παρουσίαση μπορεί να ελεγχθεί απέναντι στον κώδικα. Ευχαριστώ.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A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4F1EA"/>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A2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4F1EA"/>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4F1E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F2B544"/>
                </a:solidFill>
                <a:latin typeface="JetBrains Mono" pitchFamily="49" charset="0"/>
                <a:ea typeface="JetBrains Mono" pitchFamily="49" charset="-122"/>
                <a:cs typeface="JetBrains Mono" pitchFamily="49" charset="-120"/>
              </a:rPr>
              <a:t>Case study · 2023 έως 2026</a:t>
            </a:r>
            <a:endParaRPr lang="en-US" sz="1400" dirty="0"/>
          </a:p>
        </p:txBody>
      </p:sp>
      <p:sp>
        <p:nvSpPr>
          <p:cNvPr id="3" name="Text 1"/>
          <p:cNvSpPr/>
          <p:nvPr>
            <p:ph type="title"/>
          </p:nvPr>
        </p:nvSpPr>
        <p:spPr>
          <a:xfrm>
            <a:off x="812800" y="1647190"/>
            <a:ext cx="10883392" cy="189230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4F1EA"/>
                </a:solidFill>
                <a:latin typeface="Manrope" pitchFamily="34" charset="0"/>
                <a:ea typeface="Manrope" pitchFamily="34" charset="-122"/>
                <a:cs typeface="Manrope" pitchFamily="34" charset="-120"/>
              </a:rPr>
              <a:t>Hangman:</a:t>
            </a:r>
            <a:endParaRPr lang="en-US" sz="7000" dirty="0"/>
          </a:p>
          <a:p>
            <a:pPr algn="l" indent="0" marL="0">
              <a:lnSpc>
                <a:spcPts val="7350"/>
              </a:lnSpc>
              <a:buNone/>
            </a:pPr>
            <a:r>
              <a:rPr lang="en-US" sz="7000" b="1" i="0" dirty="0">
                <a:solidFill>
                  <a:srgbClr val="F4F1EA"/>
                </a:solidFill>
                <a:latin typeface="Manrope" pitchFamily="34" charset="0"/>
                <a:ea typeface="Manrope" pitchFamily="34" charset="-122"/>
                <a:cs typeface="Manrope" pitchFamily="34" charset="-120"/>
              </a:rPr>
              <a:t>Rescue Mission</a:t>
            </a:r>
            <a:endParaRPr lang="en-US" sz="7000" dirty="0"/>
          </a:p>
        </p:txBody>
      </p:sp>
      <p:sp>
        <p:nvSpPr>
          <p:cNvPr id="4" name="Text 2"/>
          <p:cNvSpPr/>
          <p:nvPr/>
        </p:nvSpPr>
        <p:spPr>
          <a:xfrm>
            <a:off x="812800" y="3717290"/>
            <a:ext cx="1020318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A9BAC8"/>
                </a:solidFill>
                <a:latin typeface="IBM Plex Sans" pitchFamily="34" charset="0"/>
                <a:ea typeface="IBM Plex Sans" pitchFamily="34" charset="-122"/>
                <a:cs typeface="IBM Plex Sans" pitchFamily="34" charset="-120"/>
              </a:rPr>
              <a:t>Ένα παιχνίδι λέξεων από bootcamp, ξαναφτιαγμένο ως εφαρμογή σε παραγωγή στο free tier της Cloudflare, με κόστος λειτουργίας 0 $.</a:t>
            </a:r>
            <a:endParaRPr lang="en-US" sz="2200" dirty="0"/>
          </a:p>
        </p:txBody>
      </p:sp>
      <p:sp>
        <p:nvSpPr>
          <p:cNvPr id="5" name="Text 3"/>
          <p:cNvSpPr/>
          <p:nvPr/>
        </p:nvSpPr>
        <p:spPr>
          <a:xfrm>
            <a:off x="8255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Manrope" pitchFamily="34" charset="0"/>
                <a:ea typeface="Manrope" pitchFamily="34" charset="-122"/>
                <a:cs typeface="Manrope" pitchFamily="34" charset="-120"/>
              </a:rPr>
              <a:t>R</a:t>
            </a:r>
            <a:endParaRPr lang="en-US" sz="3600" dirty="0"/>
          </a:p>
        </p:txBody>
      </p:sp>
      <p:sp>
        <p:nvSpPr>
          <p:cNvPr id="6" name="Text 4"/>
          <p:cNvSpPr/>
          <p:nvPr/>
        </p:nvSpPr>
        <p:spPr>
          <a:xfrm>
            <a:off x="16129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Manrope" pitchFamily="34" charset="0"/>
                <a:ea typeface="Manrope" pitchFamily="34" charset="-122"/>
                <a:cs typeface="Manrope" pitchFamily="34" charset="-120"/>
              </a:rPr>
              <a:t>E</a:t>
            </a:r>
            <a:endParaRPr lang="en-US" sz="3600" dirty="0"/>
          </a:p>
        </p:txBody>
      </p:sp>
      <p:sp>
        <p:nvSpPr>
          <p:cNvPr id="7" name="Text 5"/>
          <p:cNvSpPr/>
          <p:nvPr/>
        </p:nvSpPr>
        <p:spPr>
          <a:xfrm>
            <a:off x="24003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Manrope" pitchFamily="34" charset="0"/>
                <a:ea typeface="Manrope" pitchFamily="34" charset="-122"/>
                <a:cs typeface="Manrope" pitchFamily="34" charset="-120"/>
              </a:rPr>
              <a:t>S</a:t>
            </a:r>
            <a:endParaRPr lang="en-US" sz="3600" dirty="0"/>
          </a:p>
        </p:txBody>
      </p:sp>
      <p:sp>
        <p:nvSpPr>
          <p:cNvPr id="8" name="Text 6"/>
          <p:cNvSpPr/>
          <p:nvPr/>
        </p:nvSpPr>
        <p:spPr>
          <a:xfrm>
            <a:off x="31877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Manrope" pitchFamily="34" charset="0"/>
                <a:ea typeface="Manrope" pitchFamily="34" charset="-122"/>
                <a:cs typeface="Manrope" pitchFamily="34" charset="-120"/>
              </a:rPr>
              <a:t>C</a:t>
            </a:r>
            <a:endParaRPr lang="en-US" sz="3600" dirty="0"/>
          </a:p>
        </p:txBody>
      </p:sp>
      <p:sp>
        <p:nvSpPr>
          <p:cNvPr id="9" name="Text 7"/>
          <p:cNvSpPr/>
          <p:nvPr/>
        </p:nvSpPr>
        <p:spPr>
          <a:xfrm>
            <a:off x="3975100" y="5041900"/>
            <a:ext cx="635000" cy="787400"/>
          </a:xfrm>
          <a:prstGeom prst="roundRect">
            <a:avLst>
              <a:gd name="adj" fmla="val 12000"/>
            </a:avLst>
          </a:prstGeom>
          <a:noFill/>
          <a:ln w="25400">
            <a:solidFill>
              <a:srgbClr val="F2B544"/>
            </a:solidFill>
            <a:prstDash val="solid"/>
          </a:ln>
        </p:spPr>
        <p:txBody>
          <a:bodyPr wrap="square" lIns="0" tIns="0" rIns="0" bIns="0" rtlCol="0" anchor="ctr">
            <a:normAutofit/>
          </a:bodyPr>
          <a:lstStyle/>
          <a:p>
            <a:pPr algn="ctr" indent="0" marL="0">
              <a:lnSpc>
                <a:spcPts val="5040"/>
              </a:lnSpc>
              <a:buNone/>
            </a:pPr>
            <a:r>
              <a:rPr lang="en-US" sz="3600" b="1" dirty="0">
                <a:solidFill>
                  <a:srgbClr val="F2B544"/>
                </a:solidFill>
                <a:latin typeface="Manrope" pitchFamily="34" charset="0"/>
                <a:ea typeface="Manrope" pitchFamily="34" charset="-122"/>
                <a:cs typeface="Manrope" pitchFamily="34" charset="-120"/>
              </a:rPr>
              <a:t>U</a:t>
            </a:r>
            <a:endParaRPr lang="en-US" sz="3600" dirty="0"/>
          </a:p>
        </p:txBody>
      </p:sp>
      <p:sp>
        <p:nvSpPr>
          <p:cNvPr id="10" name="Shape 8"/>
          <p:cNvSpPr/>
          <p:nvPr/>
        </p:nvSpPr>
        <p:spPr>
          <a:xfrm>
            <a:off x="4762500" y="5041900"/>
            <a:ext cx="635000" cy="787400"/>
          </a:xfrm>
          <a:prstGeom prst="roundRect">
            <a:avLst>
              <a:gd name="adj" fmla="val 12000"/>
            </a:avLst>
          </a:prstGeom>
          <a:noFill/>
          <a:ln w="25400">
            <a:solidFill>
              <a:srgbClr val="5B6E7E"/>
            </a:solidFill>
            <a:prstDash val="dash"/>
          </a:ln>
        </p:spPr>
      </p:sp>
      <p:sp>
        <p:nvSpPr>
          <p:cNvPr id="11" name="Text 9"/>
          <p:cNvSpPr/>
          <p:nvPr/>
        </p:nvSpPr>
        <p:spPr>
          <a:xfrm>
            <a:off x="9725787" y="5257800"/>
            <a:ext cx="1653413" cy="309880"/>
          </a:xfrm>
          <a:prstGeom prst="rect">
            <a:avLst/>
          </a:prstGeom>
          <a:noFill/>
          <a:ln/>
        </p:spPr>
        <p:txBody>
          <a:bodyPr wrap="square" lIns="0" tIns="0" rIns="0" bIns="0" rtlCol="0" anchor="t">
            <a:normAutofit/>
          </a:bodyPr>
          <a:lstStyle/>
          <a:p>
            <a:pPr algn="r" indent="0" marL="0">
              <a:lnSpc>
                <a:spcPts val="2240"/>
              </a:lnSpc>
              <a:buNone/>
            </a:pPr>
            <a:r>
              <a:rPr lang="en-US" sz="1600" b="1" dirty="0">
                <a:solidFill>
                  <a:srgbClr val="F4F1EA"/>
                </a:solidFill>
                <a:latin typeface="IBM Plex Sans" pitchFamily="34" charset="0"/>
                <a:ea typeface="IBM Plex Sans" pitchFamily="34" charset="-122"/>
                <a:cs typeface="IBM Plex Sans" pitchFamily="34" charset="-120"/>
              </a:rPr>
              <a:t>Σπύρος Τρίμης</a:t>
            </a:r>
            <a:endParaRPr lang="en-US" sz="1600" dirty="0"/>
          </a:p>
        </p:txBody>
      </p:sp>
      <p:sp>
        <p:nvSpPr>
          <p:cNvPr id="12" name="Text 10"/>
          <p:cNvSpPr/>
          <p:nvPr/>
        </p:nvSpPr>
        <p:spPr>
          <a:xfrm>
            <a:off x="9214803" y="5593080"/>
            <a:ext cx="25972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hangman.spyrostrimis.com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01 · Προέλευση</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Ένα παιχνίδι bootcamp με ένα πρόβλημα</a:t>
            </a:r>
            <a:endParaRPr lang="en-US" sz="3600" dirty="0"/>
          </a:p>
        </p:txBody>
      </p:sp>
      <p:sp>
        <p:nvSpPr>
          <p:cNvPr id="4" name="Shape 2"/>
          <p:cNvSpPr/>
          <p:nvPr/>
        </p:nvSpPr>
        <p:spPr>
          <a:xfrm>
            <a:off x="819150" y="1992630"/>
            <a:ext cx="3373967" cy="2625937"/>
          </a:xfrm>
          <a:prstGeom prst="roundRect">
            <a:avLst>
              <a:gd name="adj" fmla="val 4595"/>
            </a:avLst>
          </a:prstGeom>
          <a:solidFill>
            <a:srgbClr val="FBF9F4"/>
          </a:solidFill>
          <a:ln w="12700">
            <a:solidFill>
              <a:srgbClr val="D9D3C4"/>
            </a:solidFill>
            <a:prstDash val="solid"/>
          </a:ln>
        </p:spPr>
      </p:sp>
      <p:sp>
        <p:nvSpPr>
          <p:cNvPr id="5" name="Text 3"/>
          <p:cNvSpPr/>
          <p:nvPr/>
        </p:nvSpPr>
        <p:spPr>
          <a:xfrm>
            <a:off x="1078018" y="2251498"/>
            <a:ext cx="31087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Manrope" pitchFamily="34" charset="0"/>
                <a:ea typeface="Manrope" pitchFamily="34" charset="-122"/>
                <a:cs typeface="Manrope" pitchFamily="34" charset="-120"/>
              </a:rPr>
              <a:t>2023 · MERN bootcamp</a:t>
            </a:r>
            <a:endParaRPr lang="en-US" sz="2000" dirty="0"/>
          </a:p>
        </p:txBody>
      </p:sp>
      <p:sp>
        <p:nvSpPr>
          <p:cNvPr id="6" name="Text 4"/>
          <p:cNvSpPr/>
          <p:nvPr/>
        </p:nvSpPr>
        <p:spPr>
          <a:xfrm>
            <a:off x="1078018" y="2645198"/>
            <a:ext cx="2941917"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9"/>
                </a:solidFill>
                <a:latin typeface="IBM Plex Sans" pitchFamily="34" charset="0"/>
                <a:ea typeface="IBM Plex Sans" pitchFamily="34" charset="-122"/>
                <a:cs typeface="IBM Plex Sans" pitchFamily="34" charset="-120"/>
              </a:rPr>
              <a:t>Φτιάχτηκε στο Social Hackers Academy με React, Express, MongoDB και OpenAI.</a:t>
            </a:r>
            <a:endParaRPr lang="en-US" sz="1600" dirty="0"/>
          </a:p>
        </p:txBody>
      </p:sp>
      <p:sp>
        <p:nvSpPr>
          <p:cNvPr id="7" name="Shape 5"/>
          <p:cNvSpPr/>
          <p:nvPr/>
        </p:nvSpPr>
        <p:spPr>
          <a:xfrm>
            <a:off x="4409017" y="1992630"/>
            <a:ext cx="3373967" cy="2625937"/>
          </a:xfrm>
          <a:prstGeom prst="roundRect">
            <a:avLst>
              <a:gd name="adj" fmla="val 4595"/>
            </a:avLst>
          </a:prstGeom>
          <a:solidFill>
            <a:srgbClr val="FBF9F4"/>
          </a:solidFill>
          <a:ln w="12700">
            <a:solidFill>
              <a:srgbClr val="D9D3C4"/>
            </a:solidFill>
            <a:prstDash val="solid"/>
          </a:ln>
        </p:spPr>
      </p:sp>
      <p:sp>
        <p:nvSpPr>
          <p:cNvPr id="8" name="Text 6"/>
          <p:cNvSpPr/>
          <p:nvPr/>
        </p:nvSpPr>
        <p:spPr>
          <a:xfrm>
            <a:off x="4667885" y="2251498"/>
            <a:ext cx="2941917"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Manrope" pitchFamily="34" charset="0"/>
                <a:ea typeface="Manrope" pitchFamily="34" charset="-122"/>
                <a:cs typeface="Manrope" pitchFamily="34" charset="-120"/>
              </a:rPr>
              <a:t>Μια Κρεμάλα για αγγλικά</a:t>
            </a:r>
            <a:endParaRPr lang="en-US" sz="2000" dirty="0"/>
          </a:p>
        </p:txBody>
      </p:sp>
      <p:sp>
        <p:nvSpPr>
          <p:cNvPr id="9" name="Text 7"/>
          <p:cNvSpPr/>
          <p:nvPr/>
        </p:nvSpPr>
        <p:spPr>
          <a:xfrm>
            <a:off x="4667885" y="2937298"/>
            <a:ext cx="2941917" cy="14478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E4C59"/>
                </a:solidFill>
                <a:latin typeface="IBM Plex Sans" pitchFamily="34" charset="0"/>
                <a:ea typeface="IBM Plex Sans" pitchFamily="34" charset="-122"/>
                <a:cs typeface="IBM Plex Sans" pitchFamily="34" charset="-120"/>
              </a:rPr>
              <a:t>Μαντεύεις τη λέξη και μαθαίνεις αγγλικό λεξιλόγιο και προφορά. Όταν κερδίζεις, ένας πίνακας ζωγραφικής σώζει το ρομπότ.</a:t>
            </a:r>
            <a:endParaRPr lang="en-US" sz="1600" dirty="0"/>
          </a:p>
        </p:txBody>
      </p:sp>
      <p:sp>
        <p:nvSpPr>
          <p:cNvPr id="10" name="Shape 8"/>
          <p:cNvSpPr/>
          <p:nvPr/>
        </p:nvSpPr>
        <p:spPr>
          <a:xfrm>
            <a:off x="7998883" y="1992630"/>
            <a:ext cx="3373967" cy="2625937"/>
          </a:xfrm>
          <a:prstGeom prst="roundRect">
            <a:avLst>
              <a:gd name="adj" fmla="val 4595"/>
            </a:avLst>
          </a:prstGeom>
          <a:solidFill>
            <a:srgbClr val="12202C"/>
          </a:solidFill>
          <a:ln w="12700">
            <a:solidFill>
              <a:srgbClr val="12202C"/>
            </a:solidFill>
            <a:prstDash val="solid"/>
          </a:ln>
        </p:spPr>
      </p:sp>
      <p:sp>
        <p:nvSpPr>
          <p:cNvPr id="11" name="Text 9"/>
          <p:cNvSpPr/>
          <p:nvPr/>
        </p:nvSpPr>
        <p:spPr>
          <a:xfrm>
            <a:off x="8257752" y="2251498"/>
            <a:ext cx="294191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2B544"/>
                </a:solidFill>
                <a:latin typeface="Manrope" pitchFamily="34" charset="0"/>
                <a:ea typeface="Manrope" pitchFamily="34" charset="-122"/>
                <a:cs typeface="Manrope" pitchFamily="34" charset="-120"/>
              </a:rPr>
              <a:t>Το πρόβλημα</a:t>
            </a:r>
            <a:endParaRPr lang="en-US" sz="2000" dirty="0"/>
          </a:p>
        </p:txBody>
      </p:sp>
      <p:sp>
        <p:nvSpPr>
          <p:cNvPr id="12" name="Text 10"/>
          <p:cNvSpPr/>
          <p:nvPr/>
        </p:nvSpPr>
        <p:spPr>
          <a:xfrm>
            <a:off x="8257752" y="2645198"/>
            <a:ext cx="2941917" cy="17322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4E8EB"/>
                </a:solidFill>
                <a:latin typeface="IBM Plex Sans" pitchFamily="34" charset="0"/>
                <a:ea typeface="IBM Plex Sans" pitchFamily="34" charset="-122"/>
                <a:cs typeface="IBM Plex Sans" pitchFamily="34" charset="-120"/>
              </a:rPr>
              <a:t>Οι προτάσεις-παραδείγματα ήταν παραθέματα που είχε γράψει ένα LLM και τα απέδιδε σε υπαρκτούς συγγραφείς και έργα. Αυτό ήταν λάθος.</a:t>
            </a:r>
            <a:endParaRPr lang="en-US" sz="1600" dirty="0"/>
          </a:p>
        </p:txBody>
      </p:sp>
      <p:sp>
        <p:nvSpPr>
          <p:cNvPr id="13" name="Text 1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2 / 15</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B54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12202C"/>
                </a:solidFill>
                <a:latin typeface="JetBrains Mono" pitchFamily="49" charset="0"/>
                <a:ea typeface="JetBrains Mono" pitchFamily="49" charset="-122"/>
                <a:cs typeface="JetBrains Mono" pitchFamily="49" charset="-120"/>
              </a:rPr>
              <a:t>02 · Η απόφαση</a:t>
            </a:r>
            <a:endParaRPr lang="en-US" sz="1200" dirty="0"/>
          </a:p>
        </p:txBody>
      </p:sp>
      <p:sp>
        <p:nvSpPr>
          <p:cNvPr id="3" name="Text 1"/>
          <p:cNvSpPr/>
          <p:nvPr>
            <p:ph type="title"/>
          </p:nvPr>
        </p:nvSpPr>
        <p:spPr>
          <a:xfrm>
            <a:off x="812800" y="1967441"/>
            <a:ext cx="10883392" cy="2098040"/>
          </a:xfrm>
          <a:prstGeom prst="rect">
            <a:avLst/>
          </a:prstGeom>
          <a:noFill/>
          <a:ln/>
        </p:spPr>
        <p:txBody>
          <a:bodyPr wrap="square" lIns="0" tIns="0" rIns="0" bIns="0" rtlCol="0" anchor="t">
            <a:normAutofit/>
          </a:bodyPr>
          <a:lstStyle/>
          <a:p>
            <a:pPr algn="l" indent="0" marL="0">
              <a:lnSpc>
                <a:spcPts val="8160"/>
              </a:lnSpc>
              <a:buNone/>
            </a:pPr>
            <a:r>
              <a:rPr lang="en-US" sz="8000" b="1" i="0" dirty="0">
                <a:solidFill>
                  <a:srgbClr val="12202C"/>
                </a:solidFill>
                <a:latin typeface="Manrope" pitchFamily="34" charset="0"/>
                <a:ea typeface="Manrope" pitchFamily="34" charset="-122"/>
                <a:cs typeface="Manrope" pitchFamily="34" charset="-120"/>
              </a:rPr>
              <a:t>Ξαναχτίστηκε,</a:t>
            </a:r>
            <a:endParaRPr lang="en-US" sz="8000" dirty="0"/>
          </a:p>
          <a:p>
            <a:pPr algn="l" indent="0" marL="0">
              <a:lnSpc>
                <a:spcPts val="8160"/>
              </a:lnSpc>
              <a:buNone/>
            </a:pPr>
            <a:r>
              <a:rPr lang="en-US" sz="8000" b="1" i="0" dirty="0">
                <a:solidFill>
                  <a:srgbClr val="12202C"/>
                </a:solidFill>
                <a:latin typeface="Manrope" pitchFamily="34" charset="0"/>
                <a:ea typeface="Manrope" pitchFamily="34" charset="-122"/>
                <a:cs typeface="Manrope" pitchFamily="34" charset="-120"/>
              </a:rPr>
              <a:t>δεν μεταφέρθηκε.</a:t>
            </a:r>
            <a:endParaRPr lang="en-US" sz="8000" dirty="0"/>
          </a:p>
        </p:txBody>
      </p:sp>
      <p:sp>
        <p:nvSpPr>
          <p:cNvPr id="4" name="Shape 2"/>
          <p:cNvSpPr/>
          <p:nvPr/>
        </p:nvSpPr>
        <p:spPr>
          <a:xfrm>
            <a:off x="812800" y="4994063"/>
            <a:ext cx="3318933" cy="0"/>
          </a:xfrm>
          <a:prstGeom prst="line">
            <a:avLst/>
          </a:prstGeom>
          <a:noFill/>
          <a:ln w="25400">
            <a:solidFill>
              <a:srgbClr val="12202C"/>
            </a:solidFill>
            <a:prstDash val="solid"/>
          </a:ln>
        </p:spPr>
      </p:sp>
      <p:sp>
        <p:nvSpPr>
          <p:cNvPr id="5" name="Text 3"/>
          <p:cNvSpPr/>
          <p:nvPr/>
        </p:nvSpPr>
        <p:spPr>
          <a:xfrm>
            <a:off x="812800"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Μόνο πραγματικό περιεχόμενο</a:t>
            </a:r>
            <a:endParaRPr lang="en-US" sz="1600" dirty="0"/>
          </a:p>
        </p:txBody>
      </p:sp>
      <p:sp>
        <p:nvSpPr>
          <p:cNvPr id="6" name="Text 4"/>
          <p:cNvSpPr/>
          <p:nvPr/>
        </p:nvSpPr>
        <p:spPr>
          <a:xfrm>
            <a:off x="812800"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Τα παραδείγματα προέρχονται από το Merriam-Webster, με αναφορά πηγής.</a:t>
            </a:r>
            <a:endParaRPr lang="en-US" sz="1400" dirty="0"/>
          </a:p>
        </p:txBody>
      </p:sp>
      <p:sp>
        <p:nvSpPr>
          <p:cNvPr id="7" name="Shape 5"/>
          <p:cNvSpPr/>
          <p:nvPr/>
        </p:nvSpPr>
        <p:spPr>
          <a:xfrm>
            <a:off x="4436533" y="4994063"/>
            <a:ext cx="3318933" cy="0"/>
          </a:xfrm>
          <a:prstGeom prst="line">
            <a:avLst/>
          </a:prstGeom>
          <a:noFill/>
          <a:ln w="25400">
            <a:solidFill>
              <a:srgbClr val="12202C"/>
            </a:solidFill>
            <a:prstDash val="solid"/>
          </a:ln>
        </p:spPr>
      </p:sp>
      <p:sp>
        <p:nvSpPr>
          <p:cNvPr id="8" name="Text 6"/>
          <p:cNvSpPr/>
          <p:nvPr/>
        </p:nvSpPr>
        <p:spPr>
          <a:xfrm>
            <a:off x="4436533"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Σύγχρονες τεχνολογίες</a:t>
            </a:r>
            <a:endParaRPr lang="en-US" sz="1600" dirty="0"/>
          </a:p>
        </p:txBody>
      </p:sp>
      <p:sp>
        <p:nvSpPr>
          <p:cNvPr id="9" name="Text 7"/>
          <p:cNvSpPr/>
          <p:nvPr/>
        </p:nvSpPr>
        <p:spPr>
          <a:xfrm>
            <a:off x="4436533"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Τα Vite, Hono και D1 αντικαθιστούν τα Create React App, Express και MongoDB.</a:t>
            </a:r>
            <a:endParaRPr lang="en-US" sz="1400" dirty="0"/>
          </a:p>
        </p:txBody>
      </p:sp>
      <p:sp>
        <p:nvSpPr>
          <p:cNvPr id="10" name="Shape 8"/>
          <p:cNvSpPr/>
          <p:nvPr/>
        </p:nvSpPr>
        <p:spPr>
          <a:xfrm>
            <a:off x="8060267" y="4994063"/>
            <a:ext cx="3318933" cy="0"/>
          </a:xfrm>
          <a:prstGeom prst="line">
            <a:avLst/>
          </a:prstGeom>
          <a:noFill/>
          <a:ln w="25400">
            <a:solidFill>
              <a:srgbClr val="12202C"/>
            </a:solidFill>
            <a:prstDash val="solid"/>
          </a:ln>
        </p:spPr>
      </p:sp>
      <p:sp>
        <p:nvSpPr>
          <p:cNvPr id="11" name="Text 9"/>
          <p:cNvSpPr/>
          <p:nvPr/>
        </p:nvSpPr>
        <p:spPr>
          <a:xfrm>
            <a:off x="8060267" y="5003800"/>
            <a:ext cx="3418501"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2202C"/>
                </a:solidFill>
                <a:latin typeface="IBM Plex Sans" pitchFamily="34" charset="0"/>
                <a:ea typeface="IBM Plex Sans" pitchFamily="34" charset="-122"/>
                <a:cs typeface="IBM Plex Sans" pitchFamily="34" charset="-120"/>
              </a:rPr>
              <a:t>Κόστος λειτουργίας 0 $</a:t>
            </a:r>
            <a:endParaRPr lang="en-US" sz="1600" dirty="0"/>
          </a:p>
        </p:txBody>
      </p:sp>
      <p:sp>
        <p:nvSpPr>
          <p:cNvPr id="12" name="Text 10"/>
          <p:cNvSpPr/>
          <p:nvPr/>
        </p:nvSpPr>
        <p:spPr>
          <a:xfrm>
            <a:off x="8060267" y="5344161"/>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3A47"/>
                </a:solidFill>
                <a:latin typeface="IBM Plex Sans" pitchFamily="34" charset="0"/>
                <a:ea typeface="IBM Plex Sans" pitchFamily="34" charset="-122"/>
                <a:cs typeface="IBM Plex Sans" pitchFamily="34" charset="-120"/>
              </a:rPr>
              <a:t>Τα όρια του free tier είναι πλαφόν, όχι λόγος να αναβαθμίσω πλάνο.</a:t>
            </a:r>
            <a:endParaRPr lang="en-US" sz="1400" dirty="0"/>
          </a:p>
        </p:txBody>
      </p:sp>
      <p:sp>
        <p:nvSpPr>
          <p:cNvPr id="13" name="Text 11"/>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A47"/>
                </a:solidFill>
                <a:latin typeface="IBM Plex Sans" pitchFamily="34" charset="0"/>
                <a:ea typeface="IBM Plex Sans" pitchFamily="34" charset="-122"/>
                <a:cs typeface="IBM Plex Sans" pitchFamily="34" charset="-120"/>
              </a:rPr>
              <a:t>Hangman: Rescue Mission</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2B3A47"/>
                </a:solidFill>
                <a:latin typeface="IBM Plex Sans" pitchFamily="34" charset="0"/>
                <a:ea typeface="IBM Plex Sans" pitchFamily="34" charset="-122"/>
                <a:cs typeface="IBM Plex Sans" pitchFamily="34" charset="-120"/>
              </a:rPr>
              <a:t>3 / 15</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03 · Το προϊόν</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Σώσε ένα ρομπότ μαντεύοντας τη λέξη</a:t>
            </a:r>
            <a:endParaRPr lang="en-US" sz="3600" dirty="0"/>
          </a:p>
        </p:txBody>
      </p:sp>
      <p:pic>
        <p:nvPicPr>
          <p:cNvPr id="4" name="Image 0" descr="Το Hangman στη μέση ενός γύρου: ο Artsy είναι εκτός λειτουργίας με μπάρα επανεκκίνησης στο 25%, η πρώτη υπόδειξη δείχνει το συνώνυμο summit, έχουν αποκαλυφθεί δύο γράμματα και απομένουν πέντε από τις έξι προσπάθειες.">    </p:cNvPr>
          <p:cNvPicPr>
            <a:picLocks noChangeAspect="1"/>
          </p:cNvPicPr>
          <p:nvPr/>
        </p:nvPicPr>
        <p:blipFill>
          <a:blip r:embed="rId1"/>
          <a:srcRect l="0" r="0" t="149" b="149"/>
          <a:stretch/>
        </p:blipFill>
        <p:spPr>
          <a:xfrm>
            <a:off x="825500" y="1948180"/>
            <a:ext cx="5105400" cy="3181350"/>
          </a:xfrm>
          <a:prstGeom prst="roundRect">
            <a:avLst>
              <a:gd name="adj" fmla="val 2794"/>
            </a:avLst>
          </a:prstGeom>
        </p:spPr>
      </p:pic>
      <p:sp>
        <p:nvSpPr>
          <p:cNvPr id="5" name="Shape 2"/>
          <p:cNvSpPr/>
          <p:nvPr/>
        </p:nvSpPr>
        <p:spPr>
          <a:xfrm>
            <a:off x="819150" y="1941830"/>
            <a:ext cx="5118100" cy="3194050"/>
          </a:xfrm>
          <a:prstGeom prst="roundRect">
            <a:avLst>
              <a:gd name="adj" fmla="val 2982"/>
            </a:avLst>
          </a:prstGeom>
          <a:noFill/>
          <a:ln w="12700">
            <a:solidFill>
              <a:srgbClr val="D9D3C4"/>
            </a:solidFill>
            <a:prstDash val="solid"/>
          </a:ln>
        </p:spPr>
      </p:sp>
      <p:sp>
        <p:nvSpPr>
          <p:cNvPr id="6" name="Text 3"/>
          <p:cNvSpPr/>
          <p:nvPr/>
        </p:nvSpPr>
        <p:spPr>
          <a:xfrm>
            <a:off x="812800" y="5243830"/>
            <a:ext cx="528472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E4C59"/>
                </a:solidFill>
                <a:latin typeface="IBM Plex Sans" pitchFamily="34" charset="0"/>
                <a:ea typeface="IBM Plex Sans" pitchFamily="34" charset="-122"/>
                <a:cs typeface="IBM Plex Sans" pitchFamily="34" charset="-120"/>
              </a:rPr>
              <a:t>Το παιχνίδι.</a:t>
            </a:r>
            <a:r>
              <a:rPr lang="en-US" sz="1400" dirty="0">
                <a:solidFill>
                  <a:srgbClr val="3E4C59"/>
                </a:solidFill>
                <a:latin typeface="IBM Plex Sans" pitchFamily="34" charset="0"/>
                <a:ea typeface="IBM Plex Sans" pitchFamily="34" charset="-122"/>
                <a:cs typeface="IBM Plex Sans" pitchFamily="34" charset="-120"/>
              </a:rPr>
              <a:t> Κάθε σωστό γράμμα επανεκκινεί τον Artsy· κάθε λάθος κοστίζει μια προσπάθεια.</a:t>
            </a:r>
            <a:endParaRPr lang="en-US" sz="1400" dirty="0"/>
          </a:p>
        </p:txBody>
      </p:sp>
      <p:pic>
        <p:nvPicPr>
          <p:cNvPr id="7" name="Image 1" descr="Η οθόνη νίκης: ο Artsy είναι ξανά σε λειτουργία δίπλα σε έναν πίνακα με τοπίο, με τη λέξη mountain, τον ορισμό και την προφορά της από το Merriam-Webster και την αναφορά στο λεξικό.">    </p:cNvPr>
          <p:cNvPicPr>
            <a:picLocks noChangeAspect="1"/>
          </p:cNvPicPr>
          <p:nvPr/>
        </p:nvPicPr>
        <p:blipFill>
          <a:blip r:embed="rId2"/>
          <a:srcRect l="0" r="0" t="149" b="149"/>
          <a:stretch/>
        </p:blipFill>
        <p:spPr>
          <a:xfrm>
            <a:off x="6261100" y="1948180"/>
            <a:ext cx="5105400" cy="3181350"/>
          </a:xfrm>
          <a:prstGeom prst="roundRect">
            <a:avLst>
              <a:gd name="adj" fmla="val 2794"/>
            </a:avLst>
          </a:prstGeom>
        </p:spPr>
      </p:pic>
      <p:sp>
        <p:nvSpPr>
          <p:cNvPr id="8" name="Shape 4"/>
          <p:cNvSpPr/>
          <p:nvPr/>
        </p:nvSpPr>
        <p:spPr>
          <a:xfrm>
            <a:off x="6254750" y="1941830"/>
            <a:ext cx="5118100" cy="3194050"/>
          </a:xfrm>
          <a:prstGeom prst="roundRect">
            <a:avLst>
              <a:gd name="adj" fmla="val 2982"/>
            </a:avLst>
          </a:prstGeom>
          <a:noFill/>
          <a:ln w="12700">
            <a:solidFill>
              <a:srgbClr val="D9D3C4"/>
            </a:solidFill>
            <a:prstDash val="solid"/>
          </a:ln>
        </p:spPr>
      </p:sp>
      <p:sp>
        <p:nvSpPr>
          <p:cNvPr id="9" name="Text 5"/>
          <p:cNvSpPr/>
          <p:nvPr/>
        </p:nvSpPr>
        <p:spPr>
          <a:xfrm>
            <a:off x="6248400" y="5243830"/>
            <a:ext cx="5284724"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3E4C59"/>
                </a:solidFill>
                <a:latin typeface="IBM Plex Sans" pitchFamily="34" charset="0"/>
                <a:ea typeface="IBM Plex Sans" pitchFamily="34" charset="-122"/>
                <a:cs typeface="IBM Plex Sans" pitchFamily="34" charset="-120"/>
              </a:rPr>
              <a:t>Η ανταμοιβή.</a:t>
            </a:r>
            <a:r>
              <a:rPr lang="en-US" sz="1400" dirty="0">
                <a:solidFill>
                  <a:srgbClr val="3E4C59"/>
                </a:solidFill>
                <a:latin typeface="IBM Plex Sans" pitchFamily="34" charset="0"/>
                <a:ea typeface="IBM Plex Sans" pitchFamily="34" charset="-122"/>
                <a:cs typeface="IBM Plex Sans" pitchFamily="34" charset="-120"/>
              </a:rPr>
              <a:t> Στη νίκη εμφανίζεται ένας πίνακας που διασώθηκε και το λήμμα του λεξικού, με αναφορά της πηγής.</a:t>
            </a:r>
            <a:endParaRPr lang="en-US" sz="1400" dirty="0"/>
          </a:p>
        </p:txBody>
      </p:sp>
      <p:sp>
        <p:nvSpPr>
          <p:cNvPr id="10" name="Text 6"/>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Στιγμιότυπα οθόνης από το hangman.spyrostrimis.com, ως επισκέπτης. Το UI είναι εσκεμμένα στα αγγλικά.</a:t>
            </a:r>
            <a:endParaRPr lang="en-US" sz="1200" dirty="0"/>
          </a:p>
        </p:txBody>
      </p:sp>
      <p:sp>
        <p:nvSpPr>
          <p:cNvPr id="11" name="Text 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4 / 15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2B544"/>
                </a:solidFill>
                <a:latin typeface="JetBrains Mono" pitchFamily="49" charset="0"/>
                <a:ea typeface="JetBrains Mono" pitchFamily="49" charset="-122"/>
                <a:cs typeface="JetBrains Mono" pitchFamily="49" charset="-120"/>
              </a:rPr>
              <a:t>04 · Σε χρήση</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Δημόσιος πίνακας κατάταξης, σε κάθε οθόνη</a:t>
            </a:r>
            <a:endParaRPr lang="en-US" sz="3600" dirty="0"/>
          </a:p>
        </p:txBody>
      </p:sp>
      <p:pic>
        <p:nvPicPr>
          <p:cNvPr id="4" name="Image 0" descr="Η σελίδα Hall of Fame: πίνακας κατάταξης με τέσσερις παίκτες και τα σκορ τους, πάνω σε φόντο με το φεγγάρι.">    </p:cNvPr>
          <p:cNvPicPr>
            <a:picLocks noChangeAspect="1"/>
          </p:cNvPicPr>
          <p:nvPr/>
        </p:nvPicPr>
        <p:blipFill>
          <a:blip r:embed="rId1"/>
          <a:srcRect l="0" r="0" t="137" b="137"/>
          <a:stretch/>
        </p:blipFill>
        <p:spPr>
          <a:xfrm>
            <a:off x="825500" y="1948179"/>
            <a:ext cx="5562600" cy="3467100"/>
          </a:xfrm>
          <a:prstGeom prst="roundRect">
            <a:avLst>
              <a:gd name="adj" fmla="val 2564"/>
            </a:avLst>
          </a:prstGeom>
        </p:spPr>
      </p:pic>
      <p:sp>
        <p:nvSpPr>
          <p:cNvPr id="5" name="Shape 2"/>
          <p:cNvSpPr/>
          <p:nvPr/>
        </p:nvSpPr>
        <p:spPr>
          <a:xfrm>
            <a:off x="819150" y="1941829"/>
            <a:ext cx="5575300" cy="3479800"/>
          </a:xfrm>
          <a:prstGeom prst="roundRect">
            <a:avLst>
              <a:gd name="adj" fmla="val 2737"/>
            </a:avLst>
          </a:prstGeom>
          <a:noFill/>
          <a:ln w="12700">
            <a:solidFill>
              <a:srgbClr val="28425A"/>
            </a:solidFill>
            <a:prstDash val="solid"/>
          </a:ln>
        </p:spPr>
      </p:sp>
      <p:sp>
        <p:nvSpPr>
          <p:cNvPr id="6" name="Text 3"/>
          <p:cNvSpPr/>
          <p:nvPr/>
        </p:nvSpPr>
        <p:spPr>
          <a:xfrm>
            <a:off x="812800" y="5529579"/>
            <a:ext cx="575564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Hall of Fame.</a:t>
            </a:r>
            <a:r>
              <a:rPr lang="en-US" sz="1400" dirty="0">
                <a:solidFill>
                  <a:srgbClr val="A9BAC8"/>
                </a:solidFill>
                <a:latin typeface="IBM Plex Sans" pitchFamily="34" charset="0"/>
                <a:ea typeface="IBM Plex Sans" pitchFamily="34" charset="-122"/>
                <a:cs typeface="IBM Plex Sans" pitchFamily="34" charset="-120"/>
              </a:rPr>
              <a:t> Πραγματικοί λογαριασμοί, πραγματικά σκορ.</a:t>
            </a:r>
            <a:endParaRPr lang="en-US" sz="1400" dirty="0"/>
          </a:p>
        </p:txBody>
      </p:sp>
      <p:pic>
        <p:nvPicPr>
          <p:cNvPr id="7" name="Image 1" descr="Το Hangman σε κινητό: το πάνελ επανεκκίνησης, οι σημειώσεις του Professor, μια λέξη με δύο γράμματα αποκαλυμμένα και το πληκτρολόγιο.">    </p:cNvPr>
          <p:cNvPicPr>
            <a:picLocks noChangeAspect="1"/>
          </p:cNvPicPr>
          <p:nvPr/>
        </p:nvPicPr>
        <p:blipFill>
          <a:blip r:embed="rId2"/>
          <a:srcRect l="470" r="470" t="0" b="0"/>
          <a:stretch/>
        </p:blipFill>
        <p:spPr>
          <a:xfrm>
            <a:off x="6616700" y="1948179"/>
            <a:ext cx="1587500" cy="3467100"/>
          </a:xfrm>
          <a:prstGeom prst="roundRect">
            <a:avLst>
              <a:gd name="adj" fmla="val 5600"/>
            </a:avLst>
          </a:prstGeom>
        </p:spPr>
      </p:pic>
      <p:sp>
        <p:nvSpPr>
          <p:cNvPr id="8" name="Shape 4"/>
          <p:cNvSpPr/>
          <p:nvPr/>
        </p:nvSpPr>
        <p:spPr>
          <a:xfrm>
            <a:off x="6610350" y="1941829"/>
            <a:ext cx="1600200" cy="3479800"/>
          </a:xfrm>
          <a:prstGeom prst="roundRect">
            <a:avLst>
              <a:gd name="adj" fmla="val 5952"/>
            </a:avLst>
          </a:prstGeom>
          <a:noFill/>
          <a:ln w="12700">
            <a:solidFill>
              <a:srgbClr val="28425A"/>
            </a:solidFill>
            <a:prstDash val="solid"/>
          </a:ln>
        </p:spPr>
      </p:sp>
      <p:sp>
        <p:nvSpPr>
          <p:cNvPr id="9" name="Text 5"/>
          <p:cNvSpPr/>
          <p:nvPr/>
        </p:nvSpPr>
        <p:spPr>
          <a:xfrm>
            <a:off x="6604000" y="5529579"/>
            <a:ext cx="166370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Σε κινητό.</a:t>
            </a:r>
            <a:endParaRPr lang="en-US" sz="1400" dirty="0"/>
          </a:p>
        </p:txBody>
      </p:sp>
      <p:sp>
        <p:nvSpPr>
          <p:cNvPr id="10" name="Shape 6"/>
          <p:cNvSpPr/>
          <p:nvPr/>
        </p:nvSpPr>
        <p:spPr>
          <a:xfrm>
            <a:off x="8426450" y="1941829"/>
            <a:ext cx="2946400" cy="2925657"/>
          </a:xfrm>
          <a:prstGeom prst="roundRect">
            <a:avLst>
              <a:gd name="adj" fmla="val 4124"/>
            </a:avLst>
          </a:prstGeom>
          <a:solidFill>
            <a:srgbClr val="172A3B"/>
          </a:solidFill>
          <a:ln w="12700">
            <a:solidFill>
              <a:srgbClr val="28425A"/>
            </a:solidFill>
            <a:prstDash val="solid"/>
          </a:ln>
        </p:spPr>
      </p:sp>
      <p:sp>
        <p:nvSpPr>
          <p:cNvPr id="11" name="Text 7"/>
          <p:cNvSpPr/>
          <p:nvPr/>
        </p:nvSpPr>
        <p:spPr>
          <a:xfrm>
            <a:off x="8659918" y="2175300"/>
            <a:ext cx="25538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Καλό είναι να ξέρετε</a:t>
            </a:r>
            <a:endParaRPr lang="en-US" sz="1200" dirty="0"/>
          </a:p>
        </p:txBody>
      </p:sp>
      <p:sp>
        <p:nvSpPr>
          <p:cNvPr id="12" name="Text 8"/>
          <p:cNvSpPr/>
          <p:nvPr/>
        </p:nvSpPr>
        <p:spPr>
          <a:xfrm>
            <a:off x="8659918" y="2515657"/>
            <a:ext cx="255384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Οι επισκέπτες παίζουν δωρεάν. Οι συνδεδεμένοι παίκτες κερδίζουν 100 πόντους για κάθε διάσωση.</a:t>
            </a:r>
            <a:endParaRPr lang="en-US" sz="1400" dirty="0"/>
          </a:p>
        </p:txBody>
      </p:sp>
      <p:sp>
        <p:nvSpPr>
          <p:cNvPr id="13" name="Text 9"/>
          <p:cNvSpPr/>
          <p:nvPr/>
        </p:nvSpPr>
        <p:spPr>
          <a:xfrm>
            <a:off x="8659918" y="3638339"/>
            <a:ext cx="255384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Η διάταξη για κινητό δουλεύτηκε ξεχωριστά και επιβεβαιώθηκε σε πραγματική συσκευή.</a:t>
            </a:r>
            <a:endParaRPr lang="en-US" sz="1400" dirty="0"/>
          </a:p>
        </p:txBody>
      </p:sp>
      <p:sp>
        <p:nvSpPr>
          <p:cNvPr id="14" name="Text 10"/>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Στιγμιότυπα οθόνης από το hangman.spyrostrimis.com, Οκτώβριος 2026.</a:t>
            </a:r>
            <a:endParaRPr lang="en-US" sz="1200" dirty="0"/>
          </a:p>
        </p:txBody>
      </p:sp>
      <p:sp>
        <p:nvSpPr>
          <p:cNvPr id="15" name="Text 1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5 / 15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4738"/>
          </a:xfrm>
          <a:prstGeom prst="rect">
            <a:avLst/>
          </a:prstGeom>
          <a:noFill/>
          <a:ln/>
        </p:spPr>
        <p:txBody>
          <a:bodyPr wrap="square" lIns="0" tIns="0" rIns="0" bIns="0" rtlCol="0" anchor="t">
            <a:normAutofit/>
          </a:bodyPr>
          <a:lstStyle/>
          <a:p>
            <a:pPr algn="l" indent="0" marL="0">
              <a:lnSpc>
                <a:spcPts val="1670"/>
              </a:lnSpc>
              <a:buNone/>
            </a:pPr>
            <a:r>
              <a:rPr lang="en-US" sz="1193" spc="50" kern="0" dirty="0">
                <a:solidFill>
                  <a:srgbClr val="F2B544"/>
                </a:solidFill>
                <a:latin typeface="JetBrains Mono" pitchFamily="49" charset="0"/>
                <a:ea typeface="JetBrains Mono" pitchFamily="49" charset="-122"/>
                <a:cs typeface="JetBrains Mono" pitchFamily="49" charset="-120"/>
              </a:rPr>
              <a:t>05 · Αρχιτεκτονική</a:t>
            </a:r>
            <a:endParaRPr lang="en-US" sz="1193" dirty="0"/>
          </a:p>
        </p:txBody>
      </p:sp>
      <p:sp>
        <p:nvSpPr>
          <p:cNvPr id="3" name="Text 1"/>
          <p:cNvSpPr/>
          <p:nvPr>
            <p:ph type="title"/>
          </p:nvPr>
        </p:nvSpPr>
        <p:spPr>
          <a:xfrm>
            <a:off x="812800" y="1123739"/>
            <a:ext cx="10883392" cy="518689"/>
          </a:xfrm>
          <a:prstGeom prst="rect">
            <a:avLst/>
          </a:prstGeom>
          <a:noFill/>
          <a:ln/>
        </p:spPr>
        <p:txBody>
          <a:bodyPr wrap="square" lIns="0" tIns="0" rIns="0" bIns="0" rtlCol="0" anchor="t">
            <a:normAutofit/>
          </a:bodyPr>
          <a:lstStyle/>
          <a:p>
            <a:pPr algn="l" indent="0" marL="0">
              <a:lnSpc>
                <a:spcPts val="3911"/>
              </a:lnSpc>
              <a:buNone/>
            </a:pPr>
            <a:r>
              <a:rPr lang="en-US" sz="3555" b="1" i="0" dirty="0">
                <a:solidFill>
                  <a:srgbClr val="F4F1EA"/>
                </a:solidFill>
                <a:latin typeface="Manrope" pitchFamily="34" charset="0"/>
                <a:ea typeface="Manrope" pitchFamily="34" charset="-122"/>
                <a:cs typeface="Manrope" pitchFamily="34" charset="-120"/>
              </a:rPr>
              <a:t>Όλα στο free tier της Cloudflare</a:t>
            </a:r>
            <a:endParaRPr lang="en-US" sz="3555" dirty="0"/>
          </a:p>
        </p:txBody>
      </p:sp>
      <p:sp>
        <p:nvSpPr>
          <p:cNvPr id="4" name="Shape 2"/>
          <p:cNvSpPr/>
          <p:nvPr/>
        </p:nvSpPr>
        <p:spPr>
          <a:xfrm>
            <a:off x="819150" y="1928177"/>
            <a:ext cx="3035300" cy="1845733"/>
          </a:xfrm>
          <a:prstGeom prst="roundRect">
            <a:avLst>
              <a:gd name="adj" fmla="val 6537"/>
            </a:avLst>
          </a:prstGeom>
          <a:solidFill>
            <a:srgbClr val="172A3B"/>
          </a:solidFill>
          <a:ln w="12700">
            <a:solidFill>
              <a:srgbClr val="28425A"/>
            </a:solidFill>
            <a:prstDash val="solid"/>
          </a:ln>
        </p:spPr>
      </p:sp>
      <p:sp>
        <p:nvSpPr>
          <p:cNvPr id="5" name="Text 3"/>
          <p:cNvSpPr/>
          <p:nvPr/>
        </p:nvSpPr>
        <p:spPr>
          <a:xfrm>
            <a:off x="1027218" y="2156566"/>
            <a:ext cx="548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Pages</a:t>
            </a:r>
            <a:endParaRPr lang="en-US" sz="1200" dirty="0"/>
          </a:p>
        </p:txBody>
      </p:sp>
      <p:pic>
        <p:nvPicPr>
          <p:cNvPr id="6" name="Image 0" descr="Globe">    </p:cNvPr>
          <p:cNvPicPr>
            <a:picLocks noChangeAspect="1"/>
          </p:cNvPicPr>
          <p:nvPr/>
        </p:nvPicPr>
        <p:blipFill>
          <a:blip r:embed="rId1"/>
          <a:srcRect l="0" r="0" t="0" b="0"/>
          <a:stretch/>
        </p:blipFill>
        <p:spPr>
          <a:xfrm>
            <a:off x="3392382" y="2136245"/>
            <a:ext cx="254000" cy="254000"/>
          </a:xfrm>
          <a:prstGeom prst="rect">
            <a:avLst/>
          </a:prstGeom>
        </p:spPr>
      </p:pic>
      <p:sp>
        <p:nvSpPr>
          <p:cNvPr id="7" name="Text 4"/>
          <p:cNvSpPr/>
          <p:nvPr/>
        </p:nvSpPr>
        <p:spPr>
          <a:xfrm>
            <a:off x="1027218" y="2453745"/>
            <a:ext cx="269773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Client σε React</a:t>
            </a:r>
            <a:endParaRPr lang="en-US" sz="2000" dirty="0"/>
          </a:p>
        </p:txBody>
      </p:sp>
      <p:sp>
        <p:nvSpPr>
          <p:cNvPr id="8" name="Text 5"/>
          <p:cNvSpPr/>
          <p:nvPr/>
        </p:nvSpPr>
        <p:spPr>
          <a:xfrm>
            <a:off x="1027218" y="2809345"/>
            <a:ext cx="269773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React 18 και Vite. Ένα push στο main κάνει deploy.</a:t>
            </a:r>
            <a:endParaRPr lang="en-US" sz="1400" dirty="0"/>
          </a:p>
        </p:txBody>
      </p:sp>
      <p:pic>
        <p:nvPicPr>
          <p:cNvPr id="9" name="Image 1" descr="arrow-right">    </p:cNvPr>
          <p:cNvPicPr>
            <a:picLocks noChangeAspect="1"/>
          </p:cNvPicPr>
          <p:nvPr/>
        </p:nvPicPr>
        <p:blipFill>
          <a:blip r:embed="rId2"/>
          <a:srcRect l="0" r="0" t="0" b="0"/>
          <a:stretch/>
        </p:blipFill>
        <p:spPr>
          <a:xfrm>
            <a:off x="4013200" y="2749445"/>
            <a:ext cx="406400" cy="203200"/>
          </a:xfrm>
          <a:prstGeom prst="rect">
            <a:avLst/>
          </a:prstGeom>
        </p:spPr>
      </p:pic>
      <p:sp>
        <p:nvSpPr>
          <p:cNvPr id="10" name="Shape 6"/>
          <p:cNvSpPr/>
          <p:nvPr/>
        </p:nvSpPr>
        <p:spPr>
          <a:xfrm>
            <a:off x="4578350" y="1928177"/>
            <a:ext cx="3035300" cy="1845733"/>
          </a:xfrm>
          <a:prstGeom prst="roundRect">
            <a:avLst>
              <a:gd name="adj" fmla="val 6537"/>
            </a:avLst>
          </a:prstGeom>
          <a:solidFill>
            <a:srgbClr val="172A3B"/>
          </a:solidFill>
          <a:ln w="12700">
            <a:solidFill>
              <a:srgbClr val="28425A"/>
            </a:solidFill>
            <a:prstDash val="solid"/>
          </a:ln>
        </p:spPr>
      </p:sp>
      <p:sp>
        <p:nvSpPr>
          <p:cNvPr id="11" name="Text 7"/>
          <p:cNvSpPr/>
          <p:nvPr/>
        </p:nvSpPr>
        <p:spPr>
          <a:xfrm>
            <a:off x="4786418" y="2156566"/>
            <a:ext cx="7680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Workers</a:t>
            </a:r>
            <a:endParaRPr lang="en-US" sz="1200" dirty="0"/>
          </a:p>
        </p:txBody>
      </p:sp>
      <p:pic>
        <p:nvPicPr>
          <p:cNvPr id="12" name="Image 2" descr="Lightning">    </p:cNvPr>
          <p:cNvPicPr>
            <a:picLocks noChangeAspect="1"/>
          </p:cNvPicPr>
          <p:nvPr/>
        </p:nvPicPr>
        <p:blipFill>
          <a:blip r:embed="rId3"/>
          <a:srcRect l="0" r="0" t="0" b="0"/>
          <a:stretch/>
        </p:blipFill>
        <p:spPr>
          <a:xfrm>
            <a:off x="7151582" y="2136245"/>
            <a:ext cx="254000" cy="254000"/>
          </a:xfrm>
          <a:prstGeom prst="rect">
            <a:avLst/>
          </a:prstGeom>
        </p:spPr>
      </p:pic>
      <p:sp>
        <p:nvSpPr>
          <p:cNvPr id="13" name="Text 8"/>
          <p:cNvSpPr/>
          <p:nvPr/>
        </p:nvSpPr>
        <p:spPr>
          <a:xfrm>
            <a:off x="4786418" y="2453745"/>
            <a:ext cx="269773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API με Hono</a:t>
            </a:r>
            <a:endParaRPr lang="en-US" sz="2000" dirty="0"/>
          </a:p>
        </p:txBody>
      </p:sp>
      <p:sp>
        <p:nvSpPr>
          <p:cNvPr id="14" name="Text 9"/>
          <p:cNvSpPr/>
          <p:nvPr/>
        </p:nvSpPr>
        <p:spPr>
          <a:xfrm>
            <a:off x="4786418" y="2809345"/>
            <a:ext cx="269773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Δρομολογείται κάτω από το /user/* και γίνεται deploy με wrangler.</a:t>
            </a:r>
            <a:endParaRPr lang="en-US" sz="1400" dirty="0"/>
          </a:p>
        </p:txBody>
      </p:sp>
      <p:pic>
        <p:nvPicPr>
          <p:cNvPr id="15" name="Image 3" descr="arrow-right">    </p:cNvPr>
          <p:cNvPicPr>
            <a:picLocks noChangeAspect="1"/>
          </p:cNvPicPr>
          <p:nvPr/>
        </p:nvPicPr>
        <p:blipFill>
          <a:blip r:embed="rId4"/>
          <a:srcRect l="0" r="0" t="0" b="0"/>
          <a:stretch/>
        </p:blipFill>
        <p:spPr>
          <a:xfrm>
            <a:off x="7772400" y="2749445"/>
            <a:ext cx="406400" cy="203200"/>
          </a:xfrm>
          <a:prstGeom prst="rect">
            <a:avLst/>
          </a:prstGeom>
        </p:spPr>
      </p:pic>
      <p:sp>
        <p:nvSpPr>
          <p:cNvPr id="16" name="Shape 10"/>
          <p:cNvSpPr/>
          <p:nvPr/>
        </p:nvSpPr>
        <p:spPr>
          <a:xfrm>
            <a:off x="8337550" y="1928177"/>
            <a:ext cx="3035300" cy="1845733"/>
          </a:xfrm>
          <a:prstGeom prst="roundRect">
            <a:avLst>
              <a:gd name="adj" fmla="val 6537"/>
            </a:avLst>
          </a:prstGeom>
          <a:solidFill>
            <a:srgbClr val="172A3B"/>
          </a:solidFill>
          <a:ln w="12700">
            <a:solidFill>
              <a:srgbClr val="28425A"/>
            </a:solidFill>
            <a:prstDash val="solid"/>
          </a:ln>
        </p:spPr>
      </p:sp>
      <p:sp>
        <p:nvSpPr>
          <p:cNvPr id="17" name="Text 11"/>
          <p:cNvSpPr/>
          <p:nvPr/>
        </p:nvSpPr>
        <p:spPr>
          <a:xfrm>
            <a:off x="8545618" y="2153391"/>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D1</a:t>
            </a:r>
            <a:endParaRPr lang="en-US" sz="1200" dirty="0"/>
          </a:p>
        </p:txBody>
      </p:sp>
      <p:pic>
        <p:nvPicPr>
          <p:cNvPr id="18" name="Image 4" descr="Database">    </p:cNvPr>
          <p:cNvPicPr>
            <a:picLocks noChangeAspect="1"/>
          </p:cNvPicPr>
          <p:nvPr/>
        </p:nvPicPr>
        <p:blipFill>
          <a:blip r:embed="rId5"/>
          <a:srcRect l="0" r="0" t="0" b="0"/>
          <a:stretch/>
        </p:blipFill>
        <p:spPr>
          <a:xfrm>
            <a:off x="10910782" y="2133070"/>
            <a:ext cx="254000" cy="254000"/>
          </a:xfrm>
          <a:prstGeom prst="rect">
            <a:avLst/>
          </a:prstGeom>
        </p:spPr>
      </p:pic>
      <p:sp>
        <p:nvSpPr>
          <p:cNvPr id="19" name="Text 12"/>
          <p:cNvSpPr/>
          <p:nvPr/>
        </p:nvSpPr>
        <p:spPr>
          <a:xfrm>
            <a:off x="8545618" y="2447395"/>
            <a:ext cx="2697738" cy="594995"/>
          </a:xfrm>
          <a:prstGeom prst="rect">
            <a:avLst/>
          </a:prstGeom>
          <a:noFill/>
          <a:ln/>
        </p:spPr>
        <p:txBody>
          <a:bodyPr wrap="square" lIns="0" tIns="0" rIns="0" bIns="0" rtlCol="0" anchor="t">
            <a:normAutofit/>
          </a:bodyPr>
          <a:lstStyle/>
          <a:p>
            <a:pPr algn="l" indent="0" marL="0">
              <a:lnSpc>
                <a:spcPts val="2257"/>
              </a:lnSpc>
              <a:buNone/>
            </a:pPr>
            <a:r>
              <a:rPr lang="en-US" sz="1963" b="1" dirty="0">
                <a:solidFill>
                  <a:srgbClr val="F4F1EA"/>
                </a:solidFill>
                <a:latin typeface="Manrope" pitchFamily="34" charset="0"/>
                <a:ea typeface="Manrope" pitchFamily="34" charset="-122"/>
                <a:cs typeface="Manrope" pitchFamily="34" charset="-120"/>
              </a:rPr>
              <a:t>Λογαριασμοί και σκορ</a:t>
            </a:r>
            <a:endParaRPr lang="en-US" sz="1963" dirty="0"/>
          </a:p>
        </p:txBody>
      </p:sp>
      <p:sp>
        <p:nvSpPr>
          <p:cNvPr id="20" name="Text 13"/>
          <p:cNvSpPr/>
          <p:nvPr/>
        </p:nvSpPr>
        <p:spPr>
          <a:xfrm>
            <a:off x="8545618" y="3080491"/>
            <a:ext cx="2697738" cy="510752"/>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A9BAC8"/>
                </a:solidFill>
                <a:latin typeface="IBM Plex Sans" pitchFamily="34" charset="0"/>
                <a:ea typeface="IBM Plex Sans" pitchFamily="34" charset="-122"/>
                <a:cs typeface="IBM Plex Sans" pitchFamily="34" charset="-120"/>
              </a:rPr>
              <a:t>Χρήστες, γύροι και σκορ, με migrations.</a:t>
            </a:r>
            <a:endParaRPr lang="en-US" sz="1365" dirty="0"/>
          </a:p>
        </p:txBody>
      </p:sp>
      <p:sp>
        <p:nvSpPr>
          <p:cNvPr id="21" name="Shape 14"/>
          <p:cNvSpPr/>
          <p:nvPr/>
        </p:nvSpPr>
        <p:spPr>
          <a:xfrm>
            <a:off x="819150" y="3989812"/>
            <a:ext cx="3407833" cy="1845839"/>
          </a:xfrm>
          <a:prstGeom prst="roundRect">
            <a:avLst>
              <a:gd name="adj" fmla="val 6536"/>
            </a:avLst>
          </a:prstGeom>
          <a:solidFill>
            <a:srgbClr val="172A3B"/>
          </a:solidFill>
          <a:ln w="12700">
            <a:solidFill>
              <a:srgbClr val="28425A"/>
            </a:solidFill>
            <a:prstDash val="solid"/>
          </a:ln>
        </p:spPr>
      </p:sp>
      <p:sp>
        <p:nvSpPr>
          <p:cNvPr id="22" name="Text 15"/>
          <p:cNvSpPr/>
          <p:nvPr/>
        </p:nvSpPr>
        <p:spPr>
          <a:xfrm>
            <a:off x="1027218" y="4218198"/>
            <a:ext cx="1207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Static JSON</a:t>
            </a:r>
            <a:endParaRPr lang="en-US" sz="1200" dirty="0"/>
          </a:p>
        </p:txBody>
      </p:sp>
      <p:pic>
        <p:nvPicPr>
          <p:cNvPr id="23" name="Image 5" descr="Book">    </p:cNvPr>
          <p:cNvPicPr>
            <a:picLocks noChangeAspect="1"/>
          </p:cNvPicPr>
          <p:nvPr/>
        </p:nvPicPr>
        <p:blipFill>
          <a:blip r:embed="rId6"/>
          <a:srcRect l="0" r="0" t="0" b="0"/>
          <a:stretch/>
        </p:blipFill>
        <p:spPr>
          <a:xfrm>
            <a:off x="3764915" y="4197880"/>
            <a:ext cx="254000" cy="254000"/>
          </a:xfrm>
          <a:prstGeom prst="rect">
            <a:avLst/>
          </a:prstGeom>
        </p:spPr>
      </p:pic>
      <p:sp>
        <p:nvSpPr>
          <p:cNvPr id="24" name="Text 16"/>
          <p:cNvSpPr/>
          <p:nvPr/>
        </p:nvSpPr>
        <p:spPr>
          <a:xfrm>
            <a:off x="1027218" y="4515380"/>
            <a:ext cx="3081448"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Manifest 105 λέξεων</a:t>
            </a:r>
            <a:endParaRPr lang="en-US" sz="2000" dirty="0"/>
          </a:p>
        </p:txBody>
      </p:sp>
      <p:sp>
        <p:nvSpPr>
          <p:cNvPr id="25" name="Text 17"/>
          <p:cNvSpPr/>
          <p:nvPr/>
        </p:nvSpPr>
        <p:spPr>
          <a:xfrm>
            <a:off x="1027218" y="4870980"/>
            <a:ext cx="30814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Καμία κλήση API για λέξεις την ώρα του παιχνιδιού.</a:t>
            </a:r>
            <a:endParaRPr lang="en-US" sz="1400" dirty="0"/>
          </a:p>
        </p:txBody>
      </p:sp>
      <p:sp>
        <p:nvSpPr>
          <p:cNvPr id="26" name="Shape 18"/>
          <p:cNvSpPr/>
          <p:nvPr/>
        </p:nvSpPr>
        <p:spPr>
          <a:xfrm>
            <a:off x="4392083" y="3989812"/>
            <a:ext cx="3407833" cy="1845839"/>
          </a:xfrm>
          <a:prstGeom prst="roundRect">
            <a:avLst>
              <a:gd name="adj" fmla="val 6536"/>
            </a:avLst>
          </a:prstGeom>
          <a:solidFill>
            <a:srgbClr val="172A3B"/>
          </a:solidFill>
          <a:ln w="12700">
            <a:solidFill>
              <a:srgbClr val="28425A"/>
            </a:solidFill>
            <a:prstDash val="solid"/>
          </a:ln>
        </p:spPr>
      </p:sp>
      <p:sp>
        <p:nvSpPr>
          <p:cNvPr id="27" name="Text 19"/>
          <p:cNvSpPr/>
          <p:nvPr/>
        </p:nvSpPr>
        <p:spPr>
          <a:xfrm>
            <a:off x="4600152" y="4215023"/>
            <a:ext cx="233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R2</a:t>
            </a:r>
            <a:endParaRPr lang="en-US" sz="1200" dirty="0"/>
          </a:p>
        </p:txBody>
      </p:sp>
      <p:pic>
        <p:nvPicPr>
          <p:cNvPr id="28" name="Image 6" descr="Cloud">    </p:cNvPr>
          <p:cNvPicPr>
            <a:picLocks noChangeAspect="1"/>
          </p:cNvPicPr>
          <p:nvPr/>
        </p:nvPicPr>
        <p:blipFill>
          <a:blip r:embed="rId7"/>
          <a:srcRect l="0" r="0" t="0" b="0"/>
          <a:stretch/>
        </p:blipFill>
        <p:spPr>
          <a:xfrm>
            <a:off x="7337848" y="4194705"/>
            <a:ext cx="254000" cy="254000"/>
          </a:xfrm>
          <a:prstGeom prst="rect">
            <a:avLst/>
          </a:prstGeom>
        </p:spPr>
      </p:pic>
      <p:sp>
        <p:nvSpPr>
          <p:cNvPr id="29" name="Text 20"/>
          <p:cNvSpPr/>
          <p:nvPr/>
        </p:nvSpPr>
        <p:spPr>
          <a:xfrm>
            <a:off x="4600152" y="4509030"/>
            <a:ext cx="3193415" cy="594995"/>
          </a:xfrm>
          <a:prstGeom prst="rect">
            <a:avLst/>
          </a:prstGeom>
          <a:noFill/>
          <a:ln/>
        </p:spPr>
        <p:txBody>
          <a:bodyPr wrap="square" lIns="0" tIns="0" rIns="0" bIns="0" rtlCol="0" anchor="t">
            <a:normAutofit/>
          </a:bodyPr>
          <a:lstStyle/>
          <a:p>
            <a:pPr algn="l" indent="0" marL="0">
              <a:lnSpc>
                <a:spcPts val="2278"/>
              </a:lnSpc>
              <a:buNone/>
            </a:pPr>
            <a:r>
              <a:rPr lang="en-US" sz="1981" b="1" dirty="0">
                <a:solidFill>
                  <a:srgbClr val="F4F1EA"/>
                </a:solidFill>
                <a:latin typeface="Manrope" pitchFamily="34" charset="0"/>
                <a:ea typeface="Manrope" pitchFamily="34" charset="-122"/>
                <a:cs typeface="Manrope" pitchFamily="34" charset="-120"/>
              </a:rPr>
              <a:t>105 πίνακες ζωγραφικής</a:t>
            </a:r>
            <a:endParaRPr lang="en-US" sz="1981" dirty="0"/>
          </a:p>
        </p:txBody>
      </p:sp>
      <p:sp>
        <p:nvSpPr>
          <p:cNvPr id="30" name="Text 21"/>
          <p:cNvSpPr/>
          <p:nvPr/>
        </p:nvSpPr>
        <p:spPr>
          <a:xfrm>
            <a:off x="4600152" y="5142123"/>
            <a:ext cx="3081448" cy="510857"/>
          </a:xfrm>
          <a:prstGeom prst="rect">
            <a:avLst/>
          </a:prstGeom>
          <a:noFill/>
          <a:ln/>
        </p:spPr>
        <p:txBody>
          <a:bodyPr wrap="square" lIns="0" tIns="0" rIns="0" bIns="0" rtlCol="0" anchor="t">
            <a:normAutofit/>
          </a:bodyPr>
          <a:lstStyle/>
          <a:p>
            <a:pPr algn="l" indent="0" marL="0">
              <a:lnSpc>
                <a:spcPts val="1911"/>
              </a:lnSpc>
              <a:buNone/>
            </a:pPr>
            <a:r>
              <a:rPr lang="en-US" sz="1365" dirty="0">
                <a:solidFill>
                  <a:srgbClr val="A9BAC8"/>
                </a:solidFill>
                <a:latin typeface="IBM Plex Sans" pitchFamily="34" charset="0"/>
                <a:ea typeface="IBM Plex Sans" pitchFamily="34" charset="-122"/>
                <a:cs typeface="IBM Plex Sans" pitchFamily="34" charset="-120"/>
              </a:rPr>
              <a:t>Σερβίρονται από δικό τους domain για assets.</a:t>
            </a:r>
            <a:endParaRPr lang="en-US" sz="1365" dirty="0"/>
          </a:p>
        </p:txBody>
      </p:sp>
      <p:sp>
        <p:nvSpPr>
          <p:cNvPr id="31" name="Shape 22"/>
          <p:cNvSpPr/>
          <p:nvPr/>
        </p:nvSpPr>
        <p:spPr>
          <a:xfrm>
            <a:off x="7965017" y="3989812"/>
            <a:ext cx="3407833" cy="1845839"/>
          </a:xfrm>
          <a:prstGeom prst="roundRect">
            <a:avLst>
              <a:gd name="adj" fmla="val 6536"/>
            </a:avLst>
          </a:prstGeom>
          <a:solidFill>
            <a:srgbClr val="F2B544"/>
          </a:solidFill>
          <a:ln w="12700">
            <a:solidFill>
              <a:srgbClr val="F2B544"/>
            </a:solidFill>
            <a:prstDash val="solid"/>
          </a:ln>
        </p:spPr>
      </p:sp>
      <p:sp>
        <p:nvSpPr>
          <p:cNvPr id="32" name="Text 23"/>
          <p:cNvSpPr/>
          <p:nvPr/>
        </p:nvSpPr>
        <p:spPr>
          <a:xfrm>
            <a:off x="8173085" y="4218198"/>
            <a:ext cx="877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C"/>
                </a:solidFill>
                <a:latin typeface="JetBrains Mono" pitchFamily="49" charset="0"/>
                <a:ea typeface="JetBrains Mono" pitchFamily="49" charset="-122"/>
                <a:cs typeface="JetBrains Mono" pitchFamily="49" charset="-120"/>
              </a:rPr>
              <a:t>Παραγωγή</a:t>
            </a:r>
            <a:endParaRPr lang="en-US" sz="1200" dirty="0"/>
          </a:p>
        </p:txBody>
      </p:sp>
      <p:pic>
        <p:nvPicPr>
          <p:cNvPr id="33" name="Image 7" descr="PaperPlane">    </p:cNvPr>
          <p:cNvPicPr>
            <a:picLocks noChangeAspect="1"/>
          </p:cNvPicPr>
          <p:nvPr/>
        </p:nvPicPr>
        <p:blipFill>
          <a:blip r:embed="rId8"/>
          <a:srcRect l="0" r="0" t="0" b="0"/>
          <a:stretch/>
        </p:blipFill>
        <p:spPr>
          <a:xfrm>
            <a:off x="10910782" y="4197880"/>
            <a:ext cx="254000" cy="254000"/>
          </a:xfrm>
          <a:prstGeom prst="rect">
            <a:avLst/>
          </a:prstGeom>
        </p:spPr>
      </p:pic>
      <p:sp>
        <p:nvSpPr>
          <p:cNvPr id="34" name="Text 24"/>
          <p:cNvSpPr/>
          <p:nvPr/>
        </p:nvSpPr>
        <p:spPr>
          <a:xfrm>
            <a:off x="8173085" y="4515380"/>
            <a:ext cx="3081448"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2202C"/>
                </a:solidFill>
                <a:latin typeface="Manrope" pitchFamily="34" charset="0"/>
                <a:ea typeface="Manrope" pitchFamily="34" charset="-122"/>
                <a:cs typeface="Manrope" pitchFamily="34" charset="-120"/>
              </a:rPr>
              <a:t>Κάθε deploy πάει σε παραγωγή</a:t>
            </a:r>
            <a:endParaRPr lang="en-US" sz="2000" dirty="0"/>
          </a:p>
        </p:txBody>
      </p:sp>
      <p:sp>
        <p:nvSpPr>
          <p:cNvPr id="35" name="Text 25"/>
          <p:cNvSpPr/>
          <p:nvPr/>
        </p:nvSpPr>
        <p:spPr>
          <a:xfrm>
            <a:off x="8173085" y="5163080"/>
            <a:ext cx="30814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02C"/>
                </a:solidFill>
                <a:latin typeface="IBM Plex Sans" pitchFamily="34" charset="0"/>
                <a:ea typeface="IBM Plex Sans" pitchFamily="34" charset="-122"/>
                <a:cs typeface="IBM Plex Sans" pitchFamily="34" charset="-120"/>
              </a:rPr>
              <a:t>Δεν υπάρχει staging περιβάλλον.</a:t>
            </a:r>
            <a:endParaRPr lang="en-US" sz="1400" dirty="0"/>
          </a:p>
        </p:txBody>
      </p:sp>
      <p:sp>
        <p:nvSpPr>
          <p:cNvPr id="36" name="Text 26"/>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37" name="Text 2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6 / 15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06 · Οι αριθμοί</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Ο περιορισμός των 0 $ σε αριθμούς</a:t>
            </a:r>
            <a:endParaRPr lang="en-US" sz="3600" dirty="0"/>
          </a:p>
        </p:txBody>
      </p:sp>
      <p:sp>
        <p:nvSpPr>
          <p:cNvPr id="4" name="Shape 2"/>
          <p:cNvSpPr/>
          <p:nvPr/>
        </p:nvSpPr>
        <p:spPr>
          <a:xfrm>
            <a:off x="819150" y="1941829"/>
            <a:ext cx="5168900" cy="1693757"/>
          </a:xfrm>
          <a:prstGeom prst="roundRect">
            <a:avLst>
              <a:gd name="adj" fmla="val 7123"/>
            </a:avLst>
          </a:prstGeom>
          <a:solidFill>
            <a:srgbClr val="FBF9F4"/>
          </a:solidFill>
          <a:ln w="12700">
            <a:solidFill>
              <a:srgbClr val="D9D3C4"/>
            </a:solidFill>
            <a:prstDash val="solid"/>
          </a:ln>
        </p:spPr>
      </p:sp>
      <p:sp>
        <p:nvSpPr>
          <p:cNvPr id="5" name="Text 3"/>
          <p:cNvSpPr/>
          <p:nvPr/>
        </p:nvSpPr>
        <p:spPr>
          <a:xfrm>
            <a:off x="1078018" y="2149900"/>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Manrope" pitchFamily="34" charset="0"/>
                <a:ea typeface="Manrope" pitchFamily="34" charset="-122"/>
                <a:cs typeface="Manrope" pitchFamily="34" charset="-120"/>
              </a:rPr>
              <a:t>0 $</a:t>
            </a:r>
            <a:endParaRPr lang="en-US" sz="5200" dirty="0"/>
          </a:p>
        </p:txBody>
      </p:sp>
      <p:sp>
        <p:nvSpPr>
          <p:cNvPr id="6" name="Text 4"/>
          <p:cNvSpPr/>
          <p:nvPr/>
        </p:nvSpPr>
        <p:spPr>
          <a:xfrm>
            <a:off x="1078018" y="2894118"/>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Μηνιαίο κόστος λειτουργίας. Τα όρια του δωρεάν πλάνου είναι πλαφόν, όχι στόχοι.</a:t>
            </a:r>
            <a:endParaRPr lang="en-US" sz="1500" dirty="0"/>
          </a:p>
        </p:txBody>
      </p:sp>
      <p:sp>
        <p:nvSpPr>
          <p:cNvPr id="7" name="Shape 5"/>
          <p:cNvSpPr/>
          <p:nvPr/>
        </p:nvSpPr>
        <p:spPr>
          <a:xfrm>
            <a:off x="6203950" y="1941829"/>
            <a:ext cx="5168900" cy="1693757"/>
          </a:xfrm>
          <a:prstGeom prst="roundRect">
            <a:avLst>
              <a:gd name="adj" fmla="val 7123"/>
            </a:avLst>
          </a:prstGeom>
          <a:solidFill>
            <a:srgbClr val="FBF9F4"/>
          </a:solidFill>
          <a:ln w="12700">
            <a:solidFill>
              <a:srgbClr val="D9D3C4"/>
            </a:solidFill>
            <a:prstDash val="solid"/>
          </a:ln>
        </p:spPr>
      </p:sp>
      <p:sp>
        <p:nvSpPr>
          <p:cNvPr id="8" name="Text 6"/>
          <p:cNvSpPr/>
          <p:nvPr/>
        </p:nvSpPr>
        <p:spPr>
          <a:xfrm>
            <a:off x="6462818" y="2149900"/>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Manrope" pitchFamily="34" charset="0"/>
                <a:ea typeface="Manrope" pitchFamily="34" charset="-122"/>
                <a:cs typeface="Manrope" pitchFamily="34" charset="-120"/>
              </a:rPr>
              <a:t>105</a:t>
            </a:r>
            <a:endParaRPr lang="en-US" sz="5200" dirty="0"/>
          </a:p>
        </p:txBody>
      </p:sp>
      <p:sp>
        <p:nvSpPr>
          <p:cNvPr id="9" name="Text 7"/>
          <p:cNvSpPr/>
          <p:nvPr/>
        </p:nvSpPr>
        <p:spPr>
          <a:xfrm>
            <a:off x="6462818" y="2894118"/>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Λέξεις στο παιχνίδι, καθεμία με πίνακα που σερβίρεται από το R2.</a:t>
            </a:r>
            <a:endParaRPr lang="en-US" sz="1500" dirty="0"/>
          </a:p>
        </p:txBody>
      </p:sp>
      <p:sp>
        <p:nvSpPr>
          <p:cNvPr id="10" name="Shape 8"/>
          <p:cNvSpPr/>
          <p:nvPr/>
        </p:nvSpPr>
        <p:spPr>
          <a:xfrm>
            <a:off x="819150" y="3851486"/>
            <a:ext cx="5168900" cy="1693757"/>
          </a:xfrm>
          <a:prstGeom prst="roundRect">
            <a:avLst>
              <a:gd name="adj" fmla="val 7123"/>
            </a:avLst>
          </a:prstGeom>
          <a:solidFill>
            <a:srgbClr val="FBF9F4"/>
          </a:solidFill>
          <a:ln w="12700">
            <a:solidFill>
              <a:srgbClr val="D9D3C4"/>
            </a:solidFill>
            <a:prstDash val="solid"/>
          </a:ln>
        </p:spPr>
      </p:sp>
      <p:sp>
        <p:nvSpPr>
          <p:cNvPr id="11" name="Text 9"/>
          <p:cNvSpPr/>
          <p:nvPr/>
        </p:nvSpPr>
        <p:spPr>
          <a:xfrm>
            <a:off x="1078018" y="4059554"/>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Manrope" pitchFamily="34" charset="0"/>
                <a:ea typeface="Manrope" pitchFamily="34" charset="-122"/>
                <a:cs typeface="Manrope" pitchFamily="34" charset="-120"/>
              </a:rPr>
              <a:t>135.897</a:t>
            </a:r>
            <a:endParaRPr lang="en-US" sz="5200" dirty="0"/>
          </a:p>
        </p:txBody>
      </p:sp>
      <p:sp>
        <p:nvSpPr>
          <p:cNvPr id="12" name="Text 10"/>
          <p:cNvSpPr/>
          <p:nvPr/>
        </p:nvSpPr>
        <p:spPr>
          <a:xfrm>
            <a:off x="1078018" y="4803775"/>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Λέξεις στο λεξιλόγιο της Illucia, 4 έως 15 γράμματα, με φίλτρο για προσβλητικές λέξεις.</a:t>
            </a:r>
            <a:endParaRPr lang="en-US" sz="1500" dirty="0"/>
          </a:p>
        </p:txBody>
      </p:sp>
      <p:sp>
        <p:nvSpPr>
          <p:cNvPr id="13" name="Shape 11"/>
          <p:cNvSpPr/>
          <p:nvPr/>
        </p:nvSpPr>
        <p:spPr>
          <a:xfrm>
            <a:off x="6203950" y="3851486"/>
            <a:ext cx="5168900" cy="1693757"/>
          </a:xfrm>
          <a:prstGeom prst="roundRect">
            <a:avLst>
              <a:gd name="adj" fmla="val 7123"/>
            </a:avLst>
          </a:prstGeom>
          <a:solidFill>
            <a:srgbClr val="FBF9F4"/>
          </a:solidFill>
          <a:ln w="12700">
            <a:solidFill>
              <a:srgbClr val="D9D3C4"/>
            </a:solidFill>
            <a:prstDash val="solid"/>
          </a:ln>
        </p:spPr>
      </p:sp>
      <p:sp>
        <p:nvSpPr>
          <p:cNvPr id="14" name="Text 12"/>
          <p:cNvSpPr/>
          <p:nvPr/>
        </p:nvSpPr>
        <p:spPr>
          <a:xfrm>
            <a:off x="6462818" y="4059554"/>
            <a:ext cx="479069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0E7C70"/>
                </a:solidFill>
                <a:latin typeface="Manrope" pitchFamily="34" charset="0"/>
                <a:ea typeface="Manrope" pitchFamily="34" charset="-122"/>
                <a:cs typeface="Manrope" pitchFamily="34" charset="-120"/>
              </a:rPr>
              <a:t>1,96 ms</a:t>
            </a:r>
            <a:endParaRPr lang="en-US" sz="5200" dirty="0"/>
          </a:p>
        </p:txBody>
      </p:sp>
      <p:sp>
        <p:nvSpPr>
          <p:cNvPr id="15" name="Text 13"/>
          <p:cNvSpPr/>
          <p:nvPr/>
        </p:nvSpPr>
        <p:spPr>
          <a:xfrm>
            <a:off x="6462818" y="4803775"/>
            <a:ext cx="479069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C59"/>
                </a:solidFill>
                <a:latin typeface="IBM Plex Sans" pitchFamily="34" charset="0"/>
                <a:ea typeface="IBM Plex Sans" pitchFamily="34" charset="-122"/>
                <a:cs typeface="IBM Plex Sans" pitchFamily="34" charset="-120"/>
              </a:rPr>
              <a:t>Διάμεσος χρόνος CPU του Worker στην έναρξη, στο Free plan (3,56 ms στο P99, μικρό δείγμα).</a:t>
            </a:r>
            <a:endParaRPr lang="en-US" sz="1500" dirty="0"/>
          </a:p>
        </p:txBody>
      </p:sp>
      <p:sp>
        <p:nvSpPr>
          <p:cNvPr id="16" name="Text 14"/>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17"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7 / 15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2B544"/>
                </a:solidFill>
                <a:latin typeface="JetBrains Mono" pitchFamily="49" charset="0"/>
                <a:ea typeface="JetBrains Mono" pitchFamily="49" charset="-122"/>
                <a:cs typeface="JetBrains Mono" pitchFamily="49" charset="-120"/>
              </a:rPr>
              <a:t>07 · Δεδομένα λέξεων</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Χτίζονται offline, όχι σε runtime</a:t>
            </a:r>
            <a:endParaRPr lang="en-US" sz="3600" dirty="0"/>
          </a:p>
        </p:txBody>
      </p:sp>
      <p:sp>
        <p:nvSpPr>
          <p:cNvPr id="4" name="Shape 2"/>
          <p:cNvSpPr/>
          <p:nvPr/>
        </p:nvSpPr>
        <p:spPr>
          <a:xfrm>
            <a:off x="819150" y="1941829"/>
            <a:ext cx="5168900" cy="1714077"/>
          </a:xfrm>
          <a:prstGeom prst="roundRect">
            <a:avLst>
              <a:gd name="adj" fmla="val 7039"/>
            </a:avLst>
          </a:prstGeom>
          <a:solidFill>
            <a:srgbClr val="172A3B"/>
          </a:solidFill>
          <a:ln w="12700">
            <a:solidFill>
              <a:srgbClr val="28425A"/>
            </a:solidFill>
            <a:prstDash val="solid"/>
          </a:ln>
        </p:spPr>
      </p:sp>
      <p:sp>
        <p:nvSpPr>
          <p:cNvPr id="5" name="Text 3"/>
          <p:cNvSpPr/>
          <p:nvPr/>
        </p:nvSpPr>
        <p:spPr>
          <a:xfrm>
            <a:off x="10526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Βήμα 1</a:t>
            </a:r>
            <a:endParaRPr lang="en-US" sz="1200" dirty="0"/>
          </a:p>
        </p:txBody>
      </p:sp>
      <p:pic>
        <p:nvPicPr>
          <p:cNvPr id="6" name="Image 0" descr="Book">    </p:cNvPr>
          <p:cNvPicPr>
            <a:picLocks noChangeAspect="1"/>
          </p:cNvPicPr>
          <p:nvPr/>
        </p:nvPicPr>
        <p:blipFill>
          <a:blip r:embed="rId1"/>
          <a:srcRect l="0" r="0" t="0" b="0"/>
          <a:stretch/>
        </p:blipFill>
        <p:spPr>
          <a:xfrm>
            <a:off x="5500582" y="2175300"/>
            <a:ext cx="254000" cy="254000"/>
          </a:xfrm>
          <a:prstGeom prst="rect">
            <a:avLst/>
          </a:prstGeom>
        </p:spPr>
      </p:pic>
      <p:sp>
        <p:nvSpPr>
          <p:cNvPr id="7" name="Text 4"/>
          <p:cNvSpPr/>
          <p:nvPr/>
        </p:nvSpPr>
        <p:spPr>
          <a:xfrm>
            <a:off x="1052618" y="2530900"/>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Merriam-Webster</a:t>
            </a:r>
            <a:endParaRPr lang="en-US" sz="2000" dirty="0"/>
          </a:p>
        </p:txBody>
      </p:sp>
      <p:sp>
        <p:nvSpPr>
          <p:cNvPr id="8" name="Text 5"/>
          <p:cNvSpPr/>
          <p:nvPr/>
        </p:nvSpPr>
        <p:spPr>
          <a:xfrm>
            <a:off x="1052618" y="2924600"/>
            <a:ext cx="48430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Μόνο το Collegiate Dictionary: ορισμός, προφορά, ήχος και ένα πραγματικό παράδειγμα με αναφορά πηγής.</a:t>
            </a:r>
            <a:endParaRPr lang="en-US" sz="1400" dirty="0"/>
          </a:p>
        </p:txBody>
      </p:sp>
      <p:sp>
        <p:nvSpPr>
          <p:cNvPr id="9" name="Shape 6"/>
          <p:cNvSpPr/>
          <p:nvPr/>
        </p:nvSpPr>
        <p:spPr>
          <a:xfrm>
            <a:off x="6203950" y="1941829"/>
            <a:ext cx="5168900" cy="1714077"/>
          </a:xfrm>
          <a:prstGeom prst="roundRect">
            <a:avLst>
              <a:gd name="adj" fmla="val 7039"/>
            </a:avLst>
          </a:prstGeom>
          <a:solidFill>
            <a:srgbClr val="172A3B"/>
          </a:solidFill>
          <a:ln w="12700">
            <a:solidFill>
              <a:srgbClr val="28425A"/>
            </a:solidFill>
            <a:prstDash val="solid"/>
          </a:ln>
        </p:spPr>
      </p:sp>
      <p:sp>
        <p:nvSpPr>
          <p:cNvPr id="10" name="Text 7"/>
          <p:cNvSpPr/>
          <p:nvPr/>
        </p:nvSpPr>
        <p:spPr>
          <a:xfrm>
            <a:off x="64374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Βήμα 2</a:t>
            </a:r>
            <a:endParaRPr lang="en-US" sz="1200" dirty="0"/>
          </a:p>
        </p:txBody>
      </p:sp>
      <p:pic>
        <p:nvPicPr>
          <p:cNvPr id="11" name="Image 1" descr="Users">    </p:cNvPr>
          <p:cNvPicPr>
            <a:picLocks noChangeAspect="1"/>
          </p:cNvPicPr>
          <p:nvPr/>
        </p:nvPicPr>
        <p:blipFill>
          <a:blip r:embed="rId2"/>
          <a:srcRect l="0" r="0" t="0" b="0"/>
          <a:stretch/>
        </p:blipFill>
        <p:spPr>
          <a:xfrm>
            <a:off x="10885382" y="2175300"/>
            <a:ext cx="254000" cy="254000"/>
          </a:xfrm>
          <a:prstGeom prst="rect">
            <a:avLst/>
          </a:prstGeom>
        </p:spPr>
      </p:pic>
      <p:sp>
        <p:nvSpPr>
          <p:cNvPr id="12" name="Text 8"/>
          <p:cNvSpPr/>
          <p:nvPr/>
        </p:nvSpPr>
        <p:spPr>
          <a:xfrm>
            <a:off x="6437418" y="2530900"/>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Ανθρώπινες επιλογές</a:t>
            </a:r>
            <a:endParaRPr lang="en-US" sz="2000" dirty="0"/>
          </a:p>
        </p:txBody>
      </p:sp>
      <p:sp>
        <p:nvSpPr>
          <p:cNvPr id="13" name="Text 9"/>
          <p:cNvSpPr/>
          <p:nvPr/>
        </p:nvSpPr>
        <p:spPr>
          <a:xfrm>
            <a:off x="6437418" y="2924600"/>
            <a:ext cx="484302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76 ρητές επιλογές λημμάτων λύνουν τις ασάφειες. Δεν αποφασίζει κάποιος κρυφός αλγόριθμος.</a:t>
            </a:r>
            <a:endParaRPr lang="en-US" sz="1400" dirty="0"/>
          </a:p>
        </p:txBody>
      </p:sp>
      <p:sp>
        <p:nvSpPr>
          <p:cNvPr id="14" name="Shape 10"/>
          <p:cNvSpPr/>
          <p:nvPr/>
        </p:nvSpPr>
        <p:spPr>
          <a:xfrm>
            <a:off x="819150" y="3871807"/>
            <a:ext cx="5168900" cy="1962997"/>
          </a:xfrm>
          <a:prstGeom prst="roundRect">
            <a:avLst>
              <a:gd name="adj" fmla="val 6146"/>
            </a:avLst>
          </a:prstGeom>
          <a:solidFill>
            <a:srgbClr val="172A3B"/>
          </a:solidFill>
          <a:ln w="12700">
            <a:solidFill>
              <a:srgbClr val="28425A"/>
            </a:solidFill>
            <a:prstDash val="solid"/>
          </a:ln>
        </p:spPr>
      </p:sp>
      <p:sp>
        <p:nvSpPr>
          <p:cNvPr id="15" name="Text 11"/>
          <p:cNvSpPr/>
          <p:nvPr/>
        </p:nvSpPr>
        <p:spPr>
          <a:xfrm>
            <a:off x="1052618" y="4125596"/>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Βήμα 3</a:t>
            </a:r>
            <a:endParaRPr lang="en-US" sz="1200" dirty="0"/>
          </a:p>
        </p:txBody>
      </p:sp>
      <p:pic>
        <p:nvPicPr>
          <p:cNvPr id="16" name="Image 2" descr="Lightbulb">    </p:cNvPr>
          <p:cNvPicPr>
            <a:picLocks noChangeAspect="1"/>
          </p:cNvPicPr>
          <p:nvPr/>
        </p:nvPicPr>
        <p:blipFill>
          <a:blip r:embed="rId3"/>
          <a:srcRect l="0" r="0" t="0" b="0"/>
          <a:stretch/>
        </p:blipFill>
        <p:spPr>
          <a:xfrm>
            <a:off x="5500582" y="4105275"/>
            <a:ext cx="254000" cy="254000"/>
          </a:xfrm>
          <a:prstGeom prst="rect">
            <a:avLst/>
          </a:prstGeom>
        </p:spPr>
      </p:pic>
      <p:sp>
        <p:nvSpPr>
          <p:cNvPr id="17" name="Text 12"/>
          <p:cNvSpPr/>
          <p:nvPr/>
        </p:nvSpPr>
        <p:spPr>
          <a:xfrm>
            <a:off x="1052618" y="4460875"/>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Εμπλουτισμός με έλεγχο</a:t>
            </a:r>
            <a:endParaRPr lang="en-US" sz="2000" dirty="0"/>
          </a:p>
        </p:txBody>
      </p:sp>
      <p:sp>
        <p:nvSpPr>
          <p:cNvPr id="18" name="Text 13"/>
          <p:cNvSpPr/>
          <p:nvPr/>
        </p:nvSpPr>
        <p:spPr>
          <a:xfrm>
            <a:off x="1052618" y="4854575"/>
            <a:ext cx="484302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Τις υποδείξεις και τις επεξηγήσεις τις συνέταξε ένα LLM, τις έλεγξε άνθρωπος και έγιναν commit ως στατικά δεδομένα.</a:t>
            </a:r>
            <a:endParaRPr lang="en-US" sz="1400" dirty="0"/>
          </a:p>
        </p:txBody>
      </p:sp>
      <p:sp>
        <p:nvSpPr>
          <p:cNvPr id="19" name="Shape 14"/>
          <p:cNvSpPr/>
          <p:nvPr/>
        </p:nvSpPr>
        <p:spPr>
          <a:xfrm>
            <a:off x="6203950" y="3871807"/>
            <a:ext cx="5168900" cy="1962997"/>
          </a:xfrm>
          <a:prstGeom prst="roundRect">
            <a:avLst>
              <a:gd name="adj" fmla="val 6146"/>
            </a:avLst>
          </a:prstGeom>
          <a:solidFill>
            <a:srgbClr val="172A3B"/>
          </a:solidFill>
          <a:ln w="12700">
            <a:solidFill>
              <a:srgbClr val="28425A"/>
            </a:solidFill>
            <a:prstDash val="solid"/>
          </a:ln>
        </p:spPr>
      </p:sp>
      <p:sp>
        <p:nvSpPr>
          <p:cNvPr id="20" name="Text 15"/>
          <p:cNvSpPr/>
          <p:nvPr/>
        </p:nvSpPr>
        <p:spPr>
          <a:xfrm>
            <a:off x="6437418" y="4125596"/>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Βήμα 4</a:t>
            </a:r>
            <a:endParaRPr lang="en-US" sz="1200" dirty="0"/>
          </a:p>
        </p:txBody>
      </p:sp>
      <p:pic>
        <p:nvPicPr>
          <p:cNvPr id="21" name="Image 3" descr="Verified">    </p:cNvPr>
          <p:cNvPicPr>
            <a:picLocks noChangeAspect="1"/>
          </p:cNvPicPr>
          <p:nvPr/>
        </p:nvPicPr>
        <p:blipFill>
          <a:blip r:embed="rId4"/>
          <a:srcRect l="0" r="0" t="0" b="0"/>
          <a:stretch/>
        </p:blipFill>
        <p:spPr>
          <a:xfrm>
            <a:off x="10885382" y="4105275"/>
            <a:ext cx="254000" cy="254000"/>
          </a:xfrm>
          <a:prstGeom prst="rect">
            <a:avLst/>
          </a:prstGeom>
        </p:spPr>
      </p:pic>
      <p:sp>
        <p:nvSpPr>
          <p:cNvPr id="22" name="Text 16"/>
          <p:cNvSpPr/>
          <p:nvPr/>
        </p:nvSpPr>
        <p:spPr>
          <a:xfrm>
            <a:off x="6437418" y="4460875"/>
            <a:ext cx="4843022"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Συναρμολόγηση και επικύρωση</a:t>
            </a:r>
            <a:endParaRPr lang="en-US" sz="2000" dirty="0"/>
          </a:p>
        </p:txBody>
      </p:sp>
      <p:sp>
        <p:nvSpPr>
          <p:cNvPr id="23" name="Text 17"/>
          <p:cNvSpPr/>
          <p:nvPr/>
        </p:nvSpPr>
        <p:spPr>
          <a:xfrm>
            <a:off x="6437418" y="4854575"/>
            <a:ext cx="484302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Ένας ντετερμινιστικός assembler χτίζει το manifest. Ένας validator απορρίπτει υποδείξεις που αποκαλύπτουν την απάντηση.</a:t>
            </a:r>
            <a:endParaRPr lang="en-US" sz="1400" dirty="0"/>
          </a:p>
        </p:txBody>
      </p:sp>
      <p:sp>
        <p:nvSpPr>
          <p:cNvPr id="24" name="Text 1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5" name="Text 1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8 / 15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08 · Απόφαση ασφάλειας</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Ο κωδικός δεν φεύγει ποτέ από τον browser</a:t>
            </a:r>
            <a:endParaRPr lang="en-US" sz="3600" dirty="0"/>
          </a:p>
        </p:txBody>
      </p:sp>
      <p:sp>
        <p:nvSpPr>
          <p:cNvPr id="4" name="Shape 2"/>
          <p:cNvSpPr/>
          <p:nvPr/>
        </p:nvSpPr>
        <p:spPr>
          <a:xfrm>
            <a:off x="819150" y="1941829"/>
            <a:ext cx="5869940" cy="1184487"/>
          </a:xfrm>
          <a:prstGeom prst="roundRect">
            <a:avLst>
              <a:gd name="adj" fmla="val 10186"/>
            </a:avLst>
          </a:prstGeom>
          <a:solidFill>
            <a:srgbClr val="FBF9F4"/>
          </a:solidFill>
          <a:ln w="12700">
            <a:solidFill>
              <a:srgbClr val="D9D3C4"/>
            </a:solidFill>
            <a:prstDash val="solid"/>
          </a:ln>
        </p:spPr>
      </p:sp>
      <p:sp>
        <p:nvSpPr>
          <p:cNvPr id="5" name="Text 3"/>
          <p:cNvSpPr/>
          <p:nvPr/>
        </p:nvSpPr>
        <p:spPr>
          <a:xfrm>
            <a:off x="1052618" y="2144818"/>
            <a:ext cx="13167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Στον browser</a:t>
            </a:r>
            <a:endParaRPr lang="en-US" sz="1200" dirty="0"/>
          </a:p>
        </p:txBody>
      </p:sp>
      <p:pic>
        <p:nvPicPr>
          <p:cNvPr id="6" name="Image 0" descr="Globe">    </p:cNvPr>
          <p:cNvPicPr>
            <a:picLocks noChangeAspect="1"/>
          </p:cNvPicPr>
          <p:nvPr/>
        </p:nvPicPr>
        <p:blipFill>
          <a:blip r:embed="rId1"/>
          <a:srcRect l="0" r="0" t="0" b="0"/>
          <a:stretch/>
        </p:blipFill>
        <p:spPr>
          <a:xfrm>
            <a:off x="6201621" y="2124497"/>
            <a:ext cx="254000" cy="254000"/>
          </a:xfrm>
          <a:prstGeom prst="rect">
            <a:avLst/>
          </a:prstGeom>
        </p:spPr>
      </p:pic>
      <p:sp>
        <p:nvSpPr>
          <p:cNvPr id="7" name="Text 4"/>
          <p:cNvSpPr/>
          <p:nvPr/>
        </p:nvSpPr>
        <p:spPr>
          <a:xfrm>
            <a:off x="1052618" y="2429297"/>
            <a:ext cx="556509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PBKDF2-HMAC-SHA-256, 600.000 επαναλήψεις και τυχαίο salt για κάθε λογαριασμό.</a:t>
            </a:r>
            <a:endParaRPr lang="en-US" sz="1500" dirty="0"/>
          </a:p>
        </p:txBody>
      </p:sp>
      <p:sp>
        <p:nvSpPr>
          <p:cNvPr id="8" name="Shape 5"/>
          <p:cNvSpPr/>
          <p:nvPr/>
        </p:nvSpPr>
        <p:spPr>
          <a:xfrm>
            <a:off x="819150" y="3266015"/>
            <a:ext cx="5869940" cy="1184487"/>
          </a:xfrm>
          <a:prstGeom prst="roundRect">
            <a:avLst>
              <a:gd name="adj" fmla="val 10186"/>
            </a:avLst>
          </a:prstGeom>
          <a:solidFill>
            <a:srgbClr val="FBF9F4"/>
          </a:solidFill>
          <a:ln w="12700">
            <a:solidFill>
              <a:srgbClr val="D9D3C4"/>
            </a:solidFill>
            <a:prstDash val="solid"/>
          </a:ln>
        </p:spPr>
      </p:sp>
      <p:sp>
        <p:nvSpPr>
          <p:cNvPr id="9" name="Text 6"/>
          <p:cNvSpPr/>
          <p:nvPr/>
        </p:nvSpPr>
        <p:spPr>
          <a:xfrm>
            <a:off x="1052618" y="3469004"/>
            <a:ext cx="1207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Στον Worker</a:t>
            </a:r>
            <a:endParaRPr lang="en-US" sz="1200" dirty="0"/>
          </a:p>
        </p:txBody>
      </p:sp>
      <p:pic>
        <p:nvPicPr>
          <p:cNvPr id="10" name="Image 1" descr="Lightning">    </p:cNvPr>
          <p:cNvPicPr>
            <a:picLocks noChangeAspect="1"/>
          </p:cNvPicPr>
          <p:nvPr/>
        </p:nvPicPr>
        <p:blipFill>
          <a:blip r:embed="rId2"/>
          <a:srcRect l="0" r="0" t="0" b="0"/>
          <a:stretch/>
        </p:blipFill>
        <p:spPr>
          <a:xfrm>
            <a:off x="6201621" y="3448683"/>
            <a:ext cx="254000" cy="254000"/>
          </a:xfrm>
          <a:prstGeom prst="rect">
            <a:avLst/>
          </a:prstGeom>
        </p:spPr>
      </p:pic>
      <p:sp>
        <p:nvSpPr>
          <p:cNvPr id="11" name="Text 7"/>
          <p:cNvSpPr/>
          <p:nvPr/>
        </p:nvSpPr>
        <p:spPr>
          <a:xfrm>
            <a:off x="1052618" y="3753483"/>
            <a:ext cx="556509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Μόνο ένας HMAC verifier με μυστικό pepper. Το παραγόμενο credential δεν αποθηκεύεται ούτε καταγράφεται ποτέ.</a:t>
            </a:r>
            <a:endParaRPr lang="en-US" sz="1500" dirty="0"/>
          </a:p>
        </p:txBody>
      </p:sp>
      <p:sp>
        <p:nvSpPr>
          <p:cNvPr id="12" name="Shape 8"/>
          <p:cNvSpPr/>
          <p:nvPr/>
        </p:nvSpPr>
        <p:spPr>
          <a:xfrm>
            <a:off x="819150" y="4590200"/>
            <a:ext cx="5869940" cy="927312"/>
          </a:xfrm>
          <a:prstGeom prst="roundRect">
            <a:avLst>
              <a:gd name="adj" fmla="val 13011"/>
            </a:avLst>
          </a:prstGeom>
          <a:solidFill>
            <a:srgbClr val="FBF9F4"/>
          </a:solidFill>
          <a:ln w="12700">
            <a:solidFill>
              <a:srgbClr val="D9D3C4"/>
            </a:solidFill>
            <a:prstDash val="solid"/>
          </a:ln>
        </p:spPr>
      </p:sp>
      <p:sp>
        <p:nvSpPr>
          <p:cNvPr id="13" name="Text 9"/>
          <p:cNvSpPr/>
          <p:nvPr/>
        </p:nvSpPr>
        <p:spPr>
          <a:xfrm>
            <a:off x="1052618" y="4793190"/>
            <a:ext cx="8778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7C70"/>
                </a:solidFill>
                <a:latin typeface="JetBrains Mono" pitchFamily="49" charset="0"/>
                <a:ea typeface="JetBrains Mono" pitchFamily="49" charset="-122"/>
                <a:cs typeface="JetBrains Mono" pitchFamily="49" charset="-120"/>
              </a:rPr>
              <a:t>Συνεδρία</a:t>
            </a:r>
            <a:endParaRPr lang="en-US" sz="1200" dirty="0"/>
          </a:p>
        </p:txBody>
      </p:sp>
      <p:pic>
        <p:nvPicPr>
          <p:cNvPr id="14" name="Image 2" descr="Key">    </p:cNvPr>
          <p:cNvPicPr>
            <a:picLocks noChangeAspect="1"/>
          </p:cNvPicPr>
          <p:nvPr/>
        </p:nvPicPr>
        <p:blipFill>
          <a:blip r:embed="rId3"/>
          <a:srcRect l="0" r="0" t="0" b="0"/>
          <a:stretch/>
        </p:blipFill>
        <p:spPr>
          <a:xfrm>
            <a:off x="6201621" y="4772875"/>
            <a:ext cx="254000" cy="254000"/>
          </a:xfrm>
          <a:prstGeom prst="rect">
            <a:avLst/>
          </a:prstGeom>
        </p:spPr>
      </p:pic>
      <p:sp>
        <p:nvSpPr>
          <p:cNvPr id="15" name="Text 10"/>
          <p:cNvSpPr/>
          <p:nvPr/>
        </p:nvSpPr>
        <p:spPr>
          <a:xfrm>
            <a:off x="1052618" y="5077675"/>
            <a:ext cx="556509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2202C"/>
                </a:solidFill>
                <a:latin typeface="IBM Plex Sans" pitchFamily="34" charset="0"/>
                <a:ea typeface="IBM Plex Sans" pitchFamily="34" charset="-122"/>
                <a:cs typeface="IBM Plex Sans" pitchFamily="34" charset="-120"/>
              </a:rPr>
              <a:t>JWT (jose) σε HttpOnly cookie, με λήξη μετά από 24 ώρες.</a:t>
            </a:r>
            <a:endParaRPr lang="en-US" sz="1500" dirty="0"/>
          </a:p>
        </p:txBody>
      </p:sp>
      <p:sp>
        <p:nvSpPr>
          <p:cNvPr id="16" name="Shape 11"/>
          <p:cNvSpPr/>
          <p:nvPr/>
        </p:nvSpPr>
        <p:spPr>
          <a:xfrm>
            <a:off x="6898640" y="1935479"/>
            <a:ext cx="4480560" cy="3588385"/>
          </a:xfrm>
          <a:prstGeom prst="roundRect">
            <a:avLst>
              <a:gd name="adj" fmla="val 3539"/>
            </a:avLst>
          </a:prstGeom>
          <a:solidFill>
            <a:srgbClr val="12202C"/>
          </a:solidFill>
          <a:ln/>
        </p:spPr>
      </p:sp>
      <p:sp>
        <p:nvSpPr>
          <p:cNvPr id="17" name="Text 12"/>
          <p:cNvSpPr/>
          <p:nvPr/>
        </p:nvSpPr>
        <p:spPr>
          <a:xfrm>
            <a:off x="7178040" y="2214879"/>
            <a:ext cx="403941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Το σκεπτικό</a:t>
            </a:r>
            <a:endParaRPr lang="en-US" sz="1200" dirty="0"/>
          </a:p>
        </p:txBody>
      </p:sp>
      <p:sp>
        <p:nvSpPr>
          <p:cNvPr id="18" name="Text 13"/>
          <p:cNvSpPr/>
          <p:nvPr/>
        </p:nvSpPr>
        <p:spPr>
          <a:xfrm>
            <a:off x="7178040" y="2792413"/>
            <a:ext cx="4039413" cy="13665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4F1EA"/>
                </a:solidFill>
                <a:latin typeface="Manrope" pitchFamily="34" charset="0"/>
                <a:ea typeface="Manrope" pitchFamily="34" charset="-122"/>
                <a:cs typeface="Manrope" pitchFamily="34" charset="-120"/>
              </a:rPr>
              <a:t>Το bcrypt ξεπέρασε το όριο CPU του Worker, οπότε η δουλειά πέρασε στον browser.</a:t>
            </a:r>
            <a:endParaRPr lang="en-US" sz="2200" dirty="0"/>
          </a:p>
        </p:txBody>
      </p:sp>
      <p:sp>
        <p:nvSpPr>
          <p:cNvPr id="19" name="Text 14"/>
          <p:cNvSpPr/>
          <p:nvPr/>
        </p:nvSpPr>
        <p:spPr>
          <a:xfrm>
            <a:off x="7178040" y="4497704"/>
            <a:ext cx="403941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Το work factor μόνο ανεβαίνει, με νέο kdf_version. Δεν χαμηλώνει ποτέ για να χωρέσει σε κάποιο όριο.</a:t>
            </a:r>
            <a:endParaRPr lang="en-US" sz="1400" dirty="0"/>
          </a:p>
        </p:txBody>
      </p:sp>
      <p:sp>
        <p:nvSpPr>
          <p:cNvPr id="20"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Hangman: Rescue Mission</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9 / 15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2B544"/>
                </a:solidFill>
                <a:latin typeface="JetBrains Mono" pitchFamily="49" charset="0"/>
                <a:ea typeface="JetBrains Mono" pitchFamily="49" charset="-122"/>
                <a:cs typeface="JetBrains Mono" pitchFamily="49" charset="-120"/>
              </a:rPr>
              <a:t>09 · Τίμιο σκορ</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Ένας πίνακας που δηλώνει τα όριά του</a:t>
            </a:r>
            <a:endParaRPr lang="en-US" sz="3600" dirty="0"/>
          </a:p>
        </p:txBody>
      </p:sp>
      <p:sp>
        <p:nvSpPr>
          <p:cNvPr id="4" name="Shape 2"/>
          <p:cNvSpPr/>
          <p:nvPr/>
        </p:nvSpPr>
        <p:spPr>
          <a:xfrm>
            <a:off x="819150" y="1941829"/>
            <a:ext cx="3373967" cy="2478617"/>
          </a:xfrm>
          <a:prstGeom prst="roundRect">
            <a:avLst>
              <a:gd name="adj" fmla="val 4868"/>
            </a:avLst>
          </a:prstGeom>
          <a:solidFill>
            <a:srgbClr val="172A3B"/>
          </a:solidFill>
          <a:ln w="12700">
            <a:solidFill>
              <a:srgbClr val="28425A"/>
            </a:solidFill>
            <a:prstDash val="solid"/>
          </a:ln>
        </p:spPr>
      </p:sp>
      <p:sp>
        <p:nvSpPr>
          <p:cNvPr id="5" name="Text 3"/>
          <p:cNvSpPr/>
          <p:nvPr/>
        </p:nvSpPr>
        <p:spPr>
          <a:xfrm>
            <a:off x="1052618"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Ticket</a:t>
            </a:r>
            <a:endParaRPr lang="en-US" sz="1200" dirty="0"/>
          </a:p>
        </p:txBody>
      </p:sp>
      <p:pic>
        <p:nvPicPr>
          <p:cNvPr id="6" name="Image 0" descr="Key">    </p:cNvPr>
          <p:cNvPicPr>
            <a:picLocks noChangeAspect="1"/>
          </p:cNvPicPr>
          <p:nvPr/>
        </p:nvPicPr>
        <p:blipFill>
          <a:blip r:embed="rId1"/>
          <a:srcRect l="0" r="0" t="0" b="0"/>
          <a:stretch/>
        </p:blipFill>
        <p:spPr>
          <a:xfrm>
            <a:off x="3705648" y="2175297"/>
            <a:ext cx="254000" cy="254000"/>
          </a:xfrm>
          <a:prstGeom prst="rect">
            <a:avLst/>
          </a:prstGeom>
        </p:spPr>
      </p:pic>
      <p:sp>
        <p:nvSpPr>
          <p:cNvPr id="7" name="Text 4"/>
          <p:cNvSpPr/>
          <p:nvPr/>
        </p:nvSpPr>
        <p:spPr>
          <a:xfrm>
            <a:off x="1052618" y="2518197"/>
            <a:ext cx="299424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Ο διακομιστής διαλέγει τη λέξη</a:t>
            </a:r>
            <a:endParaRPr lang="en-US" sz="2000" dirty="0"/>
          </a:p>
        </p:txBody>
      </p:sp>
      <p:sp>
        <p:nvSpPr>
          <p:cNvPr id="8" name="Text 5"/>
          <p:cNvSpPr/>
          <p:nvPr/>
        </p:nvSpPr>
        <p:spPr>
          <a:xfrm>
            <a:off x="1052618" y="31912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Ο Worker εκδίδει ένα ticket γύρου δεμένο με τον λογαριασμό. Το παιχνίδι τρέχει τοπικά.</a:t>
            </a:r>
            <a:endParaRPr lang="en-US" sz="1400" dirty="0"/>
          </a:p>
        </p:txBody>
      </p:sp>
      <p:sp>
        <p:nvSpPr>
          <p:cNvPr id="9" name="Shape 6"/>
          <p:cNvSpPr/>
          <p:nvPr/>
        </p:nvSpPr>
        <p:spPr>
          <a:xfrm>
            <a:off x="4409017" y="1941829"/>
            <a:ext cx="3373967" cy="2478617"/>
          </a:xfrm>
          <a:prstGeom prst="roundRect">
            <a:avLst>
              <a:gd name="adj" fmla="val 4868"/>
            </a:avLst>
          </a:prstGeom>
          <a:solidFill>
            <a:srgbClr val="172A3B"/>
          </a:solidFill>
          <a:ln w="12700">
            <a:solidFill>
              <a:srgbClr val="28425A"/>
            </a:solidFill>
            <a:prstDash val="solid"/>
          </a:ln>
        </p:spPr>
      </p:sp>
      <p:sp>
        <p:nvSpPr>
          <p:cNvPr id="10" name="Text 7"/>
          <p:cNvSpPr/>
          <p:nvPr/>
        </p:nvSpPr>
        <p:spPr>
          <a:xfrm>
            <a:off x="4642485" y="2195618"/>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Αίτημα</a:t>
            </a:r>
            <a:endParaRPr lang="en-US" sz="1200" dirty="0"/>
          </a:p>
        </p:txBody>
      </p:sp>
      <p:pic>
        <p:nvPicPr>
          <p:cNvPr id="11" name="Image 1" descr="CheckCircle">    </p:cNvPr>
          <p:cNvPicPr>
            <a:picLocks noChangeAspect="1"/>
          </p:cNvPicPr>
          <p:nvPr/>
        </p:nvPicPr>
        <p:blipFill>
          <a:blip r:embed="rId2"/>
          <a:srcRect l="0" r="0" t="0" b="0"/>
          <a:stretch/>
        </p:blipFill>
        <p:spPr>
          <a:xfrm>
            <a:off x="7295515" y="2175297"/>
            <a:ext cx="254000" cy="254000"/>
          </a:xfrm>
          <a:prstGeom prst="rect">
            <a:avLst/>
          </a:prstGeom>
        </p:spPr>
      </p:pic>
      <p:sp>
        <p:nvSpPr>
          <p:cNvPr id="12" name="Text 8"/>
          <p:cNvSpPr/>
          <p:nvPr/>
        </p:nvSpPr>
        <p:spPr>
          <a:xfrm>
            <a:off x="4642485" y="2518197"/>
            <a:ext cx="299424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Επαλήθευση και βράβευση</a:t>
            </a:r>
            <a:endParaRPr lang="en-US" sz="2000" dirty="0"/>
          </a:p>
        </p:txBody>
      </p:sp>
      <p:sp>
        <p:nvSpPr>
          <p:cNvPr id="13" name="Text 9"/>
          <p:cNvSpPr/>
          <p:nvPr/>
        </p:nvSpPr>
        <p:spPr>
          <a:xfrm>
            <a:off x="4642485" y="3191297"/>
            <a:ext cx="299424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Η νίκη στέλνει τις κινήσεις. Ο Worker τις ξαναπαίζει και δίνει 100 πόντους μία φορά.</a:t>
            </a:r>
            <a:endParaRPr lang="en-US" sz="1400" dirty="0"/>
          </a:p>
        </p:txBody>
      </p:sp>
      <p:sp>
        <p:nvSpPr>
          <p:cNvPr id="14" name="Shape 10"/>
          <p:cNvSpPr/>
          <p:nvPr/>
        </p:nvSpPr>
        <p:spPr>
          <a:xfrm>
            <a:off x="7998883" y="1941829"/>
            <a:ext cx="3373967" cy="2478617"/>
          </a:xfrm>
          <a:prstGeom prst="roundRect">
            <a:avLst>
              <a:gd name="adj" fmla="val 4868"/>
            </a:avLst>
          </a:prstGeom>
          <a:solidFill>
            <a:srgbClr val="172A3B"/>
          </a:solidFill>
          <a:ln w="12700">
            <a:solidFill>
              <a:srgbClr val="28425A"/>
            </a:solidFill>
            <a:prstDash val="solid"/>
          </a:ln>
        </p:spPr>
      </p:sp>
      <p:sp>
        <p:nvSpPr>
          <p:cNvPr id="15" name="Text 11"/>
          <p:cNvSpPr/>
          <p:nvPr/>
        </p:nvSpPr>
        <p:spPr>
          <a:xfrm>
            <a:off x="8232352" y="2195618"/>
            <a:ext cx="4389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Όριο</a:t>
            </a:r>
            <a:endParaRPr lang="en-US" sz="1200" dirty="0"/>
          </a:p>
        </p:txBody>
      </p:sp>
      <p:pic>
        <p:nvPicPr>
          <p:cNvPr id="16" name="Image 2" descr="Clock">    </p:cNvPr>
          <p:cNvPicPr>
            <a:picLocks noChangeAspect="1"/>
          </p:cNvPicPr>
          <p:nvPr/>
        </p:nvPicPr>
        <p:blipFill>
          <a:blip r:embed="rId3"/>
          <a:srcRect l="0" r="0" t="0" b="0"/>
          <a:stretch/>
        </p:blipFill>
        <p:spPr>
          <a:xfrm>
            <a:off x="10885382" y="2175297"/>
            <a:ext cx="254000" cy="254000"/>
          </a:xfrm>
          <a:prstGeom prst="rect">
            <a:avLst/>
          </a:prstGeom>
        </p:spPr>
      </p:pic>
      <p:sp>
        <p:nvSpPr>
          <p:cNvPr id="17" name="Text 12"/>
          <p:cNvSpPr/>
          <p:nvPr/>
        </p:nvSpPr>
        <p:spPr>
          <a:xfrm>
            <a:off x="8232352" y="2518197"/>
            <a:ext cx="299424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Ελάχιστο πέντε δευτερολέπτων</a:t>
            </a:r>
            <a:endParaRPr lang="en-US" sz="2000" dirty="0"/>
          </a:p>
        </p:txBody>
      </p:sp>
      <p:sp>
        <p:nvSpPr>
          <p:cNvPr id="18" name="Text 13"/>
          <p:cNvSpPr/>
          <p:nvPr/>
        </p:nvSpPr>
        <p:spPr>
          <a:xfrm>
            <a:off x="8232352" y="3191297"/>
            <a:ext cx="299424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Κανένα αίτημα δεν γίνεται δεκτό νωρίτερα, άρα κάθε λογαριασμός φτάνει το πολύ τις 12 βραβεύσεις το λεπτό.</a:t>
            </a:r>
            <a:endParaRPr lang="en-US" sz="1400" dirty="0"/>
          </a:p>
        </p:txBody>
      </p:sp>
      <p:sp>
        <p:nvSpPr>
          <p:cNvPr id="19" name="Text 14"/>
          <p:cNvSpPr/>
          <p:nvPr/>
        </p:nvSpPr>
        <p:spPr>
          <a:xfrm>
            <a:off x="812800" y="4731600"/>
            <a:ext cx="10566400" cy="1092200"/>
          </a:xfrm>
          <a:prstGeom prst="roundRect">
            <a:avLst>
              <a:gd name="adj" fmla="val 11628"/>
            </a:avLst>
          </a:prstGeom>
          <a:solidFill>
            <a:srgbClr val="F2B544"/>
          </a:solidFill>
          <a:ln/>
        </p:spPr>
        <p:txBody>
          <a:bodyPr wrap="square" lIns="242203" tIns="191403" rIns="0" bIns="166003" rtlCol="0" anchor="t">
            <a:normAutofit/>
          </a:bodyPr>
          <a:lstStyle/>
          <a:p>
            <a:pPr algn="l" indent="0" marL="0">
              <a:lnSpc>
                <a:spcPts val="2500"/>
              </a:lnSpc>
              <a:buNone/>
            </a:pPr>
            <a:r>
              <a:rPr lang="en-US" sz="2000" b="1" dirty="0">
                <a:solidFill>
                  <a:srgbClr val="12202C"/>
                </a:solidFill>
                <a:latin typeface="Manrope" pitchFamily="34" charset="0"/>
                <a:ea typeface="Manrope" pitchFamily="34" charset="-122"/>
                <a:cs typeface="Manrope" pitchFamily="34" charset="-120"/>
              </a:rPr>
              <a:t>Οι απαντήσεις είναι εσκεμμένα δημόσιες, άρα ένα έγκυρο σκορ δεν αποδεικνύει τίμιο παιχνίδι. Το Hall of Fame δεν είναι αξιόπιστη κατάταξη.</a:t>
            </a:r>
            <a:endParaRPr lang="en-US" sz="2000" dirty="0"/>
          </a:p>
        </p:txBody>
      </p:sp>
      <p:sp>
        <p:nvSpPr>
          <p:cNvPr id="20" name="Text 15"/>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1"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10 / 15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10 · Illucia, το αντίστροφο παιχνίδι</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Η μέτρηση διέψευσε μια παραδοχή</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18" y="1895897"/>
          <a:ext cx="10555182" cy="1233805"/>
        </p:xfrm>
        <a:graphic>
          <a:graphicData uri="http://schemas.openxmlformats.org/drawingml/2006/table">
            <a:tbl>
              <a:tblPr/>
              <a:tblGrid>
                <a:gridCol w="4855384"/>
                <a:gridCol w="1899933"/>
                <a:gridCol w="1899933"/>
                <a:gridCol w="1899933"/>
              </a:tblGrid>
              <a:tr h="411268">
                <a:tc>
                  <a:txBody>
                    <a:bodyPr/>
                    <a:lstStyle/>
                    <a:p>
                      <a:pP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Ποσοστό νικών σε συχνές λέξεις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Apprentice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Scholar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algn="r" indent="0" marL="0">
                        <a:lnSpc>
                          <a:spcPts val="2100"/>
                        </a:lnSpc>
                        <a:buNone/>
                      </a:pPr>
                      <a:r>
                        <a:rPr lang="en-US" sz="1500" b="1" dirty="0">
                          <a:solidFill>
                            <a:srgbClr val="12202C"/>
                          </a:solidFill>
                          <a:latin typeface="IBM Plex Sans" pitchFamily="34" charset="0"/>
                          <a:ea typeface="IBM Plex Sans" pitchFamily="34" charset="-122"/>
                          <a:cs typeface="IBM Plex Sans" pitchFamily="34" charset="-120"/>
                        </a:rPr>
                        <a:t>Master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411268">
                <a:tc>
                  <a:txBody>
                    <a:bodyPr/>
                    <a:lstStyle/>
                    <a:p>
                      <a:pP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Πριν: 4 γράμματα, χωρίς στάθμιση</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56%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46%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42%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411268">
                <a:tc>
                  <a:txBody>
                    <a:bodyPr/>
                    <a:lstStyle/>
                    <a:p>
                      <a:pP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Μετά: 4 έως 6 γράμματα, με στάθμιση</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algn="r" indent="0" marL="0">
                        <a:lnSpc>
                          <a:spcPts val="2100"/>
                        </a:lnSpc>
                        <a:buNone/>
                      </a:pPr>
                      <a:r>
                        <a:rPr lang="en-US" sz="1500" dirty="0">
                          <a:solidFill>
                            <a:srgbClr val="12202C"/>
                          </a:solidFill>
                          <a:latin typeface="IBM Plex Sans" pitchFamily="34" charset="0"/>
                          <a:ea typeface="IBM Plex Sans" pitchFamily="34" charset="-122"/>
                          <a:cs typeface="IBM Plex Sans" pitchFamily="34" charset="-120"/>
                        </a:rPr>
                        <a:t>72,5%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Shape 2"/>
          <p:cNvSpPr/>
          <p:nvPr/>
        </p:nvSpPr>
        <p:spPr>
          <a:xfrm>
            <a:off x="819150" y="3390050"/>
            <a:ext cx="5180118" cy="1728470"/>
          </a:xfrm>
          <a:prstGeom prst="roundRect">
            <a:avLst>
              <a:gd name="adj" fmla="val 6980"/>
            </a:avLst>
          </a:prstGeom>
          <a:solidFill>
            <a:srgbClr val="FBF9F4"/>
          </a:solidFill>
          <a:ln w="12700">
            <a:solidFill>
              <a:srgbClr val="D9D3C4"/>
            </a:solidFill>
            <a:prstDash val="solid"/>
          </a:ln>
        </p:spPr>
      </p:sp>
      <p:sp>
        <p:nvSpPr>
          <p:cNvPr id="6" name="Text 3"/>
          <p:cNvSpPr/>
          <p:nvPr/>
        </p:nvSpPr>
        <p:spPr>
          <a:xfrm>
            <a:off x="1052618" y="3598125"/>
            <a:ext cx="4854577"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2202C"/>
                </a:solidFill>
                <a:latin typeface="Manrope" pitchFamily="34" charset="0"/>
                <a:ea typeface="Manrope" pitchFamily="34" charset="-122"/>
                <a:cs typeface="Manrope" pitchFamily="34" charset="-120"/>
              </a:rPr>
              <a:t>Τι βρήκα</a:t>
            </a:r>
            <a:endParaRPr lang="en-US" sz="1800" dirty="0"/>
          </a:p>
        </p:txBody>
      </p:sp>
      <p:sp>
        <p:nvSpPr>
          <p:cNvPr id="7" name="Text 4"/>
          <p:cNvSpPr/>
          <p:nvPr/>
        </p:nvSpPr>
        <p:spPr>
          <a:xfrm>
            <a:off x="1052618" y="3937211"/>
            <a:ext cx="485457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C59"/>
                </a:solidFill>
                <a:latin typeface="IBM Plex Sans" pitchFamily="34" charset="0"/>
                <a:ea typeface="IBM Plex Sans" pitchFamily="34" charset="-122"/>
                <a:cs typeface="IBM Plex Sans" pitchFamily="34" charset="-120"/>
              </a:rPr>
              <a:t>Ένα μεγαλύτερο λεξιλόγιο έχει περισσότερες παρόμοιες σύντομες λέξεις, γι αυτό τα πιο «έξυπνα» επίπεδα έπαιζαν χειρότερα σε συχνές λέξεις.</a:t>
            </a:r>
            <a:endParaRPr lang="en-US" sz="1400" dirty="0"/>
          </a:p>
        </p:txBody>
      </p:sp>
      <p:sp>
        <p:nvSpPr>
          <p:cNvPr id="8" name="Shape 5"/>
          <p:cNvSpPr/>
          <p:nvPr/>
        </p:nvSpPr>
        <p:spPr>
          <a:xfrm>
            <a:off x="6208818" y="3383700"/>
            <a:ext cx="5170382" cy="1741170"/>
          </a:xfrm>
          <a:prstGeom prst="roundRect">
            <a:avLst>
              <a:gd name="adj" fmla="val 7294"/>
            </a:avLst>
          </a:prstGeom>
          <a:solidFill>
            <a:srgbClr val="12202C"/>
          </a:solidFill>
          <a:ln/>
        </p:spPr>
      </p:sp>
      <p:sp>
        <p:nvSpPr>
          <p:cNvPr id="9" name="Text 6"/>
          <p:cNvSpPr/>
          <p:nvPr/>
        </p:nvSpPr>
        <p:spPr>
          <a:xfrm>
            <a:off x="6437418" y="3586900"/>
            <a:ext cx="4854577" cy="28829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2B544"/>
                </a:solidFill>
                <a:latin typeface="Manrope" pitchFamily="34" charset="0"/>
                <a:ea typeface="Manrope" pitchFamily="34" charset="-122"/>
                <a:cs typeface="Manrope" pitchFamily="34" charset="-120"/>
              </a:rPr>
              <a:t>Τι άλλαξα</a:t>
            </a:r>
            <a:endParaRPr lang="en-US" sz="1800" dirty="0"/>
          </a:p>
        </p:txBody>
      </p:sp>
      <p:sp>
        <p:nvSpPr>
          <p:cNvPr id="10" name="Text 7"/>
          <p:cNvSpPr/>
          <p:nvPr/>
        </p:nvSpPr>
        <p:spPr>
          <a:xfrm>
            <a:off x="6437418" y="3925993"/>
            <a:ext cx="485457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4E8EB"/>
                </a:solidFill>
                <a:latin typeface="IBM Plex Sans" pitchFamily="34" charset="0"/>
                <a:ea typeface="IBM Plex Sans" pitchFamily="34" charset="-122"/>
                <a:cs typeface="IBM Plex Sans" pitchFamily="34" charset="-120"/>
              </a:rPr>
              <a:t>Οι υποψήφιες λέξεις σταθμίζονται με βάση τη συχνότητα χρήσης τους. Ένας έλεγχος (gate) επιβεβαιώνει πλέον τη σειρά των επιπέδων: 0 από 171 συγκρίσεις αποτυγχάνουν.</a:t>
            </a:r>
            <a:endParaRPr lang="en-US" sz="1400" dirty="0"/>
          </a:p>
        </p:txBody>
      </p:sp>
      <p:sp>
        <p:nvSpPr>
          <p:cNvPr id="11" name="Text 8"/>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Δύο διαφορετικά σύνολα λέξεων: διαβάστε τις γραμμές ως τάση. Κόστος: λιγότερες νίκες σε σπάνιες λέξεις.</a:t>
            </a:r>
            <a:endParaRPr lang="en-US" sz="1200" dirty="0"/>
          </a:p>
        </p:txBody>
      </p:sp>
      <p:sp>
        <p:nvSpPr>
          <p:cNvPr id="12"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11 / 15</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0293"/>
          </a:xfrm>
          <a:prstGeom prst="rect">
            <a:avLst/>
          </a:prstGeom>
          <a:noFill/>
          <a:ln/>
        </p:spPr>
        <p:txBody>
          <a:bodyPr wrap="square" lIns="0" tIns="0" rIns="0" bIns="0" rtlCol="0" anchor="t">
            <a:normAutofit/>
          </a:bodyPr>
          <a:lstStyle/>
          <a:p>
            <a:pPr algn="l" indent="0" marL="0">
              <a:lnSpc>
                <a:spcPts val="1622"/>
              </a:lnSpc>
              <a:buNone/>
            </a:pPr>
            <a:r>
              <a:rPr lang="en-US" sz="1159" spc="50" kern="0" dirty="0">
                <a:solidFill>
                  <a:srgbClr val="F2B544"/>
                </a:solidFill>
                <a:latin typeface="JetBrains Mono" pitchFamily="49" charset="0"/>
                <a:ea typeface="JetBrains Mono" pitchFamily="49" charset="-122"/>
                <a:cs typeface="JetBrains Mono" pitchFamily="49" charset="-120"/>
              </a:rPr>
              <a:t>11 · Η σκέψη της</a:t>
            </a:r>
            <a:endParaRPr lang="en-US" sz="1159" dirty="0"/>
          </a:p>
        </p:txBody>
      </p:sp>
      <p:sp>
        <p:nvSpPr>
          <p:cNvPr id="3" name="Text 1"/>
          <p:cNvSpPr/>
          <p:nvPr>
            <p:ph type="title"/>
          </p:nvPr>
        </p:nvSpPr>
        <p:spPr>
          <a:xfrm>
            <a:off x="812800" y="1119293"/>
            <a:ext cx="10883392" cy="508318"/>
          </a:xfrm>
          <a:prstGeom prst="rect">
            <a:avLst/>
          </a:prstGeom>
          <a:noFill/>
          <a:ln/>
        </p:spPr>
        <p:txBody>
          <a:bodyPr wrap="square" lIns="0" tIns="0" rIns="0" bIns="0" rtlCol="0" anchor="t">
            <a:normAutofit/>
          </a:bodyPr>
          <a:lstStyle/>
          <a:p>
            <a:pPr algn="l" indent="0" marL="0">
              <a:lnSpc>
                <a:spcPts val="3824"/>
              </a:lnSpc>
              <a:buNone/>
            </a:pPr>
            <a:r>
              <a:rPr lang="en-US" sz="3476" b="1" i="0" dirty="0">
                <a:solidFill>
                  <a:srgbClr val="F4F1EA"/>
                </a:solidFill>
                <a:latin typeface="Manrope" pitchFamily="34" charset="0"/>
                <a:ea typeface="Manrope" pitchFamily="34" charset="-122"/>
                <a:cs typeface="Manrope" pitchFamily="34" charset="-120"/>
              </a:rPr>
              <a:t>Εξηγεί κάθε κίνησή της, και λέει αλήθεια</a:t>
            </a:r>
            <a:endParaRPr lang="en-US" sz="3476" dirty="0"/>
          </a:p>
        </p:txBody>
      </p:sp>
      <p:pic>
        <p:nvPicPr>
          <p:cNvPr id="4" name="Image 0" descr="Το Observatory της Illucia στη μέση μιας μονομαχίας: το ρομπότ δίπλα στο σημειωματάριό της, ένα ραβδωτό γράφημα με τη βαθμολογία κάθε γράμματος και το N τονισμένο, η γραμμή σκέψης της και οι πέντε λέξεις που μένουν πιθανές: burden, garden, harden, hordes, warden.">    </p:cNvPr>
          <p:cNvPicPr>
            <a:picLocks noChangeAspect="1"/>
          </p:cNvPicPr>
          <p:nvPr/>
        </p:nvPicPr>
        <p:blipFill>
          <a:blip r:embed="rId1"/>
          <a:srcRect l="0" r="0" t="232" b="232"/>
          <a:stretch/>
        </p:blipFill>
        <p:spPr>
          <a:xfrm>
            <a:off x="825500" y="1919709"/>
            <a:ext cx="6959600" cy="3403600"/>
          </a:xfrm>
          <a:prstGeom prst="roundRect">
            <a:avLst>
              <a:gd name="adj" fmla="val 2612"/>
            </a:avLst>
          </a:prstGeom>
        </p:spPr>
      </p:pic>
      <p:sp>
        <p:nvSpPr>
          <p:cNvPr id="5" name="Shape 2"/>
          <p:cNvSpPr/>
          <p:nvPr/>
        </p:nvSpPr>
        <p:spPr>
          <a:xfrm>
            <a:off x="819150" y="1913359"/>
            <a:ext cx="6972300" cy="3416300"/>
          </a:xfrm>
          <a:prstGeom prst="roundRect">
            <a:avLst>
              <a:gd name="adj" fmla="val 2788"/>
            </a:avLst>
          </a:prstGeom>
          <a:noFill/>
          <a:ln w="12700">
            <a:solidFill>
              <a:srgbClr val="28425A"/>
            </a:solidFill>
            <a:prstDash val="solid"/>
          </a:ln>
        </p:spPr>
      </p:sp>
      <p:sp>
        <p:nvSpPr>
          <p:cNvPr id="6" name="Text 3"/>
          <p:cNvSpPr/>
          <p:nvPr/>
        </p:nvSpPr>
        <p:spPr>
          <a:xfrm>
            <a:off x="812800" y="5437609"/>
            <a:ext cx="719455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4F1EA"/>
                </a:solidFill>
                <a:latin typeface="IBM Plex Sans" pitchFamily="34" charset="0"/>
                <a:ea typeface="IBM Plex Sans" pitchFamily="34" charset="-122"/>
                <a:cs typeface="IBM Plex Sans" pitchFamily="34" charset="-120"/>
              </a:rPr>
              <a:t>Το Observatory.</a:t>
            </a:r>
            <a:r>
              <a:rPr lang="en-US" sz="1400" dirty="0">
                <a:solidFill>
                  <a:srgbClr val="A9BAC8"/>
                </a:solidFill>
                <a:latin typeface="IBM Plex Sans" pitchFamily="34" charset="0"/>
                <a:ea typeface="IBM Plex Sans" pitchFamily="34" charset="-122"/>
                <a:cs typeface="IBM Plex Sans" pitchFamily="34" charset="-120"/>
              </a:rPr>
              <a:t> Ζωντανή μονομαχία, επίπεδο Apprentice, κίνηση 4.</a:t>
            </a:r>
            <a:endParaRPr lang="en-US" sz="1400" dirty="0"/>
          </a:p>
        </p:txBody>
      </p:sp>
      <p:sp>
        <p:nvSpPr>
          <p:cNvPr id="7" name="Shape 4"/>
          <p:cNvSpPr/>
          <p:nvPr/>
        </p:nvSpPr>
        <p:spPr>
          <a:xfrm>
            <a:off x="8058150" y="1913359"/>
            <a:ext cx="3314700" cy="1526117"/>
          </a:xfrm>
          <a:prstGeom prst="roundRect">
            <a:avLst>
              <a:gd name="adj" fmla="val 7906"/>
            </a:avLst>
          </a:prstGeom>
          <a:solidFill>
            <a:srgbClr val="172A3B"/>
          </a:solidFill>
          <a:ln w="12700">
            <a:solidFill>
              <a:srgbClr val="28425A"/>
            </a:solidFill>
            <a:prstDash val="solid"/>
          </a:ln>
        </p:spPr>
      </p:sp>
      <p:sp>
        <p:nvSpPr>
          <p:cNvPr id="8" name="Text 5"/>
          <p:cNvSpPr/>
          <p:nvPr/>
        </p:nvSpPr>
        <p:spPr>
          <a:xfrm>
            <a:off x="8240818" y="2057927"/>
            <a:ext cx="30378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Το γράφημα</a:t>
            </a:r>
            <a:endParaRPr lang="en-US" sz="1200" dirty="0"/>
          </a:p>
        </p:txBody>
      </p:sp>
      <p:sp>
        <p:nvSpPr>
          <p:cNvPr id="9" name="Text 6"/>
          <p:cNvSpPr/>
          <p:nvPr/>
        </p:nvSpPr>
        <p:spPr>
          <a:xfrm>
            <a:off x="8240818" y="2334791"/>
            <a:ext cx="3037844" cy="9855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4E8EB"/>
                </a:solidFill>
                <a:latin typeface="IBM Plex Sans" pitchFamily="34" charset="0"/>
                <a:ea typeface="IBM Plex Sans" pitchFamily="34" charset="-122"/>
                <a:cs typeface="IBM Plex Sans" pitchFamily="34" charset="-120"/>
              </a:rPr>
              <a:t>Μία μπάρα για κάθε γράμμα. Η βραχεία λίστα της (shortlist) βρίσκεται πάνω από τη διακεκομμένη γραμμή.</a:t>
            </a:r>
            <a:endParaRPr lang="en-US" sz="1400" dirty="0"/>
          </a:p>
        </p:txBody>
      </p:sp>
      <p:sp>
        <p:nvSpPr>
          <p:cNvPr id="10" name="Shape 7"/>
          <p:cNvSpPr/>
          <p:nvPr/>
        </p:nvSpPr>
        <p:spPr>
          <a:xfrm>
            <a:off x="8058150" y="3553780"/>
            <a:ext cx="3314700" cy="1286087"/>
          </a:xfrm>
          <a:prstGeom prst="roundRect">
            <a:avLst>
              <a:gd name="adj" fmla="val 9381"/>
            </a:avLst>
          </a:prstGeom>
          <a:solidFill>
            <a:srgbClr val="172A3B"/>
          </a:solidFill>
          <a:ln w="12700">
            <a:solidFill>
              <a:srgbClr val="28425A"/>
            </a:solidFill>
            <a:prstDash val="solid"/>
          </a:ln>
        </p:spPr>
      </p:sp>
      <p:sp>
        <p:nvSpPr>
          <p:cNvPr id="11" name="Text 8"/>
          <p:cNvSpPr/>
          <p:nvPr/>
        </p:nvSpPr>
        <p:spPr>
          <a:xfrm>
            <a:off x="8240818" y="3698348"/>
            <a:ext cx="30378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Η γραμμή</a:t>
            </a:r>
            <a:endParaRPr lang="en-US" sz="1200" dirty="0"/>
          </a:p>
        </p:txBody>
      </p:sp>
      <p:sp>
        <p:nvSpPr>
          <p:cNvPr id="12" name="Text 9"/>
          <p:cNvSpPr/>
          <p:nvPr/>
        </p:nvSpPr>
        <p:spPr>
          <a:xfrm>
            <a:off x="8240818" y="3975205"/>
            <a:ext cx="3037844"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E4E8EB"/>
                </a:solidFill>
                <a:latin typeface="IBM Plex Sans" pitchFamily="34" charset="0"/>
                <a:ea typeface="IBM Plex Sans" pitchFamily="34" charset="-122"/>
                <a:cs typeface="IBM Plex Sans" pitchFamily="34" charset="-120"/>
              </a:rPr>
              <a:t>Γράφεται από το πραγματικό αρχείο απόφασής της (decision record), όχι από έτοιμο πρότυπο.</a:t>
            </a:r>
            <a:endParaRPr lang="en-US" sz="1400" dirty="0"/>
          </a:p>
        </p:txBody>
      </p:sp>
      <p:sp>
        <p:nvSpPr>
          <p:cNvPr id="13" name="Shape 10"/>
          <p:cNvSpPr/>
          <p:nvPr/>
        </p:nvSpPr>
        <p:spPr>
          <a:xfrm>
            <a:off x="8051800" y="4947816"/>
            <a:ext cx="3327400" cy="1036320"/>
          </a:xfrm>
          <a:prstGeom prst="roundRect">
            <a:avLst>
              <a:gd name="adj" fmla="val 12255"/>
            </a:avLst>
          </a:prstGeom>
          <a:solidFill>
            <a:srgbClr val="F2B544"/>
          </a:solidFill>
          <a:ln/>
        </p:spPr>
      </p:sp>
      <p:sp>
        <p:nvSpPr>
          <p:cNvPr id="14" name="Text 11"/>
          <p:cNvSpPr/>
          <p:nvPr/>
        </p:nvSpPr>
        <p:spPr>
          <a:xfrm>
            <a:off x="8229600" y="5087516"/>
            <a:ext cx="30609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202C"/>
                </a:solidFill>
                <a:latin typeface="JetBrains Mono" pitchFamily="49" charset="0"/>
                <a:ea typeface="JetBrains Mono" pitchFamily="49" charset="-122"/>
                <a:cs typeface="JetBrains Mono" pitchFamily="49" charset="-120"/>
              </a:rPr>
              <a:t>Γιατί</a:t>
            </a:r>
            <a:endParaRPr lang="en-US" sz="1200" dirty="0"/>
          </a:p>
        </p:txBody>
      </p:sp>
      <p:sp>
        <p:nvSpPr>
          <p:cNvPr id="15" name="Text 12"/>
          <p:cNvSpPr/>
          <p:nvPr/>
        </p:nvSpPr>
        <p:spPr>
          <a:xfrm>
            <a:off x="8229600" y="5364373"/>
            <a:ext cx="3060954"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02C"/>
                </a:solidFill>
                <a:latin typeface="IBM Plex Sans" pitchFamily="34" charset="0"/>
                <a:ea typeface="IBM Plex Sans" pitchFamily="34" charset="-122"/>
                <a:cs typeface="IBM Plex Sans" pitchFamily="34" charset="-120"/>
              </a:rPr>
              <a:t>Μια φράση που περιγράφει κάτι που δεν έκανε είναι bug.</a:t>
            </a:r>
            <a:endParaRPr lang="en-US" sz="1400" dirty="0"/>
          </a:p>
        </p:txBody>
      </p:sp>
      <p:sp>
        <p:nvSpPr>
          <p:cNvPr id="16" name="Text 1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Στιγμιότυπο οθόνης από το hangman.spyrostrimis.com/illucia-observatory, Οκτώβριος 2026.</a:t>
            </a:r>
            <a:endParaRPr lang="en-US" sz="1200" dirty="0"/>
          </a:p>
        </p:txBody>
      </p:sp>
      <p:sp>
        <p:nvSpPr>
          <p:cNvPr id="17"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12 / 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2B544"/>
                </a:solidFill>
                <a:latin typeface="JetBrains Mono" pitchFamily="49" charset="0"/>
                <a:ea typeface="JetBrains Mono" pitchFamily="49" charset="-122"/>
                <a:cs typeface="JetBrains Mono" pitchFamily="49" charset="-120"/>
              </a:rPr>
              <a:t>12 · Πώς δουλεύω</a:t>
            </a:r>
            <a:endParaRPr lang="en-US" sz="1200" dirty="0"/>
          </a:p>
        </p:txBody>
      </p:sp>
      <p:sp>
        <p:nvSpPr>
          <p:cNvPr id="3" name="Text 1"/>
          <p:cNvSpPr/>
          <p:nvPr>
            <p:ph type="title"/>
          </p:nvPr>
        </p:nvSpPr>
        <p:spPr>
          <a:xfrm>
            <a:off x="812800" y="112775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Το Chat σχεδιάζει, το Code υλοποιεί,</a:t>
            </a:r>
            <a:endParaRPr lang="en-US" sz="3600" dirty="0"/>
          </a:p>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τα τεστ κρίνουν</a:t>
            </a:r>
            <a:endParaRPr lang="en-US" sz="3600" dirty="0"/>
          </a:p>
        </p:txBody>
      </p:sp>
      <p:sp>
        <p:nvSpPr>
          <p:cNvPr id="4" name="Shape 2"/>
          <p:cNvSpPr/>
          <p:nvPr/>
        </p:nvSpPr>
        <p:spPr>
          <a:xfrm>
            <a:off x="819150" y="2444750"/>
            <a:ext cx="3373967" cy="2186517"/>
          </a:xfrm>
          <a:prstGeom prst="roundRect">
            <a:avLst>
              <a:gd name="adj" fmla="val 5518"/>
            </a:avLst>
          </a:prstGeom>
          <a:solidFill>
            <a:srgbClr val="172A3B"/>
          </a:solidFill>
          <a:ln w="12700">
            <a:solidFill>
              <a:srgbClr val="28425A"/>
            </a:solidFill>
            <a:prstDash val="solid"/>
          </a:ln>
        </p:spPr>
      </p:sp>
      <p:sp>
        <p:nvSpPr>
          <p:cNvPr id="5" name="Text 3"/>
          <p:cNvSpPr/>
          <p:nvPr/>
        </p:nvSpPr>
        <p:spPr>
          <a:xfrm>
            <a:off x="1052618" y="2698539"/>
            <a:ext cx="1097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Σχεδιασμός</a:t>
            </a:r>
            <a:endParaRPr lang="en-US" sz="1200" dirty="0"/>
          </a:p>
        </p:txBody>
      </p:sp>
      <p:pic>
        <p:nvPicPr>
          <p:cNvPr id="6" name="Image 0" descr="Chat">    </p:cNvPr>
          <p:cNvPicPr>
            <a:picLocks noChangeAspect="1"/>
          </p:cNvPicPr>
          <p:nvPr/>
        </p:nvPicPr>
        <p:blipFill>
          <a:blip r:embed="rId1"/>
          <a:srcRect l="0" r="0" t="0" b="0"/>
          <a:stretch/>
        </p:blipFill>
        <p:spPr>
          <a:xfrm>
            <a:off x="3705648" y="2678218"/>
            <a:ext cx="254000" cy="254000"/>
          </a:xfrm>
          <a:prstGeom prst="rect">
            <a:avLst/>
          </a:prstGeom>
        </p:spPr>
      </p:pic>
      <p:sp>
        <p:nvSpPr>
          <p:cNvPr id="7" name="Text 4"/>
          <p:cNvSpPr/>
          <p:nvPr/>
        </p:nvSpPr>
        <p:spPr>
          <a:xfrm>
            <a:off x="1052618" y="3021118"/>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Στο Claude chat</a:t>
            </a:r>
            <a:endParaRPr lang="en-US" sz="2000" dirty="0"/>
          </a:p>
        </p:txBody>
      </p:sp>
      <p:sp>
        <p:nvSpPr>
          <p:cNvPr id="8" name="Text 5"/>
          <p:cNvSpPr/>
          <p:nvPr/>
        </p:nvSpPr>
        <p:spPr>
          <a:xfrm>
            <a:off x="1052618" y="3402118"/>
            <a:ext cx="299424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Ένα Project κρατά τις οδηγίες, ένα ζωντανό state.md και ένα ημερολόγιο ανάπτυξης. Εδώ παίρνονται οι αποφάσεις.</a:t>
            </a:r>
            <a:endParaRPr lang="en-US" sz="1400" dirty="0"/>
          </a:p>
        </p:txBody>
      </p:sp>
      <p:sp>
        <p:nvSpPr>
          <p:cNvPr id="9" name="Shape 6"/>
          <p:cNvSpPr/>
          <p:nvPr/>
        </p:nvSpPr>
        <p:spPr>
          <a:xfrm>
            <a:off x="4409017" y="2444750"/>
            <a:ext cx="3373967" cy="2186517"/>
          </a:xfrm>
          <a:prstGeom prst="roundRect">
            <a:avLst>
              <a:gd name="adj" fmla="val 5518"/>
            </a:avLst>
          </a:prstGeom>
          <a:solidFill>
            <a:srgbClr val="172A3B"/>
          </a:solidFill>
          <a:ln w="12700">
            <a:solidFill>
              <a:srgbClr val="28425A"/>
            </a:solidFill>
            <a:prstDash val="solid"/>
          </a:ln>
        </p:spPr>
      </p:sp>
      <p:sp>
        <p:nvSpPr>
          <p:cNvPr id="10" name="Text 7"/>
          <p:cNvSpPr/>
          <p:nvPr/>
        </p:nvSpPr>
        <p:spPr>
          <a:xfrm>
            <a:off x="4642485" y="2698539"/>
            <a:ext cx="9875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Υλοποίηση</a:t>
            </a:r>
            <a:endParaRPr lang="en-US" sz="1200" dirty="0"/>
          </a:p>
        </p:txBody>
      </p:sp>
      <p:pic>
        <p:nvPicPr>
          <p:cNvPr id="11" name="Image 1" descr="Code">    </p:cNvPr>
          <p:cNvPicPr>
            <a:picLocks noChangeAspect="1"/>
          </p:cNvPicPr>
          <p:nvPr/>
        </p:nvPicPr>
        <p:blipFill>
          <a:blip r:embed="rId2"/>
          <a:srcRect l="0" r="0" t="0" b="0"/>
          <a:stretch/>
        </p:blipFill>
        <p:spPr>
          <a:xfrm>
            <a:off x="7295515" y="2678218"/>
            <a:ext cx="254000" cy="254000"/>
          </a:xfrm>
          <a:prstGeom prst="rect">
            <a:avLst/>
          </a:prstGeom>
        </p:spPr>
      </p:pic>
      <p:sp>
        <p:nvSpPr>
          <p:cNvPr id="12" name="Text 8"/>
          <p:cNvSpPr/>
          <p:nvPr/>
        </p:nvSpPr>
        <p:spPr>
          <a:xfrm>
            <a:off x="4642485" y="3021118"/>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Στο Claude Code</a:t>
            </a:r>
            <a:endParaRPr lang="en-US" sz="2000" dirty="0"/>
          </a:p>
        </p:txBody>
      </p:sp>
      <p:sp>
        <p:nvSpPr>
          <p:cNvPr id="13" name="Text 9"/>
          <p:cNvSpPr/>
          <p:nvPr/>
        </p:nvSpPr>
        <p:spPr>
          <a:xfrm>
            <a:off x="4642485" y="3402118"/>
            <a:ext cx="299424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Ένα στοχευμένο task ανά session. Το CLAUDE.md κρατά τους περιορισμούς και το πρώτο prompt είναι το handoff.</a:t>
            </a:r>
            <a:endParaRPr lang="en-US" sz="1400" dirty="0"/>
          </a:p>
        </p:txBody>
      </p:sp>
      <p:sp>
        <p:nvSpPr>
          <p:cNvPr id="14" name="Shape 10"/>
          <p:cNvSpPr/>
          <p:nvPr/>
        </p:nvSpPr>
        <p:spPr>
          <a:xfrm>
            <a:off x="7998883" y="2444750"/>
            <a:ext cx="3373967" cy="2186517"/>
          </a:xfrm>
          <a:prstGeom prst="roundRect">
            <a:avLst>
              <a:gd name="adj" fmla="val 5518"/>
            </a:avLst>
          </a:prstGeom>
          <a:solidFill>
            <a:srgbClr val="172A3B"/>
          </a:solidFill>
          <a:ln w="12700">
            <a:solidFill>
              <a:srgbClr val="28425A"/>
            </a:solidFill>
            <a:prstDash val="solid"/>
          </a:ln>
        </p:spPr>
      </p:sp>
      <p:sp>
        <p:nvSpPr>
          <p:cNvPr id="15" name="Text 11"/>
          <p:cNvSpPr/>
          <p:nvPr/>
        </p:nvSpPr>
        <p:spPr>
          <a:xfrm>
            <a:off x="8232352" y="2698539"/>
            <a:ext cx="10972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D0C5"/>
                </a:solidFill>
                <a:latin typeface="JetBrains Mono" pitchFamily="49" charset="0"/>
                <a:ea typeface="JetBrains Mono" pitchFamily="49" charset="-122"/>
                <a:cs typeface="JetBrains Mono" pitchFamily="49" charset="-120"/>
              </a:rPr>
              <a:t>Επαλήθευση</a:t>
            </a:r>
            <a:endParaRPr lang="en-US" sz="1200" dirty="0"/>
          </a:p>
        </p:txBody>
      </p:sp>
      <p:pic>
        <p:nvPicPr>
          <p:cNvPr id="16" name="Image 2" descr="CheckCircle">    </p:cNvPr>
          <p:cNvPicPr>
            <a:picLocks noChangeAspect="1"/>
          </p:cNvPicPr>
          <p:nvPr/>
        </p:nvPicPr>
        <p:blipFill>
          <a:blip r:embed="rId3"/>
          <a:srcRect l="0" r="0" t="0" b="0"/>
          <a:stretch/>
        </p:blipFill>
        <p:spPr>
          <a:xfrm>
            <a:off x="10885382" y="2678218"/>
            <a:ext cx="254000" cy="254000"/>
          </a:xfrm>
          <a:prstGeom prst="rect">
            <a:avLst/>
          </a:prstGeom>
        </p:spPr>
      </p:pic>
      <p:sp>
        <p:nvSpPr>
          <p:cNvPr id="17" name="Text 12"/>
          <p:cNvSpPr/>
          <p:nvPr/>
        </p:nvSpPr>
        <p:spPr>
          <a:xfrm>
            <a:off x="8232352" y="3021118"/>
            <a:ext cx="29942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4F1EA"/>
                </a:solidFill>
                <a:latin typeface="Manrope" pitchFamily="34" charset="0"/>
                <a:ea typeface="Manrope" pitchFamily="34" charset="-122"/>
                <a:cs typeface="Manrope" pitchFamily="34" charset="-120"/>
              </a:rPr>
              <a:t>Πριν εμπιστευτώ</a:t>
            </a:r>
            <a:endParaRPr lang="en-US" sz="2000" dirty="0"/>
          </a:p>
        </p:txBody>
      </p:sp>
      <p:sp>
        <p:nvSpPr>
          <p:cNvPr id="18" name="Text 13"/>
          <p:cNvSpPr/>
          <p:nvPr/>
        </p:nvSpPr>
        <p:spPr>
          <a:xfrm>
            <a:off x="8232352" y="3402118"/>
            <a:ext cx="2994241"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AC8"/>
                </a:solidFill>
                <a:latin typeface="IBM Plex Sans" pitchFamily="34" charset="0"/>
                <a:ea typeface="IBM Plex Sans" pitchFamily="34" charset="-122"/>
                <a:cs typeface="IBM Plex Sans" pitchFamily="34" charset="-120"/>
              </a:rPr>
              <a:t>Πραγματικά diffs και πραγματικό αποτέλεσμα τεστ πριν από κάθε commit. Ένα τεστ μετράει μόνο αφού το έχω δει να αποτυγχάνει.</a:t>
            </a:r>
            <a:endParaRPr lang="en-US" sz="1400" dirty="0"/>
          </a:p>
        </p:txBody>
      </p:sp>
      <p:sp>
        <p:nvSpPr>
          <p:cNvPr id="19" name="Shape 14"/>
          <p:cNvSpPr/>
          <p:nvPr/>
        </p:nvSpPr>
        <p:spPr>
          <a:xfrm>
            <a:off x="812800" y="4955115"/>
            <a:ext cx="10566400" cy="0"/>
          </a:xfrm>
          <a:prstGeom prst="line">
            <a:avLst/>
          </a:prstGeom>
          <a:noFill/>
          <a:ln w="25400">
            <a:solidFill>
              <a:srgbClr val="F2B544"/>
            </a:solidFill>
            <a:prstDash val="solid"/>
          </a:ln>
        </p:spPr>
      </p:sp>
      <p:sp>
        <p:nvSpPr>
          <p:cNvPr id="20" name="Text 15"/>
          <p:cNvSpPr/>
          <p:nvPr/>
        </p:nvSpPr>
        <p:spPr>
          <a:xfrm>
            <a:off x="812800" y="511725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4F1EA"/>
                </a:solidFill>
                <a:latin typeface="IBM Plex Sans" pitchFamily="34" charset="0"/>
                <a:ea typeface="IBM Plex Sans" pitchFamily="34" charset="-122"/>
                <a:cs typeface="IBM Plex Sans" pitchFamily="34" charset="-120"/>
              </a:rPr>
              <a:t>Ένα θέμα και ένα commit ανά αλλαγή. Κάθε επιπλέον διόρθωση δηλώνεται ρητά, ποτέ σιωπηλά.</a:t>
            </a:r>
            <a:endParaRPr lang="en-US" sz="1600" dirty="0"/>
          </a:p>
        </p:txBody>
      </p:sp>
      <p:sp>
        <p:nvSpPr>
          <p:cNvPr id="21" name="Text 16"/>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Hangman: Rescue Mission</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13 / 15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0E7C70"/>
                </a:solidFill>
                <a:latin typeface="JetBrains Mono" pitchFamily="49" charset="0"/>
                <a:ea typeface="JetBrains Mono" pitchFamily="49" charset="-122"/>
                <a:cs typeface="JetBrains Mono" pitchFamily="49" charset="-120"/>
              </a:rPr>
              <a:t>13 · Πού βρισκόμαστε</a:t>
            </a:r>
            <a:endParaRPr lang="en-US" sz="1200" dirty="0"/>
          </a:p>
        </p:txBody>
      </p:sp>
      <p:sp>
        <p:nvSpPr>
          <p:cNvPr id="3" name="Text 1"/>
          <p:cNvSpPr/>
          <p:nvPr>
            <p:ph type="title"/>
          </p:nvPr>
        </p:nvSpPr>
        <p:spPr>
          <a:xfrm>
            <a:off x="812800" y="1127758"/>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2202C"/>
                </a:solidFill>
                <a:latin typeface="Manrope" pitchFamily="34" charset="0"/>
                <a:ea typeface="Manrope" pitchFamily="34" charset="-122"/>
                <a:cs typeface="Manrope" pitchFamily="34" charset="-120"/>
              </a:rPr>
              <a:t>Υλοποιημένο, δοκιμασμένο, live: τρεις διαφορετικοί ισχυρισμοί</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18" y="2449618"/>
          <a:ext cx="10555182" cy="3072130"/>
        </p:xfrm>
        <a:graphic>
          <a:graphicData uri="http://schemas.openxmlformats.org/drawingml/2006/table">
            <a:tbl>
              <a:tblPr/>
              <a:tblGrid>
                <a:gridCol w="3799865"/>
                <a:gridCol w="6755316"/>
              </a:tblGrid>
              <a:tr h="357928">
                <a:tc>
                  <a:txBody>
                    <a:bodyPr/>
                    <a:lstStyle/>
                    <a:p>
                      <a:pPr indent="0" marL="0">
                        <a:lnSpc>
                          <a:spcPts val="1820"/>
                        </a:lnSpc>
                        <a:buNone/>
                      </a:pPr>
                      <a:r>
                        <a:rPr lang="en-US" sz="1300" b="1" dirty="0">
                          <a:solidFill>
                            <a:srgbClr val="12202C"/>
                          </a:solidFill>
                          <a:latin typeface="IBM Plex Sans" pitchFamily="34" charset="0"/>
                          <a:ea typeface="IBM Plex Sans" pitchFamily="34" charset="-122"/>
                          <a:cs typeface="IBM Plex Sans" pitchFamily="34" charset="-120"/>
                        </a:rPr>
                        <a:t>Τομέας</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c>
                  <a:txBody>
                    <a:bodyPr/>
                    <a:lstStyle/>
                    <a:p>
                      <a:pPr indent="0" marL="0">
                        <a:lnSpc>
                          <a:spcPts val="1820"/>
                        </a:lnSpc>
                        <a:buNone/>
                      </a:pPr>
                      <a:r>
                        <a:rPr lang="en-US" sz="1300" b="1" dirty="0">
                          <a:solidFill>
                            <a:srgbClr val="12202C"/>
                          </a:solidFill>
                          <a:latin typeface="IBM Plex Sans" pitchFamily="34" charset="0"/>
                          <a:ea typeface="IBM Plex Sans" pitchFamily="34" charset="-122"/>
                          <a:cs typeface="IBM Plex Sans" pitchFamily="34" charset="-120"/>
                        </a:rPr>
                        <a:t>Κατάσταση</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5B2AD"/>
                      </a:solidFill>
                      <a:prstDash val="solid"/>
                      <a:round/>
                      <a:headEnd type="none" w="med" len="med"/>
                      <a:tailEnd type="none" w="med" len="med"/>
                    </a:lnL>
                    <a:lnR w="12700" cap="flat" cmpd="sng" algn="ctr">
                      <a:solidFill>
                        <a:srgbClr val="B5B2AD"/>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B5B2AD"/>
                      </a:solidFill>
                      <a:prstDash val="solid"/>
                      <a:round/>
                      <a:headEnd type="none" w="med" len="med"/>
                      <a:tailEnd type="none" w="med" len="med"/>
                    </a:lnB>
                    <a:solidFill>
                      <a:srgbClr val="E2DFD9"/>
                    </a:solidFill>
                  </a:tcPr>
                </a:tc>
              </a:tr>
              <a:tr h="357928">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Λογαριασμοί και Hall of Fame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Live. Η εγγραφή, η σύνδεση και μια αποθηκευμένη νίκη επαληθεύτηκαν σε browser.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B5B2AD"/>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9068">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Σκορ με ticket γύρου</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Live. Οι έλεγχοι στο API της παραγωγής πέρασαν· ο έλεγχος σε browser στην παραγωγή μπλόκαρε.</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9068">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Illucia (duel και Observatory)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Live για συνδεδεμένους παίκτες. Δεν έχει καταγραφεί έλεγχος αιτήματος πόντων με σύνδεση στην παραγωγή.</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9068">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Διαγραφή λογαριασμού, λήξη εγγραφών γύρων</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Έχει γίνει deploy. Δεν έχει καταγραφεί έλεγχος της διαγραφής ή της πολιτικής διατήρησης (retention) στην παραγωγή.</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r h="589068">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Πειραματική λειτουργία AI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c>
                  <a:txBody>
                    <a:bodyPr/>
                    <a:lstStyle/>
                    <a:p>
                      <a:pPr indent="0" marL="0">
                        <a:lnSpc>
                          <a:spcPts val="1820"/>
                        </a:lnSpc>
                        <a:buNone/>
                      </a:pPr>
                      <a:r>
                        <a:rPr lang="en-US" sz="1300" dirty="0">
                          <a:solidFill>
                            <a:srgbClr val="12202C"/>
                          </a:solidFill>
                          <a:latin typeface="IBM Plex Sans" pitchFamily="34" charset="0"/>
                          <a:ea typeface="IBM Plex Sans" pitchFamily="34" charset="-122"/>
                          <a:cs typeface="IBM Plex Sans" pitchFamily="34" charset="-120"/>
                        </a:rPr>
                        <a:t>Η σελίδα δοκιμάστηκε μόνο με ψεύτικο (mocked) route. Το route του Worker έχει γίνει deploy.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0BB"/>
                      </a:solidFill>
                      <a:prstDash val="solid"/>
                      <a:round/>
                      <a:headEnd type="none" w="med" len="med"/>
                      <a:tailEnd type="none" w="med" len="med"/>
                    </a:lnL>
                    <a:lnR w="12700" cap="flat" cmpd="sng" algn="ctr">
                      <a:solidFill>
                        <a:srgbClr val="C3C0BB"/>
                      </a:solidFill>
                      <a:prstDash val="solid"/>
                      <a:round/>
                      <a:headEnd type="none" w="med" len="med"/>
                      <a:tailEnd type="none" w="med" len="med"/>
                    </a:lnR>
                    <a:lnT w="12700" cap="flat" cmpd="sng" algn="ctr">
                      <a:solidFill>
                        <a:srgbClr val="C3C0BB"/>
                      </a:solidFill>
                      <a:prstDash val="solid"/>
                      <a:round/>
                      <a:headEnd type="none" w="med" len="med"/>
                      <a:tailEnd type="none" w="med" len="med"/>
                    </a:lnT>
                    <a:lnB w="12700" cap="flat" cmpd="sng" algn="ctr">
                      <a:solidFill>
                        <a:srgbClr val="C3C0BB"/>
                      </a:solidFill>
                      <a:prstDash val="solid"/>
                      <a:round/>
                      <a:headEnd type="none" w="med" len="med"/>
                      <a:tailEnd type="none" w="med" len="med"/>
                    </a:lnB>
                  </a:tcPr>
                </a:tc>
              </a:tr>
            </a:tbl>
          </a:graphicData>
        </a:graphic>
      </p:graphicFrame>
      <p:sp>
        <p:nvSpPr>
          <p:cNvPr id="5" name="Text 2"/>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Κατάσταση από τις σημειώσεις του project, αρχές Οκτωβρίου 2026.</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977"/>
                </a:solidFill>
                <a:latin typeface="IBM Plex Sans" pitchFamily="34" charset="0"/>
                <a:ea typeface="IBM Plex Sans" pitchFamily="34" charset="-122"/>
                <a:cs typeface="IBM Plex Sans" pitchFamily="34" charset="-120"/>
              </a:rPr>
              <a:t>14 / 15</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F2B544"/>
                </a:solidFill>
                <a:latin typeface="JetBrains Mono" pitchFamily="49" charset="0"/>
                <a:ea typeface="JetBrains Mono" pitchFamily="49" charset="-122"/>
                <a:cs typeface="JetBrains Mono" pitchFamily="49" charset="-120"/>
              </a:rPr>
              <a:t>14 · Τι ακολουθεί</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F1EA"/>
                </a:solidFill>
                <a:latin typeface="Manrope" pitchFamily="34" charset="0"/>
                <a:ea typeface="Manrope" pitchFamily="34" charset="-122"/>
                <a:cs typeface="Manrope" pitchFamily="34" charset="-120"/>
              </a:rPr>
              <a:t>Το project συνεχίζει να εξελίσσεται</a:t>
            </a:r>
            <a:endParaRPr lang="en-US" sz="3600" dirty="0"/>
          </a:p>
        </p:txBody>
      </p:sp>
      <p:sp>
        <p:nvSpPr>
          <p:cNvPr id="4" name="Text 2"/>
          <p:cNvSpPr/>
          <p:nvPr/>
        </p:nvSpPr>
        <p:spPr>
          <a:xfrm>
            <a:off x="870458" y="1935479"/>
            <a:ext cx="5948603" cy="259715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Illucia v2: μνήμη παίκτη, ερωτήσεις WordNet και πειραματική λειτουργία AI, που μένουν να ελεγχθούν live</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Κλείσιμο των ανοιχτών ελέγχων στην παραγωγή: σκορ σε browser, διαγραφή λογαριασμού, αιτήματα πόντων της Illucia</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Φιλοξενία του ήχου του Merriam-Webster σε δική μου υποδομή, αν το επιτρέπει η άδεια χρήσης</a:t>
            </a:r>
            <a:endParaRPr lang="en-US" sz="1600" dirty="0"/>
          </a:p>
          <a:p>
            <a:pPr algn="l" marL="196342" indent="-196342">
              <a:lnSpc>
                <a:spcPts val="2240"/>
              </a:lnSpc>
              <a:buSzPct val="100000"/>
              <a:buChar char="•"/>
            </a:pPr>
            <a:r>
              <a:rPr lang="en-US" sz="1600" dirty="0">
                <a:solidFill>
                  <a:srgbClr val="E4E8EB"/>
                </a:solidFill>
                <a:latin typeface="IBM Plex Sans" pitchFamily="34" charset="0"/>
                <a:ea typeface="IBM Plex Sans" pitchFamily="34" charset="-122"/>
                <a:cs typeface="IBM Plex Sans" pitchFamily="34" charset="-120"/>
              </a:rPr>
              <a:t>Καθαρισμός των ανοιχτών ειδοποιήσεων ασφαλείας για τις εξαρτήσεις (dependencies)</a:t>
            </a:r>
            <a:endParaRPr lang="en-US" sz="1600" dirty="0"/>
          </a:p>
        </p:txBody>
      </p:sp>
      <p:sp>
        <p:nvSpPr>
          <p:cNvPr id="5" name="Shape 3"/>
          <p:cNvSpPr/>
          <p:nvPr/>
        </p:nvSpPr>
        <p:spPr>
          <a:xfrm>
            <a:off x="6962670" y="1941829"/>
            <a:ext cx="4410181" cy="2559050"/>
          </a:xfrm>
          <a:prstGeom prst="roundRect">
            <a:avLst>
              <a:gd name="adj" fmla="val 4715"/>
            </a:avLst>
          </a:prstGeom>
          <a:solidFill>
            <a:srgbClr val="172A3B"/>
          </a:solidFill>
          <a:ln w="12700">
            <a:solidFill>
              <a:srgbClr val="28425A"/>
            </a:solidFill>
            <a:prstDash val="solid"/>
          </a:ln>
        </p:spPr>
      </p:sp>
      <p:sp>
        <p:nvSpPr>
          <p:cNvPr id="6" name="Text 4"/>
          <p:cNvSpPr/>
          <p:nvPr/>
        </p:nvSpPr>
        <p:spPr>
          <a:xfrm>
            <a:off x="7221538" y="2200697"/>
            <a:ext cx="40092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Παίξτε το</a:t>
            </a:r>
            <a:endParaRPr lang="en-US" sz="1200" dirty="0"/>
          </a:p>
        </p:txBody>
      </p:sp>
      <p:sp>
        <p:nvSpPr>
          <p:cNvPr id="7" name="Text 5"/>
          <p:cNvSpPr/>
          <p:nvPr/>
        </p:nvSpPr>
        <p:spPr>
          <a:xfrm>
            <a:off x="7221538" y="2541060"/>
            <a:ext cx="40092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4F1EA"/>
                </a:solidFill>
                <a:latin typeface="IBM Plex Sans" pitchFamily="34" charset="0"/>
                <a:ea typeface="IBM Plex Sans" pitchFamily="34" charset="-122"/>
                <a:cs typeface="IBM Plex Sans" pitchFamily="34" charset="-120"/>
              </a:rPr>
              <a:t>hangman.spyrostrimis.com</a:t>
            </a:r>
            <a:endParaRPr lang="en-US" sz="1500" dirty="0"/>
          </a:p>
        </p:txBody>
      </p:sp>
      <p:sp>
        <p:nvSpPr>
          <p:cNvPr id="8" name="Text 6"/>
          <p:cNvSpPr/>
          <p:nvPr/>
        </p:nvSpPr>
        <p:spPr>
          <a:xfrm>
            <a:off x="7221538" y="2915710"/>
            <a:ext cx="40092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B544"/>
                </a:solidFill>
                <a:latin typeface="JetBrains Mono" pitchFamily="49" charset="0"/>
                <a:ea typeface="JetBrains Mono" pitchFamily="49" charset="-122"/>
                <a:cs typeface="JetBrains Mono" pitchFamily="49" charset="-120"/>
              </a:rPr>
              <a:t>Διαβάστε τον κώδικα</a:t>
            </a:r>
            <a:endParaRPr lang="en-US" sz="1200" dirty="0"/>
          </a:p>
        </p:txBody>
      </p:sp>
      <p:sp>
        <p:nvSpPr>
          <p:cNvPr id="9" name="Text 7"/>
          <p:cNvSpPr/>
          <p:nvPr/>
        </p:nvSpPr>
        <p:spPr>
          <a:xfrm>
            <a:off x="7221538" y="3256068"/>
            <a:ext cx="4009218"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F4F1EA"/>
                </a:solidFill>
                <a:latin typeface="IBM Plex Sans" pitchFamily="34" charset="0"/>
                <a:ea typeface="IBM Plex Sans" pitchFamily="34" charset="-122"/>
                <a:cs typeface="IBM Plex Sans" pitchFamily="34" charset="-120"/>
              </a:rPr>
              <a:t>github.com/spyrostrimis/hangman</a:t>
            </a:r>
            <a:endParaRPr lang="en-US" sz="1500" dirty="0"/>
          </a:p>
        </p:txBody>
      </p:sp>
      <p:sp>
        <p:nvSpPr>
          <p:cNvPr id="10" name="Text 8"/>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Περιεχόμενο λεξικού: Merriam-Webster's Collegiate® Dictionary with Audio.</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296A6"/>
                </a:solidFill>
                <a:latin typeface="IBM Plex Sans" pitchFamily="34" charset="0"/>
                <a:ea typeface="IBM Plex Sans" pitchFamily="34" charset="-122"/>
                <a:cs typeface="IBM Plex Sans" pitchFamily="34" charset="-120"/>
              </a:rPr>
              <a:t>15 / 15</a:t>
            </a:r>
            <a:endParaRPr lang="en-US" sz="1200" dirty="0"/>
          </a:p>
        </p:txBody>
      </p:sp>
    </p:spTree>
  </p:cSld>
  <p:clrMapOvr>
    <a:masterClrMapping/>
  </p:clrMapOvr>
</p:sld>
</file>

<file path=ppt/theme/theme1.xml><?xml version="1.0" encoding="utf-8"?>
<a:theme xmlns:a="http://schemas.openxmlformats.org/drawingml/2006/main" name="Hangman: Rescue Mission (Ελληνικά)">
  <a:themeElements>
    <a:clrScheme name="Hangman: Rescue Mission (Ελληνικά)">
      <a:dk1>
        <a:srgbClr val="0F1A24"/>
      </a:dk1>
      <a:lt1>
        <a:srgbClr val="F4F1EA"/>
      </a:lt1>
      <a:dk2>
        <a:srgbClr val="263038"/>
      </a:dk2>
      <a:lt2>
        <a:srgbClr val="BBBBB9"/>
      </a:lt2>
      <a:accent1>
        <a:srgbClr val="F2B544"/>
      </a:accent1>
      <a:accent2>
        <a:srgbClr val="0E7C70"/>
      </a:accent2>
      <a:accent3>
        <a:srgbClr val="5FD0C5"/>
      </a:accent3>
      <a:accent4>
        <a:srgbClr val="A9BAC8"/>
      </a:accent4>
      <a:accent5>
        <a:srgbClr val="8296A6"/>
      </a:accent5>
      <a:accent6>
        <a:srgbClr val="5B6977"/>
      </a:accent6>
      <a:hlink>
        <a:srgbClr val="0563C1"/>
      </a:hlink>
      <a:folHlink>
        <a:srgbClr val="954F72"/>
      </a:folHlink>
    </a:clrScheme>
    <a:fontScheme name="Hangman: Rescue Mission (Ελληνικά)">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Hangman: Rescue Mission (Ελληνικά)</dc:title>
  <dc:subject/>
  <dc:creator/>
  <cp:lastModifiedBy/>
  <cp:revision>1</cp:revision>
  <dcterms:created xsi:type="dcterms:W3CDTF">2026-10-07T16:20:32Z</dcterms:created>
  <dcterms:modified xsi:type="dcterms:W3CDTF">2026-10-07T16:20:32Z</dcterms:modified>
</cp:coreProperties>
</file>