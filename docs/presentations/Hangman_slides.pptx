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Hangman: Rescue Mission is a vocabulary game I built as a bootcamp project in 2023 and rebuilt in 2026 under one hard rule: it must cost nothing to run. This deck is the story of that rebuild and, more than the features, the decisions behind it. The word tiles spell RESCUE with one letter still missing, because the project is still in progress.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2023 version was a bootcamp project: MERN stack, OpenAI for content. It worked, but it generated example sentences with an LLM and attributed them to real authors, works and dates. Fabricated quotations are not acceptable in a learning tool, and that single flaw is what made me treat the rebuild as a redesign rather than a clean-up. 116 of the 2023 DALL-E 2 paintings survive and are still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decision: I did not try to migrate the old code. I kept the idea, the 105 words and the rescued paintings, and rebuilt everything else around three rules: only real, attributed content, a modern stack, and a running cost that stays at zero. Any proposal that needs a paid plan is flagged for a decision and never implemented silently.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live site. The story is a rescue mission: the painter robot Artsy has shut down, and each correct letter reboots him. The first screenshot is a round in progress with the first hint open. The second is the win screen: one of the rescued paintings, the definition, pronunciation and audio from Merriam-Webster, and the required dictionary attribution. A signed-out guest can play but earns no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Hall of Fame is public and reads live from the API. The score table is real data from accounts on the site. The phone screenshot is the same Hangman page at phone width: the layout was reworked in its own slice and I confirmed it on a real phone on 28 September. Remember the scoring slide: this leaderboard is honest about being a friendly board, not a trusted ranking.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shape of the system. The client is a React and Vite app on Cloudflare Pages. A small Hono Worker handles accounts and scores against D1. The word data is a static JSON manifest and the paintings live in R2, so gameplay needs no word API. The last card matters: there is no staging, every push to main and every wrangler deploy is production, so each change is kept small and checked before it ships.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numbers. The cost is zero and stays zero. 105 words each have a painting. The Illucia vocabulary is 135,897 words after profanity filtering. And the CPU figure is from the first deployed measurements on the Free plan: a median of 1.96 milliseconds and 3.56 at the 99th percentile. I flag it as a small sample on purpose; it is evidence the design fits the free tier, not a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2023 flaw is fixed. Definitions, pronunciation, audio and examples come from Merriam-Webster's Collegiate Dictionary, with attribution on screen. Where the dictionary is ambiguous, 76 explicit human choices decide, never a hidden ranking. Hints and explanations were drafted with an LLM during planning conversations, then reviewed by me and committed as static data, so the provenance field honestly says llm-generated. A small deterministic assembler and a schema validator produce the manifest the game ships with. The pipeline never runs in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engineering decision. I tested bcryptjs on a Worker and confirmed it blows the free CPU budget. The easy fix would have been a weaker hash. Instead the stretching moved into the browser using Web Crypto: PBKDF2 at 600,000 iterations with a random per-account salt. The Worker only ever sees the derived value and stores an HMAC verifier under a secret pepper. The rule I wrote down: the work factor can only rise, through a new kdf_version, and is never lowered to fit a CPU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is where I chose honesty over theatre. The server issues a ticket and chooses the word, a winning claim is replayed through the same shared rules the client uses, and 100 points are awarded at most once per round. A five-second floor limits each account to twelve awards a minute. But the answer is public by design, so a script can manufacture valid histories. I say that plainly in the docs and in the UI rather than pretending the leaderboard is a trusted competition.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Illucia reverses the game: the player sets a secret word and a local solver guesses it letter by letter. Difficulty is vocabulary size, so Master should beat Apprentice. I measured it, and on common short words the tiers were inverted: Apprentice 56 percent, Scholar 46, Master 42, because a larger vocabulary contains more look-alike short words. Weighting candidates by commonness fixed it: on common four-to-six-letter words the tiers are level at about 72 to 73 percent, and a benchmark gate now checks the order. The honest cost is on rare words that Master knows, where its win rate fell from 92.1 to 87.2 percent. The two rows use different word sets, so read them as a trend, not a like-for-like comparison. Her letter choice is plain code; no model is involved.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 duel on the live site. I chose the word GARDEN at Apprentice level and she played it herself. At turn 4 she has narrowed her vocabulary to five words, listed at the bottom of the notebook, and the chart shows why N is next: it covers 80 percent of them. The line under the chart is generated from her actual decision record. Early on, her reasoning text said things that stopped being true once she started exploring, so I made honesty of those lines a rule. She won this round in seven guesses.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process matters as much as the product. Planning happens in a Claude chat Project, which holds my instructions, a state file and a diary. Implementation happens in Claude Code, which cannot see that Project, so each session starts from a tightly scoped prompt and the constraints in CLAUDE.md. The discipline that makes it work: small slices, one concern per commit, real diffs and test output before anything is called done, and tests that must be proven non-vacuous by breaking the fix and watching them fail. The same rules apply to AI-written code and my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keep three states apart in every status note: implemented and committed, tested locally, and verified live. This table is that discipline applied honestly. The core game, accounts and scoring are live. Several things are deployed but not yet checked in production, and I list them as unchecked rather than rounding them up to done. For a recruiter or a senior reviewer, that is the more useful signal than a wall of green ticks.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is not finished and I would rather say so. Illucia v2 is built in slices and still needs checking on the live site. The open production checks are on my list in plain sight. Beyond that: self-hosting the dictionary audio if the licence permits and clearing dependency advisories. The site and the repository are both public, so everything in this deck can be checked against the code.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F1A2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58"/>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F4F1EA"/>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78"/>
            <a:ext cx="10566400" cy="4109722"/>
          </a:xfrm>
          <a:prstGeom prst="rect">
            <a:avLst/>
          </a:prstGeom>
          <a:noFill/>
          <a:ln/>
        </p:spPr>
        <p:txBody>
          <a:bodyPr wrap="square" lIns="0" tIns="0" rIns="0" bIns="0" rtlCol="0" anchor="t"/>
          <a:lstStyle>
            <a:lvl1pPr algn="l" indent="0" marL="0">
              <a:lnSpc>
                <a:spcPct val="140000"/>
              </a:lnSpc>
              <a:buNone/>
              <a:defRPr lang="en-US" sz="1600" dirty="0">
                <a:solidFill>
                  <a:srgbClr val="F4F1E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F1A2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58"/>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F4F1EA"/>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78"/>
            <a:ext cx="10566400" cy="4109722"/>
          </a:xfrm>
          <a:prstGeom prst="rect">
            <a:avLst/>
          </a:prstGeom>
          <a:noFill/>
          <a:ln/>
        </p:spPr>
        <p:txBody>
          <a:bodyPr wrap="square" lIns="0" tIns="0" rIns="0" bIns="0" rtlCol="0" anchor="t"/>
          <a:lstStyle>
            <a:lvl1pPr algn="l" indent="0" marL="0">
              <a:lnSpc>
                <a:spcPct val="140000"/>
              </a:lnSpc>
              <a:buNone/>
              <a:defRPr lang="en-US" sz="1600" dirty="0">
                <a:solidFill>
                  <a:srgbClr val="F4F1E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jpe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jpe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2.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2.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A24"/>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spc="150" kern="0" dirty="0">
                <a:solidFill>
                  <a:srgbClr val="F2B544"/>
                </a:solidFill>
                <a:latin typeface="JetBrains Mono" pitchFamily="49" charset="0"/>
                <a:ea typeface="JetBrains Mono" pitchFamily="49" charset="-122"/>
                <a:cs typeface="JetBrains Mono" pitchFamily="49" charset="-120"/>
              </a:rPr>
              <a:t>PORTFOLIO CASE STUDY · 2023 TO 2026</a:t>
            </a:r>
            <a:endParaRPr lang="en-US" sz="1400" dirty="0"/>
          </a:p>
        </p:txBody>
      </p:sp>
      <p:sp>
        <p:nvSpPr>
          <p:cNvPr id="3" name="Text 1"/>
          <p:cNvSpPr/>
          <p:nvPr>
            <p:ph type="title"/>
          </p:nvPr>
        </p:nvSpPr>
        <p:spPr>
          <a:xfrm>
            <a:off x="812800" y="1647190"/>
            <a:ext cx="10883392" cy="1892300"/>
          </a:xfrm>
          <a:prstGeom prst="rect">
            <a:avLst/>
          </a:prstGeom>
          <a:noFill/>
          <a:ln/>
        </p:spPr>
        <p:txBody>
          <a:bodyPr wrap="square" lIns="0" tIns="0" rIns="0" bIns="0" rtlCol="0" anchor="t">
            <a:normAutofit/>
          </a:bodyPr>
          <a:lstStyle/>
          <a:p>
            <a:pPr algn="l" indent="0" marL="0">
              <a:lnSpc>
                <a:spcPts val="7350"/>
              </a:lnSpc>
              <a:buNone/>
            </a:pPr>
            <a:r>
              <a:rPr lang="en-US" sz="7000" b="1" i="0" dirty="0">
                <a:solidFill>
                  <a:srgbClr val="F4F1EA"/>
                </a:solidFill>
                <a:latin typeface="Space Grotesk" pitchFamily="34" charset="0"/>
                <a:ea typeface="Space Grotesk" pitchFamily="34" charset="-122"/>
                <a:cs typeface="Space Grotesk" pitchFamily="34" charset="-120"/>
              </a:rPr>
              <a:t>Hangman:</a:t>
            </a:r>
            <a:endParaRPr lang="en-US" sz="7000" dirty="0"/>
          </a:p>
          <a:p>
            <a:pPr algn="l" indent="0" marL="0">
              <a:lnSpc>
                <a:spcPts val="7350"/>
              </a:lnSpc>
              <a:buNone/>
            </a:pPr>
            <a:r>
              <a:rPr lang="en-US" sz="7000" b="1" i="0" dirty="0">
                <a:solidFill>
                  <a:srgbClr val="F4F1EA"/>
                </a:solidFill>
                <a:latin typeface="Space Grotesk" pitchFamily="34" charset="0"/>
                <a:ea typeface="Space Grotesk" pitchFamily="34" charset="-122"/>
                <a:cs typeface="Space Grotesk" pitchFamily="34" charset="-120"/>
              </a:rPr>
              <a:t>Rescue Mission</a:t>
            </a:r>
            <a:endParaRPr lang="en-US" sz="7000" dirty="0"/>
          </a:p>
        </p:txBody>
      </p:sp>
      <p:sp>
        <p:nvSpPr>
          <p:cNvPr id="4" name="Text 2"/>
          <p:cNvSpPr/>
          <p:nvPr/>
        </p:nvSpPr>
        <p:spPr>
          <a:xfrm>
            <a:off x="812800" y="3717290"/>
            <a:ext cx="8502650" cy="75184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A9BAC8"/>
                </a:solidFill>
                <a:latin typeface="IBM Plex Sans" pitchFamily="34" charset="0"/>
                <a:ea typeface="IBM Plex Sans" pitchFamily="34" charset="-122"/>
                <a:cs typeface="IBM Plex Sans" pitchFamily="34" charset="-120"/>
              </a:rPr>
              <a:t>A bootcamp word game rebuilt as a production app on Cloudflare's free tier, at a running cost of $0.</a:t>
            </a:r>
            <a:endParaRPr lang="en-US" sz="2200" dirty="0"/>
          </a:p>
        </p:txBody>
      </p:sp>
      <p:sp>
        <p:nvSpPr>
          <p:cNvPr id="5" name="Text 3"/>
          <p:cNvSpPr/>
          <p:nvPr/>
        </p:nvSpPr>
        <p:spPr>
          <a:xfrm>
            <a:off x="825500" y="5041900"/>
            <a:ext cx="635000" cy="787400"/>
          </a:xfrm>
          <a:prstGeom prst="roundRect">
            <a:avLst>
              <a:gd name="adj" fmla="val 12000"/>
            </a:avLst>
          </a:prstGeom>
          <a:noFill/>
          <a:ln w="25400">
            <a:solidFill>
              <a:srgbClr val="F2B544"/>
            </a:solidFill>
            <a:prstDash val="solid"/>
          </a:ln>
        </p:spPr>
        <p:txBody>
          <a:bodyPr wrap="square" lIns="0" tIns="0" rIns="0" bIns="0" rtlCol="0" anchor="ctr">
            <a:normAutofit/>
          </a:bodyPr>
          <a:lstStyle/>
          <a:p>
            <a:pPr algn="ctr" indent="0" marL="0">
              <a:lnSpc>
                <a:spcPts val="5040"/>
              </a:lnSpc>
              <a:buNone/>
            </a:pPr>
            <a:r>
              <a:rPr lang="en-US" sz="3600" b="1" dirty="0">
                <a:solidFill>
                  <a:srgbClr val="F2B544"/>
                </a:solidFill>
                <a:latin typeface="Space Grotesk" pitchFamily="34" charset="0"/>
                <a:ea typeface="Space Grotesk" pitchFamily="34" charset="-122"/>
                <a:cs typeface="Space Grotesk" pitchFamily="34" charset="-120"/>
              </a:rPr>
              <a:t>R</a:t>
            </a:r>
            <a:endParaRPr lang="en-US" sz="3600" dirty="0"/>
          </a:p>
        </p:txBody>
      </p:sp>
      <p:sp>
        <p:nvSpPr>
          <p:cNvPr id="6" name="Text 4"/>
          <p:cNvSpPr/>
          <p:nvPr/>
        </p:nvSpPr>
        <p:spPr>
          <a:xfrm>
            <a:off x="1612900" y="5041900"/>
            <a:ext cx="635000" cy="787400"/>
          </a:xfrm>
          <a:prstGeom prst="roundRect">
            <a:avLst>
              <a:gd name="adj" fmla="val 12000"/>
            </a:avLst>
          </a:prstGeom>
          <a:noFill/>
          <a:ln w="25400">
            <a:solidFill>
              <a:srgbClr val="F2B544"/>
            </a:solidFill>
            <a:prstDash val="solid"/>
          </a:ln>
        </p:spPr>
        <p:txBody>
          <a:bodyPr wrap="square" lIns="0" tIns="0" rIns="0" bIns="0" rtlCol="0" anchor="ctr">
            <a:normAutofit/>
          </a:bodyPr>
          <a:lstStyle/>
          <a:p>
            <a:pPr algn="ctr" indent="0" marL="0">
              <a:lnSpc>
                <a:spcPts val="5040"/>
              </a:lnSpc>
              <a:buNone/>
            </a:pPr>
            <a:r>
              <a:rPr lang="en-US" sz="3600" b="1" dirty="0">
                <a:solidFill>
                  <a:srgbClr val="F2B544"/>
                </a:solidFill>
                <a:latin typeface="Space Grotesk" pitchFamily="34" charset="0"/>
                <a:ea typeface="Space Grotesk" pitchFamily="34" charset="-122"/>
                <a:cs typeface="Space Grotesk" pitchFamily="34" charset="-120"/>
              </a:rPr>
              <a:t>E</a:t>
            </a:r>
            <a:endParaRPr lang="en-US" sz="3600" dirty="0"/>
          </a:p>
        </p:txBody>
      </p:sp>
      <p:sp>
        <p:nvSpPr>
          <p:cNvPr id="7" name="Text 5"/>
          <p:cNvSpPr/>
          <p:nvPr/>
        </p:nvSpPr>
        <p:spPr>
          <a:xfrm>
            <a:off x="2400300" y="5041900"/>
            <a:ext cx="635000" cy="787400"/>
          </a:xfrm>
          <a:prstGeom prst="roundRect">
            <a:avLst>
              <a:gd name="adj" fmla="val 12000"/>
            </a:avLst>
          </a:prstGeom>
          <a:noFill/>
          <a:ln w="25400">
            <a:solidFill>
              <a:srgbClr val="F2B544"/>
            </a:solidFill>
            <a:prstDash val="solid"/>
          </a:ln>
        </p:spPr>
        <p:txBody>
          <a:bodyPr wrap="square" lIns="0" tIns="0" rIns="0" bIns="0" rtlCol="0" anchor="ctr">
            <a:normAutofit/>
          </a:bodyPr>
          <a:lstStyle/>
          <a:p>
            <a:pPr algn="ctr" indent="0" marL="0">
              <a:lnSpc>
                <a:spcPts val="5040"/>
              </a:lnSpc>
              <a:buNone/>
            </a:pPr>
            <a:r>
              <a:rPr lang="en-US" sz="3600" b="1" dirty="0">
                <a:solidFill>
                  <a:srgbClr val="F2B544"/>
                </a:solidFill>
                <a:latin typeface="Space Grotesk" pitchFamily="34" charset="0"/>
                <a:ea typeface="Space Grotesk" pitchFamily="34" charset="-122"/>
                <a:cs typeface="Space Grotesk" pitchFamily="34" charset="-120"/>
              </a:rPr>
              <a:t>S</a:t>
            </a:r>
            <a:endParaRPr lang="en-US" sz="3600" dirty="0"/>
          </a:p>
        </p:txBody>
      </p:sp>
      <p:sp>
        <p:nvSpPr>
          <p:cNvPr id="8" name="Text 6"/>
          <p:cNvSpPr/>
          <p:nvPr/>
        </p:nvSpPr>
        <p:spPr>
          <a:xfrm>
            <a:off x="3187700" y="5041900"/>
            <a:ext cx="635000" cy="787400"/>
          </a:xfrm>
          <a:prstGeom prst="roundRect">
            <a:avLst>
              <a:gd name="adj" fmla="val 12000"/>
            </a:avLst>
          </a:prstGeom>
          <a:noFill/>
          <a:ln w="25400">
            <a:solidFill>
              <a:srgbClr val="F2B544"/>
            </a:solidFill>
            <a:prstDash val="solid"/>
          </a:ln>
        </p:spPr>
        <p:txBody>
          <a:bodyPr wrap="square" lIns="0" tIns="0" rIns="0" bIns="0" rtlCol="0" anchor="ctr">
            <a:normAutofit/>
          </a:bodyPr>
          <a:lstStyle/>
          <a:p>
            <a:pPr algn="ctr" indent="0" marL="0">
              <a:lnSpc>
                <a:spcPts val="5040"/>
              </a:lnSpc>
              <a:buNone/>
            </a:pPr>
            <a:r>
              <a:rPr lang="en-US" sz="3600" b="1" dirty="0">
                <a:solidFill>
                  <a:srgbClr val="F2B544"/>
                </a:solidFill>
                <a:latin typeface="Space Grotesk" pitchFamily="34" charset="0"/>
                <a:ea typeface="Space Grotesk" pitchFamily="34" charset="-122"/>
                <a:cs typeface="Space Grotesk" pitchFamily="34" charset="-120"/>
              </a:rPr>
              <a:t>C</a:t>
            </a:r>
            <a:endParaRPr lang="en-US" sz="3600" dirty="0"/>
          </a:p>
        </p:txBody>
      </p:sp>
      <p:sp>
        <p:nvSpPr>
          <p:cNvPr id="9" name="Text 7"/>
          <p:cNvSpPr/>
          <p:nvPr/>
        </p:nvSpPr>
        <p:spPr>
          <a:xfrm>
            <a:off x="3975100" y="5041900"/>
            <a:ext cx="635000" cy="787400"/>
          </a:xfrm>
          <a:prstGeom prst="roundRect">
            <a:avLst>
              <a:gd name="adj" fmla="val 12000"/>
            </a:avLst>
          </a:prstGeom>
          <a:noFill/>
          <a:ln w="25400">
            <a:solidFill>
              <a:srgbClr val="F2B544"/>
            </a:solidFill>
            <a:prstDash val="solid"/>
          </a:ln>
        </p:spPr>
        <p:txBody>
          <a:bodyPr wrap="square" lIns="0" tIns="0" rIns="0" bIns="0" rtlCol="0" anchor="ctr">
            <a:normAutofit/>
          </a:bodyPr>
          <a:lstStyle/>
          <a:p>
            <a:pPr algn="ctr" indent="0" marL="0">
              <a:lnSpc>
                <a:spcPts val="5040"/>
              </a:lnSpc>
              <a:buNone/>
            </a:pPr>
            <a:r>
              <a:rPr lang="en-US" sz="3600" b="1" dirty="0">
                <a:solidFill>
                  <a:srgbClr val="F2B544"/>
                </a:solidFill>
                <a:latin typeface="Space Grotesk" pitchFamily="34" charset="0"/>
                <a:ea typeface="Space Grotesk" pitchFamily="34" charset="-122"/>
                <a:cs typeface="Space Grotesk" pitchFamily="34" charset="-120"/>
              </a:rPr>
              <a:t>U</a:t>
            </a:r>
            <a:endParaRPr lang="en-US" sz="3600" dirty="0"/>
          </a:p>
        </p:txBody>
      </p:sp>
      <p:sp>
        <p:nvSpPr>
          <p:cNvPr id="10" name="Shape 8"/>
          <p:cNvSpPr/>
          <p:nvPr/>
        </p:nvSpPr>
        <p:spPr>
          <a:xfrm>
            <a:off x="4762500" y="5041900"/>
            <a:ext cx="635000" cy="787400"/>
          </a:xfrm>
          <a:prstGeom prst="roundRect">
            <a:avLst>
              <a:gd name="adj" fmla="val 12000"/>
            </a:avLst>
          </a:prstGeom>
          <a:noFill/>
          <a:ln w="25400">
            <a:solidFill>
              <a:srgbClr val="5B6E7E"/>
            </a:solidFill>
            <a:prstDash val="dash"/>
          </a:ln>
        </p:spPr>
      </p:sp>
      <p:sp>
        <p:nvSpPr>
          <p:cNvPr id="11" name="Text 9"/>
          <p:cNvSpPr/>
          <p:nvPr/>
        </p:nvSpPr>
        <p:spPr>
          <a:xfrm>
            <a:off x="9848469" y="5257800"/>
            <a:ext cx="1530731" cy="309880"/>
          </a:xfrm>
          <a:prstGeom prst="rect">
            <a:avLst/>
          </a:prstGeom>
          <a:noFill/>
          <a:ln/>
        </p:spPr>
        <p:txBody>
          <a:bodyPr wrap="square" lIns="0" tIns="0" rIns="0" bIns="0" rtlCol="0" anchor="t">
            <a:normAutofit/>
          </a:bodyPr>
          <a:lstStyle/>
          <a:p>
            <a:pPr algn="r" indent="0" marL="0">
              <a:lnSpc>
                <a:spcPts val="2240"/>
              </a:lnSpc>
              <a:buNone/>
            </a:pPr>
            <a:r>
              <a:rPr lang="en-US" sz="1600" b="1" dirty="0">
                <a:solidFill>
                  <a:srgbClr val="F4F1EA"/>
                </a:solidFill>
                <a:latin typeface="IBM Plex Sans" pitchFamily="34" charset="0"/>
                <a:ea typeface="IBM Plex Sans" pitchFamily="34" charset="-122"/>
                <a:cs typeface="IBM Plex Sans" pitchFamily="34" charset="-120"/>
              </a:rPr>
              <a:t>Spyros Trimis</a:t>
            </a:r>
            <a:endParaRPr lang="en-US" sz="1600" dirty="0"/>
          </a:p>
        </p:txBody>
      </p:sp>
      <p:sp>
        <p:nvSpPr>
          <p:cNvPr id="12" name="Text 10"/>
          <p:cNvSpPr/>
          <p:nvPr/>
        </p:nvSpPr>
        <p:spPr>
          <a:xfrm>
            <a:off x="9214803" y="5593080"/>
            <a:ext cx="259727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AC8"/>
                </a:solidFill>
                <a:latin typeface="IBM Plex Sans" pitchFamily="34" charset="0"/>
                <a:ea typeface="IBM Plex Sans" pitchFamily="34" charset="-122"/>
                <a:cs typeface="IBM Plex Sans" pitchFamily="34" charset="-120"/>
              </a:rPr>
              <a:t>hangman.spyrostrimis.com</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E7C70"/>
                </a:solidFill>
                <a:latin typeface="JetBrains Mono" pitchFamily="49" charset="0"/>
                <a:ea typeface="JetBrains Mono" pitchFamily="49" charset="-122"/>
                <a:cs typeface="JetBrains Mono" pitchFamily="49" charset="-120"/>
              </a:rPr>
              <a:t>01 · ORIGIN</a:t>
            </a:r>
            <a:endParaRPr lang="en-US" sz="1200" dirty="0"/>
          </a:p>
        </p:txBody>
      </p:sp>
      <p:sp>
        <p:nvSpPr>
          <p:cNvPr id="3" name="Text 1"/>
          <p:cNvSpPr/>
          <p:nvPr>
            <p:ph type="title"/>
          </p:nvPr>
        </p:nvSpPr>
        <p:spPr>
          <a:xfrm>
            <a:off x="812800" y="1127760"/>
            <a:ext cx="10883392" cy="103124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202C"/>
                </a:solidFill>
                <a:latin typeface="Space Grotesk" pitchFamily="34" charset="0"/>
                <a:ea typeface="Space Grotesk" pitchFamily="34" charset="-122"/>
                <a:cs typeface="Space Grotesk" pitchFamily="34" charset="-120"/>
              </a:rPr>
              <a:t>A bootcamp game with one flaw I could not keep</a:t>
            </a:r>
            <a:endParaRPr lang="en-US" sz="3600" dirty="0"/>
          </a:p>
        </p:txBody>
      </p:sp>
      <p:sp>
        <p:nvSpPr>
          <p:cNvPr id="4" name="Shape 2"/>
          <p:cNvSpPr/>
          <p:nvPr/>
        </p:nvSpPr>
        <p:spPr>
          <a:xfrm>
            <a:off x="819150" y="2495550"/>
            <a:ext cx="3373967" cy="2049357"/>
          </a:xfrm>
          <a:prstGeom prst="roundRect">
            <a:avLst>
              <a:gd name="adj" fmla="val 5887"/>
            </a:avLst>
          </a:prstGeom>
          <a:solidFill>
            <a:srgbClr val="FBF9F4"/>
          </a:solidFill>
          <a:ln w="12700">
            <a:solidFill>
              <a:srgbClr val="D9D3C4"/>
            </a:solidFill>
            <a:prstDash val="solid"/>
          </a:ln>
        </p:spPr>
      </p:sp>
      <p:sp>
        <p:nvSpPr>
          <p:cNvPr id="5" name="Text 3"/>
          <p:cNvSpPr/>
          <p:nvPr/>
        </p:nvSpPr>
        <p:spPr>
          <a:xfrm>
            <a:off x="1078018" y="2754418"/>
            <a:ext cx="3108748"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12202C"/>
                </a:solidFill>
                <a:latin typeface="Space Grotesk" pitchFamily="34" charset="0"/>
                <a:ea typeface="Space Grotesk" pitchFamily="34" charset="-122"/>
                <a:cs typeface="Space Grotesk" pitchFamily="34" charset="-120"/>
              </a:rPr>
              <a:t>2023 · MERN bootcamp</a:t>
            </a:r>
            <a:endParaRPr lang="en-US" sz="2000" dirty="0"/>
          </a:p>
        </p:txBody>
      </p:sp>
      <p:sp>
        <p:nvSpPr>
          <p:cNvPr id="6" name="Text 4"/>
          <p:cNvSpPr/>
          <p:nvPr/>
        </p:nvSpPr>
        <p:spPr>
          <a:xfrm>
            <a:off x="1078018" y="3148118"/>
            <a:ext cx="2941917" cy="1163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4C59"/>
                </a:solidFill>
                <a:latin typeface="IBM Plex Sans" pitchFamily="34" charset="0"/>
                <a:ea typeface="IBM Plex Sans" pitchFamily="34" charset="-122"/>
                <a:cs typeface="IBM Plex Sans" pitchFamily="34" charset="-120"/>
              </a:rPr>
              <a:t>Built at Social Hackers Academy with React, an Express server, MongoDB and OpenAI.</a:t>
            </a:r>
            <a:endParaRPr lang="en-US" sz="1600" dirty="0"/>
          </a:p>
        </p:txBody>
      </p:sp>
      <p:sp>
        <p:nvSpPr>
          <p:cNvPr id="7" name="Shape 5"/>
          <p:cNvSpPr/>
          <p:nvPr/>
        </p:nvSpPr>
        <p:spPr>
          <a:xfrm>
            <a:off x="4409017" y="2495550"/>
            <a:ext cx="3373967" cy="2049357"/>
          </a:xfrm>
          <a:prstGeom prst="roundRect">
            <a:avLst>
              <a:gd name="adj" fmla="val 5887"/>
            </a:avLst>
          </a:prstGeom>
          <a:solidFill>
            <a:srgbClr val="FBF9F4"/>
          </a:solidFill>
          <a:ln w="12700">
            <a:solidFill>
              <a:srgbClr val="D9D3C4"/>
            </a:solidFill>
            <a:prstDash val="solid"/>
          </a:ln>
        </p:spPr>
      </p:sp>
      <p:sp>
        <p:nvSpPr>
          <p:cNvPr id="8" name="Text 6"/>
          <p:cNvSpPr/>
          <p:nvPr/>
        </p:nvSpPr>
        <p:spPr>
          <a:xfrm>
            <a:off x="4667885" y="2754418"/>
            <a:ext cx="2941917"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12202C"/>
                </a:solidFill>
                <a:latin typeface="Space Grotesk" pitchFamily="34" charset="0"/>
                <a:ea typeface="Space Grotesk" pitchFamily="34" charset="-122"/>
                <a:cs typeface="Space Grotesk" pitchFamily="34" charset="-120"/>
              </a:rPr>
              <a:t>A game for learners</a:t>
            </a:r>
            <a:endParaRPr lang="en-US" sz="2000" dirty="0"/>
          </a:p>
        </p:txBody>
      </p:sp>
      <p:sp>
        <p:nvSpPr>
          <p:cNvPr id="9" name="Text 7"/>
          <p:cNvSpPr/>
          <p:nvPr/>
        </p:nvSpPr>
        <p:spPr>
          <a:xfrm>
            <a:off x="4667885" y="3148118"/>
            <a:ext cx="2941917" cy="1163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4C59"/>
                </a:solidFill>
                <a:latin typeface="IBM Plex Sans" pitchFamily="34" charset="0"/>
                <a:ea typeface="IBM Plex Sans" pitchFamily="34" charset="-122"/>
                <a:cs typeface="IBM Plex Sans" pitchFamily="34" charset="-120"/>
              </a:rPr>
              <a:t>Guess the word to learn English vocabulary and pronunciation. Win a round and a painting rescues the robot.</a:t>
            </a:r>
            <a:endParaRPr lang="en-US" sz="1600" dirty="0"/>
          </a:p>
        </p:txBody>
      </p:sp>
      <p:sp>
        <p:nvSpPr>
          <p:cNvPr id="10" name="Shape 8"/>
          <p:cNvSpPr/>
          <p:nvPr/>
        </p:nvSpPr>
        <p:spPr>
          <a:xfrm>
            <a:off x="7998883" y="2495550"/>
            <a:ext cx="3373967" cy="2049357"/>
          </a:xfrm>
          <a:prstGeom prst="roundRect">
            <a:avLst>
              <a:gd name="adj" fmla="val 5887"/>
            </a:avLst>
          </a:prstGeom>
          <a:solidFill>
            <a:srgbClr val="12202C"/>
          </a:solidFill>
          <a:ln w="12700">
            <a:solidFill>
              <a:srgbClr val="12202C"/>
            </a:solidFill>
            <a:prstDash val="solid"/>
          </a:ln>
        </p:spPr>
      </p:sp>
      <p:sp>
        <p:nvSpPr>
          <p:cNvPr id="11" name="Text 9"/>
          <p:cNvSpPr/>
          <p:nvPr/>
        </p:nvSpPr>
        <p:spPr>
          <a:xfrm>
            <a:off x="8257752" y="2754418"/>
            <a:ext cx="2941917"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F2B544"/>
                </a:solidFill>
                <a:latin typeface="Space Grotesk" pitchFamily="34" charset="0"/>
                <a:ea typeface="Space Grotesk" pitchFamily="34" charset="-122"/>
                <a:cs typeface="Space Grotesk" pitchFamily="34" charset="-120"/>
              </a:rPr>
              <a:t>What was wrong</a:t>
            </a:r>
            <a:endParaRPr lang="en-US" sz="2000" dirty="0"/>
          </a:p>
        </p:txBody>
      </p:sp>
      <p:sp>
        <p:nvSpPr>
          <p:cNvPr id="12" name="Text 10"/>
          <p:cNvSpPr/>
          <p:nvPr/>
        </p:nvSpPr>
        <p:spPr>
          <a:xfrm>
            <a:off x="8257752" y="3148118"/>
            <a:ext cx="2941917" cy="1163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4E8EB"/>
                </a:solidFill>
                <a:latin typeface="IBM Plex Sans" pitchFamily="34" charset="0"/>
                <a:ea typeface="IBM Plex Sans" pitchFamily="34" charset="-122"/>
                <a:cs typeface="IBM Plex Sans" pitchFamily="34" charset="-120"/>
              </a:rPr>
              <a:t>Example sentences were LLM-written quotations attributed to real authors and works. That was wrong.</a:t>
            </a:r>
            <a:endParaRPr lang="en-US" sz="1600" dirty="0"/>
          </a:p>
        </p:txBody>
      </p:sp>
      <p:sp>
        <p:nvSpPr>
          <p:cNvPr id="13" name="Text 11"/>
          <p:cNvSpPr/>
          <p:nvPr/>
        </p:nvSpPr>
        <p:spPr>
          <a:xfrm>
            <a:off x="812800" y="6238239"/>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977"/>
                </a:solidFill>
                <a:latin typeface="IBM Plex Sans" pitchFamily="34" charset="0"/>
                <a:ea typeface="IBM Plex Sans" pitchFamily="34" charset="-122"/>
                <a:cs typeface="IBM Plex Sans" pitchFamily="34" charset="-120"/>
              </a:rPr>
              <a:t>Hangman: Rescue Mission</a:t>
            </a:r>
            <a:endParaRPr lang="en-US" sz="1200" dirty="0"/>
          </a:p>
        </p:txBody>
      </p:sp>
      <p:sp>
        <p:nvSpPr>
          <p:cNvPr id="14" name="Text 12"/>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977"/>
                </a:solidFill>
                <a:latin typeface="IBM Plex Sans" pitchFamily="34" charset="0"/>
                <a:ea typeface="IBM Plex Sans" pitchFamily="34" charset="-122"/>
                <a:cs typeface="IBM Plex Sans" pitchFamily="34" charset="-120"/>
              </a:rPr>
              <a:t>2 / 15</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B54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12202C"/>
                </a:solidFill>
                <a:latin typeface="JetBrains Mono" pitchFamily="49" charset="0"/>
                <a:ea typeface="JetBrains Mono" pitchFamily="49" charset="-122"/>
                <a:cs typeface="JetBrains Mono" pitchFamily="49" charset="-120"/>
              </a:rPr>
              <a:t>02 · THE DECISION</a:t>
            </a:r>
            <a:endParaRPr lang="en-US" sz="1200" dirty="0"/>
          </a:p>
        </p:txBody>
      </p:sp>
      <p:sp>
        <p:nvSpPr>
          <p:cNvPr id="3" name="Text 1"/>
          <p:cNvSpPr/>
          <p:nvPr>
            <p:ph type="title"/>
          </p:nvPr>
        </p:nvSpPr>
        <p:spPr>
          <a:xfrm>
            <a:off x="812800" y="1967441"/>
            <a:ext cx="10883392" cy="2098040"/>
          </a:xfrm>
          <a:prstGeom prst="rect">
            <a:avLst/>
          </a:prstGeom>
          <a:noFill/>
          <a:ln/>
        </p:spPr>
        <p:txBody>
          <a:bodyPr wrap="square" lIns="0" tIns="0" rIns="0" bIns="0" rtlCol="0" anchor="t">
            <a:normAutofit/>
          </a:bodyPr>
          <a:lstStyle/>
          <a:p>
            <a:pPr algn="l" indent="0" marL="0">
              <a:lnSpc>
                <a:spcPts val="8160"/>
              </a:lnSpc>
              <a:buNone/>
            </a:pPr>
            <a:r>
              <a:rPr lang="en-US" sz="8000" b="1" i="0" dirty="0">
                <a:solidFill>
                  <a:srgbClr val="12202C"/>
                </a:solidFill>
                <a:latin typeface="Space Grotesk" pitchFamily="34" charset="0"/>
                <a:ea typeface="Space Grotesk" pitchFamily="34" charset="-122"/>
                <a:cs typeface="Space Grotesk" pitchFamily="34" charset="-120"/>
              </a:rPr>
              <a:t>Rebuilt,</a:t>
            </a:r>
            <a:endParaRPr lang="en-US" sz="8000" dirty="0"/>
          </a:p>
          <a:p>
            <a:pPr algn="l" indent="0" marL="0">
              <a:lnSpc>
                <a:spcPts val="8160"/>
              </a:lnSpc>
              <a:buNone/>
            </a:pPr>
            <a:r>
              <a:rPr lang="en-US" sz="8000" b="1" i="0" dirty="0">
                <a:solidFill>
                  <a:srgbClr val="12202C"/>
                </a:solidFill>
                <a:latin typeface="Space Grotesk" pitchFamily="34" charset="0"/>
                <a:ea typeface="Space Grotesk" pitchFamily="34" charset="-122"/>
                <a:cs typeface="Space Grotesk" pitchFamily="34" charset="-120"/>
              </a:rPr>
              <a:t>not migrated.</a:t>
            </a:r>
            <a:endParaRPr lang="en-US" sz="8000" dirty="0"/>
          </a:p>
        </p:txBody>
      </p:sp>
      <p:sp>
        <p:nvSpPr>
          <p:cNvPr id="4" name="Shape 2"/>
          <p:cNvSpPr/>
          <p:nvPr/>
        </p:nvSpPr>
        <p:spPr>
          <a:xfrm>
            <a:off x="812800" y="4994063"/>
            <a:ext cx="3318933" cy="0"/>
          </a:xfrm>
          <a:prstGeom prst="line">
            <a:avLst/>
          </a:prstGeom>
          <a:noFill/>
          <a:ln w="25400">
            <a:solidFill>
              <a:srgbClr val="12202C"/>
            </a:solidFill>
            <a:prstDash val="solid"/>
          </a:ln>
        </p:spPr>
      </p:sp>
      <p:sp>
        <p:nvSpPr>
          <p:cNvPr id="5" name="Text 3"/>
          <p:cNvSpPr/>
          <p:nvPr/>
        </p:nvSpPr>
        <p:spPr>
          <a:xfrm>
            <a:off x="812800" y="5003800"/>
            <a:ext cx="3418501" cy="28956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2202C"/>
                </a:solidFill>
                <a:latin typeface="IBM Plex Sans" pitchFamily="34" charset="0"/>
                <a:ea typeface="IBM Plex Sans" pitchFamily="34" charset="-122"/>
                <a:cs typeface="IBM Plex Sans" pitchFamily="34" charset="-120"/>
              </a:rPr>
              <a:t>Real content only</a:t>
            </a:r>
            <a:endParaRPr lang="en-US" sz="1600" dirty="0"/>
          </a:p>
        </p:txBody>
      </p:sp>
      <p:sp>
        <p:nvSpPr>
          <p:cNvPr id="6" name="Text 4"/>
          <p:cNvSpPr/>
          <p:nvPr/>
        </p:nvSpPr>
        <p:spPr>
          <a:xfrm>
            <a:off x="812800" y="5344161"/>
            <a:ext cx="3418501"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A47"/>
                </a:solidFill>
                <a:latin typeface="IBM Plex Sans" pitchFamily="34" charset="0"/>
                <a:ea typeface="IBM Plex Sans" pitchFamily="34" charset="-122"/>
                <a:cs typeface="IBM Plex Sans" pitchFamily="34" charset="-120"/>
              </a:rPr>
              <a:t>Examples come from Merriam-Webster, with attribution.</a:t>
            </a:r>
            <a:endParaRPr lang="en-US" sz="1400" dirty="0"/>
          </a:p>
        </p:txBody>
      </p:sp>
      <p:sp>
        <p:nvSpPr>
          <p:cNvPr id="7" name="Shape 5"/>
          <p:cNvSpPr/>
          <p:nvPr/>
        </p:nvSpPr>
        <p:spPr>
          <a:xfrm>
            <a:off x="4436533" y="4994063"/>
            <a:ext cx="3318933" cy="0"/>
          </a:xfrm>
          <a:prstGeom prst="line">
            <a:avLst/>
          </a:prstGeom>
          <a:noFill/>
          <a:ln w="25400">
            <a:solidFill>
              <a:srgbClr val="12202C"/>
            </a:solidFill>
            <a:prstDash val="solid"/>
          </a:ln>
        </p:spPr>
      </p:sp>
      <p:sp>
        <p:nvSpPr>
          <p:cNvPr id="8" name="Text 6"/>
          <p:cNvSpPr/>
          <p:nvPr/>
        </p:nvSpPr>
        <p:spPr>
          <a:xfrm>
            <a:off x="4436533" y="5003800"/>
            <a:ext cx="3418501" cy="28956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2202C"/>
                </a:solidFill>
                <a:latin typeface="IBM Plex Sans" pitchFamily="34" charset="0"/>
                <a:ea typeface="IBM Plex Sans" pitchFamily="34" charset="-122"/>
                <a:cs typeface="IBM Plex Sans" pitchFamily="34" charset="-120"/>
              </a:rPr>
              <a:t>A modern stack</a:t>
            </a:r>
            <a:endParaRPr lang="en-US" sz="1600" dirty="0"/>
          </a:p>
        </p:txBody>
      </p:sp>
      <p:sp>
        <p:nvSpPr>
          <p:cNvPr id="9" name="Text 7"/>
          <p:cNvSpPr/>
          <p:nvPr/>
        </p:nvSpPr>
        <p:spPr>
          <a:xfrm>
            <a:off x="4436533" y="5344161"/>
            <a:ext cx="3418501"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A47"/>
                </a:solidFill>
                <a:latin typeface="IBM Plex Sans" pitchFamily="34" charset="0"/>
                <a:ea typeface="IBM Plex Sans" pitchFamily="34" charset="-122"/>
                <a:cs typeface="IBM Plex Sans" pitchFamily="34" charset="-120"/>
              </a:rPr>
              <a:t>Vite, Hono and D1 replace Create React App, Express and MongoDB.</a:t>
            </a:r>
            <a:endParaRPr lang="en-US" sz="1400" dirty="0"/>
          </a:p>
        </p:txBody>
      </p:sp>
      <p:sp>
        <p:nvSpPr>
          <p:cNvPr id="10" name="Shape 8"/>
          <p:cNvSpPr/>
          <p:nvPr/>
        </p:nvSpPr>
        <p:spPr>
          <a:xfrm>
            <a:off x="8060267" y="4994063"/>
            <a:ext cx="3318933" cy="0"/>
          </a:xfrm>
          <a:prstGeom prst="line">
            <a:avLst/>
          </a:prstGeom>
          <a:noFill/>
          <a:ln w="25400">
            <a:solidFill>
              <a:srgbClr val="12202C"/>
            </a:solidFill>
            <a:prstDash val="solid"/>
          </a:ln>
        </p:spPr>
      </p:sp>
      <p:sp>
        <p:nvSpPr>
          <p:cNvPr id="11" name="Text 9"/>
          <p:cNvSpPr/>
          <p:nvPr/>
        </p:nvSpPr>
        <p:spPr>
          <a:xfrm>
            <a:off x="8060267" y="5003800"/>
            <a:ext cx="3418501" cy="28956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2202C"/>
                </a:solidFill>
                <a:latin typeface="IBM Plex Sans" pitchFamily="34" charset="0"/>
                <a:ea typeface="IBM Plex Sans" pitchFamily="34" charset="-122"/>
                <a:cs typeface="IBM Plex Sans" pitchFamily="34" charset="-120"/>
              </a:rPr>
              <a:t>A $0 running cost</a:t>
            </a:r>
            <a:endParaRPr lang="en-US" sz="1600" dirty="0"/>
          </a:p>
        </p:txBody>
      </p:sp>
      <p:sp>
        <p:nvSpPr>
          <p:cNvPr id="12" name="Text 10"/>
          <p:cNvSpPr/>
          <p:nvPr/>
        </p:nvSpPr>
        <p:spPr>
          <a:xfrm>
            <a:off x="8060267" y="5344161"/>
            <a:ext cx="3418501"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A47"/>
                </a:solidFill>
                <a:latin typeface="IBM Plex Sans" pitchFamily="34" charset="0"/>
                <a:ea typeface="IBM Plex Sans" pitchFamily="34" charset="-122"/>
                <a:cs typeface="IBM Plex Sans" pitchFamily="34" charset="-120"/>
              </a:rPr>
              <a:t>Free-tier allowances are ceilings, never a reason to upgrade.</a:t>
            </a:r>
            <a:endParaRPr lang="en-US" sz="1400" dirty="0"/>
          </a:p>
        </p:txBody>
      </p:sp>
      <p:sp>
        <p:nvSpPr>
          <p:cNvPr id="13" name="Text 11"/>
          <p:cNvSpPr/>
          <p:nvPr/>
        </p:nvSpPr>
        <p:spPr>
          <a:xfrm>
            <a:off x="812800" y="6238239"/>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A47"/>
                </a:solidFill>
                <a:latin typeface="IBM Plex Sans" pitchFamily="34" charset="0"/>
                <a:ea typeface="IBM Plex Sans" pitchFamily="34" charset="-122"/>
                <a:cs typeface="IBM Plex Sans" pitchFamily="34" charset="-120"/>
              </a:rPr>
              <a:t>Hangman: Rescue Mission</a:t>
            </a:r>
            <a:endParaRPr lang="en-US" sz="1200" dirty="0"/>
          </a:p>
        </p:txBody>
      </p:sp>
      <p:sp>
        <p:nvSpPr>
          <p:cNvPr id="14" name="Text 12"/>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2B3A47"/>
                </a:solidFill>
                <a:latin typeface="IBM Plex Sans" pitchFamily="34" charset="0"/>
                <a:ea typeface="IBM Plex Sans" pitchFamily="34" charset="-122"/>
                <a:cs typeface="IBM Plex Sans" pitchFamily="34" charset="-120"/>
              </a:rPr>
              <a:t>3 / 15</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E7C70"/>
                </a:solidFill>
                <a:latin typeface="JetBrains Mono" pitchFamily="49" charset="0"/>
                <a:ea typeface="JetBrains Mono" pitchFamily="49" charset="-122"/>
                <a:cs typeface="JetBrains Mono" pitchFamily="49" charset="-120"/>
              </a:rPr>
              <a:t>03 · THE PRODUCT</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202C"/>
                </a:solidFill>
                <a:latin typeface="Space Grotesk" pitchFamily="34" charset="0"/>
                <a:ea typeface="Space Grotesk" pitchFamily="34" charset="-122"/>
                <a:cs typeface="Space Grotesk" pitchFamily="34" charset="-120"/>
              </a:rPr>
              <a:t>Save a robot by guessing the word</a:t>
            </a:r>
            <a:endParaRPr lang="en-US" sz="3600" dirty="0"/>
          </a:p>
        </p:txBody>
      </p:sp>
      <p:pic>
        <p:nvPicPr>
          <p:cNvPr id="4" name="Image 0" descr="The live Hangman game mid-round: the robot Artsy is offline with a reboot bar at 25 percent, the first hint shows the synonym summit, two letters are revealed and five of six attempts remain.">    </p:cNvPr>
          <p:cNvPicPr>
            <a:picLocks noChangeAspect="1"/>
          </p:cNvPicPr>
          <p:nvPr/>
        </p:nvPicPr>
        <p:blipFill>
          <a:blip r:embed="rId1"/>
          <a:srcRect l="0" r="0" t="149" b="149"/>
          <a:stretch/>
        </p:blipFill>
        <p:spPr>
          <a:xfrm>
            <a:off x="825500" y="1948180"/>
            <a:ext cx="5105400" cy="3181350"/>
          </a:xfrm>
          <a:prstGeom prst="roundRect">
            <a:avLst>
              <a:gd name="adj" fmla="val 2794"/>
            </a:avLst>
          </a:prstGeom>
        </p:spPr>
      </p:pic>
      <p:sp>
        <p:nvSpPr>
          <p:cNvPr id="5" name="Shape 2"/>
          <p:cNvSpPr/>
          <p:nvPr/>
        </p:nvSpPr>
        <p:spPr>
          <a:xfrm>
            <a:off x="819150" y="1941830"/>
            <a:ext cx="5118100" cy="3194050"/>
          </a:xfrm>
          <a:prstGeom prst="roundRect">
            <a:avLst>
              <a:gd name="adj" fmla="val 2982"/>
            </a:avLst>
          </a:prstGeom>
          <a:noFill/>
          <a:ln w="12700">
            <a:solidFill>
              <a:srgbClr val="D9D3C4"/>
            </a:solidFill>
            <a:prstDash val="solid"/>
          </a:ln>
        </p:spPr>
      </p:sp>
      <p:sp>
        <p:nvSpPr>
          <p:cNvPr id="6" name="Text 3"/>
          <p:cNvSpPr/>
          <p:nvPr/>
        </p:nvSpPr>
        <p:spPr>
          <a:xfrm>
            <a:off x="812800" y="5243830"/>
            <a:ext cx="5284724" cy="50546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3E4C59"/>
                </a:solidFill>
                <a:latin typeface="IBM Plex Sans" pitchFamily="34" charset="0"/>
                <a:ea typeface="IBM Plex Sans" pitchFamily="34" charset="-122"/>
                <a:cs typeface="IBM Plex Sans" pitchFamily="34" charset="-120"/>
              </a:rPr>
              <a:t>The game.</a:t>
            </a:r>
            <a:r>
              <a:rPr lang="en-US" sz="1400" dirty="0">
                <a:solidFill>
                  <a:srgbClr val="3E4C59"/>
                </a:solidFill>
                <a:latin typeface="IBM Plex Sans" pitchFamily="34" charset="0"/>
                <a:ea typeface="IBM Plex Sans" pitchFamily="34" charset="-122"/>
                <a:cs typeface="IBM Plex Sans" pitchFamily="34" charset="-120"/>
              </a:rPr>
              <a:t> Each right letter reboots Artsy. Each wrong one costs an attempt.</a:t>
            </a:r>
            <a:endParaRPr lang="en-US" sz="1400" dirty="0"/>
          </a:p>
        </p:txBody>
      </p:sp>
      <p:pic>
        <p:nvPicPr>
          <p:cNvPr id="7" name="Image 1" descr="The win screen: Artsy is back online beside a rescued landscape painting, with the word mountain, its Merriam-Webster definition and pronunciation, and the dictionary attribution.">    </p:cNvPr>
          <p:cNvPicPr>
            <a:picLocks noChangeAspect="1"/>
          </p:cNvPicPr>
          <p:nvPr/>
        </p:nvPicPr>
        <p:blipFill>
          <a:blip r:embed="rId2"/>
          <a:srcRect l="0" r="0" t="149" b="149"/>
          <a:stretch/>
        </p:blipFill>
        <p:spPr>
          <a:xfrm>
            <a:off x="6261100" y="1948180"/>
            <a:ext cx="5105400" cy="3181350"/>
          </a:xfrm>
          <a:prstGeom prst="roundRect">
            <a:avLst>
              <a:gd name="adj" fmla="val 2794"/>
            </a:avLst>
          </a:prstGeom>
        </p:spPr>
      </p:pic>
      <p:sp>
        <p:nvSpPr>
          <p:cNvPr id="8" name="Shape 4"/>
          <p:cNvSpPr/>
          <p:nvPr/>
        </p:nvSpPr>
        <p:spPr>
          <a:xfrm>
            <a:off x="6254750" y="1941830"/>
            <a:ext cx="5118100" cy="3194050"/>
          </a:xfrm>
          <a:prstGeom prst="roundRect">
            <a:avLst>
              <a:gd name="adj" fmla="val 2982"/>
            </a:avLst>
          </a:prstGeom>
          <a:noFill/>
          <a:ln w="12700">
            <a:solidFill>
              <a:srgbClr val="D9D3C4"/>
            </a:solidFill>
            <a:prstDash val="solid"/>
          </a:ln>
        </p:spPr>
      </p:sp>
      <p:sp>
        <p:nvSpPr>
          <p:cNvPr id="9" name="Text 5"/>
          <p:cNvSpPr/>
          <p:nvPr/>
        </p:nvSpPr>
        <p:spPr>
          <a:xfrm>
            <a:off x="6248400" y="5243830"/>
            <a:ext cx="5284724" cy="50546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3E4C59"/>
                </a:solidFill>
                <a:latin typeface="IBM Plex Sans" pitchFamily="34" charset="0"/>
                <a:ea typeface="IBM Plex Sans" pitchFamily="34" charset="-122"/>
                <a:cs typeface="IBM Plex Sans" pitchFamily="34" charset="-120"/>
              </a:rPr>
              <a:t>The reward.</a:t>
            </a:r>
            <a:r>
              <a:rPr lang="en-US" sz="1400" dirty="0">
                <a:solidFill>
                  <a:srgbClr val="3E4C59"/>
                </a:solidFill>
                <a:latin typeface="IBM Plex Sans" pitchFamily="34" charset="0"/>
                <a:ea typeface="IBM Plex Sans" pitchFamily="34" charset="-122"/>
                <a:cs typeface="IBM Plex Sans" pitchFamily="34" charset="-120"/>
              </a:rPr>
              <a:t> A win shows a rescued painting and the dictionary entry, with attribution.</a:t>
            </a:r>
            <a:endParaRPr lang="en-US" sz="1400" dirty="0"/>
          </a:p>
        </p:txBody>
      </p:sp>
      <p:sp>
        <p:nvSpPr>
          <p:cNvPr id="10" name="Text 6"/>
          <p:cNvSpPr/>
          <p:nvPr/>
        </p:nvSpPr>
        <p:spPr>
          <a:xfrm>
            <a:off x="812800" y="6238239"/>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977"/>
                </a:solidFill>
                <a:latin typeface="IBM Plex Sans" pitchFamily="34" charset="0"/>
                <a:ea typeface="IBM Plex Sans" pitchFamily="34" charset="-122"/>
                <a:cs typeface="IBM Plex Sans" pitchFamily="34" charset="-120"/>
              </a:rPr>
              <a:t>Screenshots of hangman.spyrostrimis.com, taken as a signed-out guest.</a:t>
            </a:r>
            <a:endParaRPr lang="en-US" sz="1200" dirty="0"/>
          </a:p>
        </p:txBody>
      </p:sp>
      <p:sp>
        <p:nvSpPr>
          <p:cNvPr id="11" name="Text 7"/>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977"/>
                </a:solidFill>
                <a:latin typeface="IBM Plex Sans" pitchFamily="34" charset="0"/>
                <a:ea typeface="IBM Plex Sans" pitchFamily="34" charset="-122"/>
                <a:cs typeface="IBM Plex Sans" pitchFamily="34" charset="-120"/>
              </a:rPr>
              <a:t>4 / 15</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A2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F2B544"/>
                </a:solidFill>
                <a:latin typeface="JetBrains Mono" pitchFamily="49" charset="0"/>
                <a:ea typeface="JetBrains Mono" pitchFamily="49" charset="-122"/>
                <a:cs typeface="JetBrains Mono" pitchFamily="49" charset="-120"/>
              </a:rPr>
              <a:t>04 · IN USE</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1EA"/>
                </a:solidFill>
                <a:latin typeface="Space Grotesk" pitchFamily="34" charset="0"/>
                <a:ea typeface="Space Grotesk" pitchFamily="34" charset="-122"/>
                <a:cs typeface="Space Grotesk" pitchFamily="34" charset="-120"/>
              </a:rPr>
              <a:t>A public leaderboard, on any screen</a:t>
            </a:r>
            <a:endParaRPr lang="en-US" sz="3600" dirty="0"/>
          </a:p>
        </p:txBody>
      </p:sp>
      <p:pic>
        <p:nvPicPr>
          <p:cNvPr id="4" name="Image 0" descr="The Hall of Fame page: a ranked table of four players with their scores, over a moon background.">    </p:cNvPr>
          <p:cNvPicPr>
            <a:picLocks noChangeAspect="1"/>
          </p:cNvPicPr>
          <p:nvPr/>
        </p:nvPicPr>
        <p:blipFill>
          <a:blip r:embed="rId1"/>
          <a:srcRect l="0" r="0" t="137" b="137"/>
          <a:stretch/>
        </p:blipFill>
        <p:spPr>
          <a:xfrm>
            <a:off x="825500" y="1948179"/>
            <a:ext cx="5562600" cy="3467100"/>
          </a:xfrm>
          <a:prstGeom prst="roundRect">
            <a:avLst>
              <a:gd name="adj" fmla="val 2564"/>
            </a:avLst>
          </a:prstGeom>
        </p:spPr>
      </p:pic>
      <p:sp>
        <p:nvSpPr>
          <p:cNvPr id="5" name="Shape 2"/>
          <p:cNvSpPr/>
          <p:nvPr/>
        </p:nvSpPr>
        <p:spPr>
          <a:xfrm>
            <a:off x="819150" y="1941829"/>
            <a:ext cx="5575300" cy="3479800"/>
          </a:xfrm>
          <a:prstGeom prst="roundRect">
            <a:avLst>
              <a:gd name="adj" fmla="val 2737"/>
            </a:avLst>
          </a:prstGeom>
          <a:noFill/>
          <a:ln w="12700">
            <a:solidFill>
              <a:srgbClr val="28425A"/>
            </a:solidFill>
            <a:prstDash val="solid"/>
          </a:ln>
        </p:spPr>
      </p:sp>
      <p:sp>
        <p:nvSpPr>
          <p:cNvPr id="6" name="Text 3"/>
          <p:cNvSpPr/>
          <p:nvPr/>
        </p:nvSpPr>
        <p:spPr>
          <a:xfrm>
            <a:off x="812800" y="5529579"/>
            <a:ext cx="5755640" cy="26543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F4F1EA"/>
                </a:solidFill>
                <a:latin typeface="IBM Plex Sans" pitchFamily="34" charset="0"/>
                <a:ea typeface="IBM Plex Sans" pitchFamily="34" charset="-122"/>
                <a:cs typeface="IBM Plex Sans" pitchFamily="34" charset="-120"/>
              </a:rPr>
              <a:t>Hall of Fame.</a:t>
            </a:r>
            <a:r>
              <a:rPr lang="en-US" sz="1400" dirty="0">
                <a:solidFill>
                  <a:srgbClr val="A9BAC8"/>
                </a:solidFill>
                <a:latin typeface="IBM Plex Sans" pitchFamily="34" charset="0"/>
                <a:ea typeface="IBM Plex Sans" pitchFamily="34" charset="-122"/>
                <a:cs typeface="IBM Plex Sans" pitchFamily="34" charset="-120"/>
              </a:rPr>
              <a:t> Real accounts, real scores.</a:t>
            </a:r>
            <a:endParaRPr lang="en-US" sz="1400" dirty="0"/>
          </a:p>
        </p:txBody>
      </p:sp>
      <p:pic>
        <p:nvPicPr>
          <p:cNvPr id="7" name="Image 1" descr="The Hangman game on a phone: the reboot panel, Professor's notes, a two-letter word pattern and the keyboard.">    </p:cNvPr>
          <p:cNvPicPr>
            <a:picLocks noChangeAspect="1"/>
          </p:cNvPicPr>
          <p:nvPr/>
        </p:nvPicPr>
        <p:blipFill>
          <a:blip r:embed="rId2"/>
          <a:srcRect l="470" r="470" t="0" b="0"/>
          <a:stretch/>
        </p:blipFill>
        <p:spPr>
          <a:xfrm>
            <a:off x="6616700" y="1948179"/>
            <a:ext cx="1587500" cy="3467100"/>
          </a:xfrm>
          <a:prstGeom prst="roundRect">
            <a:avLst>
              <a:gd name="adj" fmla="val 5600"/>
            </a:avLst>
          </a:prstGeom>
        </p:spPr>
      </p:pic>
      <p:sp>
        <p:nvSpPr>
          <p:cNvPr id="8" name="Shape 4"/>
          <p:cNvSpPr/>
          <p:nvPr/>
        </p:nvSpPr>
        <p:spPr>
          <a:xfrm>
            <a:off x="6610350" y="1941829"/>
            <a:ext cx="1600200" cy="3479800"/>
          </a:xfrm>
          <a:prstGeom prst="roundRect">
            <a:avLst>
              <a:gd name="adj" fmla="val 5952"/>
            </a:avLst>
          </a:prstGeom>
          <a:noFill/>
          <a:ln w="12700">
            <a:solidFill>
              <a:srgbClr val="28425A"/>
            </a:solidFill>
            <a:prstDash val="solid"/>
          </a:ln>
        </p:spPr>
      </p:sp>
      <p:sp>
        <p:nvSpPr>
          <p:cNvPr id="9" name="Text 5"/>
          <p:cNvSpPr/>
          <p:nvPr/>
        </p:nvSpPr>
        <p:spPr>
          <a:xfrm>
            <a:off x="6604000" y="5529579"/>
            <a:ext cx="1663700" cy="26543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F4F1EA"/>
                </a:solidFill>
                <a:latin typeface="IBM Plex Sans" pitchFamily="34" charset="0"/>
                <a:ea typeface="IBM Plex Sans" pitchFamily="34" charset="-122"/>
                <a:cs typeface="IBM Plex Sans" pitchFamily="34" charset="-120"/>
              </a:rPr>
              <a:t>On a phone.</a:t>
            </a:r>
            <a:endParaRPr lang="en-US" sz="1400" dirty="0"/>
          </a:p>
        </p:txBody>
      </p:sp>
      <p:sp>
        <p:nvSpPr>
          <p:cNvPr id="10" name="Shape 6"/>
          <p:cNvSpPr/>
          <p:nvPr/>
        </p:nvSpPr>
        <p:spPr>
          <a:xfrm>
            <a:off x="8426450" y="1941829"/>
            <a:ext cx="2946400" cy="2427817"/>
          </a:xfrm>
          <a:prstGeom prst="roundRect">
            <a:avLst>
              <a:gd name="adj" fmla="val 4969"/>
            </a:avLst>
          </a:prstGeom>
          <a:solidFill>
            <a:srgbClr val="172A3B"/>
          </a:solidFill>
          <a:ln w="12700">
            <a:solidFill>
              <a:srgbClr val="28425A"/>
            </a:solidFill>
            <a:prstDash val="solid"/>
          </a:ln>
        </p:spPr>
      </p:sp>
      <p:sp>
        <p:nvSpPr>
          <p:cNvPr id="11" name="Text 7"/>
          <p:cNvSpPr/>
          <p:nvPr/>
        </p:nvSpPr>
        <p:spPr>
          <a:xfrm>
            <a:off x="8659918" y="2175300"/>
            <a:ext cx="255384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B544"/>
                </a:solidFill>
                <a:latin typeface="JetBrains Mono" pitchFamily="49" charset="0"/>
                <a:ea typeface="JetBrains Mono" pitchFamily="49" charset="-122"/>
                <a:cs typeface="JetBrains Mono" pitchFamily="49" charset="-120"/>
              </a:rPr>
              <a:t>Worth knowing</a:t>
            </a:r>
            <a:endParaRPr lang="en-US" sz="1200" dirty="0"/>
          </a:p>
        </p:txBody>
      </p:sp>
      <p:sp>
        <p:nvSpPr>
          <p:cNvPr id="12" name="Text 8"/>
          <p:cNvSpPr/>
          <p:nvPr/>
        </p:nvSpPr>
        <p:spPr>
          <a:xfrm>
            <a:off x="8659918" y="2515657"/>
            <a:ext cx="2553847"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4E8EB"/>
                </a:solidFill>
                <a:latin typeface="IBM Plex Sans" pitchFamily="34" charset="0"/>
                <a:ea typeface="IBM Plex Sans" pitchFamily="34" charset="-122"/>
                <a:cs typeface="IBM Plex Sans" pitchFamily="34" charset="-120"/>
              </a:rPr>
              <a:t>Guests play for free. Signed-in players earn 100 points per rescue.</a:t>
            </a:r>
            <a:endParaRPr lang="en-US" sz="1400" dirty="0"/>
          </a:p>
        </p:txBody>
      </p:sp>
      <p:sp>
        <p:nvSpPr>
          <p:cNvPr id="13" name="Text 9"/>
          <p:cNvSpPr/>
          <p:nvPr/>
        </p:nvSpPr>
        <p:spPr>
          <a:xfrm>
            <a:off x="8659918" y="3389418"/>
            <a:ext cx="2553847"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4E8EB"/>
                </a:solidFill>
                <a:latin typeface="IBM Plex Sans" pitchFamily="34" charset="0"/>
                <a:ea typeface="IBM Plex Sans" pitchFamily="34" charset="-122"/>
                <a:cs typeface="IBM Plex Sans" pitchFamily="34" charset="-120"/>
              </a:rPr>
              <a:t>The phone layout got its own pass, confirmed on a real device.</a:t>
            </a:r>
            <a:endParaRPr lang="en-US" sz="1400" dirty="0"/>
          </a:p>
        </p:txBody>
      </p:sp>
      <p:sp>
        <p:nvSpPr>
          <p:cNvPr id="14" name="Text 10"/>
          <p:cNvSpPr/>
          <p:nvPr/>
        </p:nvSpPr>
        <p:spPr>
          <a:xfrm>
            <a:off x="812800" y="6238239"/>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296A6"/>
                </a:solidFill>
                <a:latin typeface="IBM Plex Sans" pitchFamily="34" charset="0"/>
                <a:ea typeface="IBM Plex Sans" pitchFamily="34" charset="-122"/>
                <a:cs typeface="IBM Plex Sans" pitchFamily="34" charset="-120"/>
              </a:rPr>
              <a:t>Screenshots of hangman.spyrostrimis.com, October 2026.</a:t>
            </a:r>
            <a:endParaRPr lang="en-US" sz="1200" dirty="0"/>
          </a:p>
        </p:txBody>
      </p:sp>
      <p:sp>
        <p:nvSpPr>
          <p:cNvPr id="15" name="Text 11"/>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296A6"/>
                </a:solidFill>
                <a:latin typeface="IBM Plex Sans" pitchFamily="34" charset="0"/>
                <a:ea typeface="IBM Plex Sans" pitchFamily="34" charset="-122"/>
                <a:cs typeface="IBM Plex Sans" pitchFamily="34" charset="-120"/>
              </a:rPr>
              <a:t>5 / 15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A2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F2B544"/>
                </a:solidFill>
                <a:latin typeface="JetBrains Mono" pitchFamily="49" charset="0"/>
                <a:ea typeface="JetBrains Mono" pitchFamily="49" charset="-122"/>
                <a:cs typeface="JetBrains Mono" pitchFamily="49" charset="-120"/>
              </a:rPr>
              <a:t>05 · ARCHITECTURE</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1EA"/>
                </a:solidFill>
                <a:latin typeface="Space Grotesk" pitchFamily="34" charset="0"/>
                <a:ea typeface="Space Grotesk" pitchFamily="34" charset="-122"/>
                <a:cs typeface="Space Grotesk" pitchFamily="34" charset="-120"/>
              </a:rPr>
              <a:t>All on Cloudflare's free tier</a:t>
            </a:r>
            <a:endParaRPr lang="en-US" sz="3600" dirty="0"/>
          </a:p>
        </p:txBody>
      </p:sp>
      <p:sp>
        <p:nvSpPr>
          <p:cNvPr id="4" name="Shape 2"/>
          <p:cNvSpPr/>
          <p:nvPr/>
        </p:nvSpPr>
        <p:spPr>
          <a:xfrm>
            <a:off x="819150" y="1941829"/>
            <a:ext cx="3035300" cy="1587077"/>
          </a:xfrm>
          <a:prstGeom prst="roundRect">
            <a:avLst>
              <a:gd name="adj" fmla="val 7602"/>
            </a:avLst>
          </a:prstGeom>
          <a:solidFill>
            <a:srgbClr val="172A3B"/>
          </a:solidFill>
          <a:ln w="12700">
            <a:solidFill>
              <a:srgbClr val="28425A"/>
            </a:solidFill>
            <a:prstDash val="solid"/>
          </a:ln>
        </p:spPr>
      </p:sp>
      <p:sp>
        <p:nvSpPr>
          <p:cNvPr id="5" name="Text 3"/>
          <p:cNvSpPr/>
          <p:nvPr/>
        </p:nvSpPr>
        <p:spPr>
          <a:xfrm>
            <a:off x="1027218" y="2170218"/>
            <a:ext cx="5486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B544"/>
                </a:solidFill>
                <a:latin typeface="JetBrains Mono" pitchFamily="49" charset="0"/>
                <a:ea typeface="JetBrains Mono" pitchFamily="49" charset="-122"/>
                <a:cs typeface="JetBrains Mono" pitchFamily="49" charset="-120"/>
              </a:rPr>
              <a:t>Pages</a:t>
            </a:r>
            <a:endParaRPr lang="en-US" sz="1200" dirty="0"/>
          </a:p>
        </p:txBody>
      </p:sp>
      <p:pic>
        <p:nvPicPr>
          <p:cNvPr id="6" name="Image 0" descr="Globe">    </p:cNvPr>
          <p:cNvPicPr>
            <a:picLocks noChangeAspect="1"/>
          </p:cNvPicPr>
          <p:nvPr/>
        </p:nvPicPr>
        <p:blipFill>
          <a:blip r:embed="rId1"/>
          <a:srcRect l="0" r="0" t="0" b="0"/>
          <a:stretch/>
        </p:blipFill>
        <p:spPr>
          <a:xfrm>
            <a:off x="3392382" y="2149900"/>
            <a:ext cx="254000" cy="254000"/>
          </a:xfrm>
          <a:prstGeom prst="rect">
            <a:avLst/>
          </a:prstGeom>
        </p:spPr>
      </p:pic>
      <p:sp>
        <p:nvSpPr>
          <p:cNvPr id="7" name="Text 4"/>
          <p:cNvSpPr/>
          <p:nvPr/>
        </p:nvSpPr>
        <p:spPr>
          <a:xfrm>
            <a:off x="1027218" y="2467400"/>
            <a:ext cx="2697738"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F4F1EA"/>
                </a:solidFill>
                <a:latin typeface="Space Grotesk" pitchFamily="34" charset="0"/>
                <a:ea typeface="Space Grotesk" pitchFamily="34" charset="-122"/>
                <a:cs typeface="Space Grotesk" pitchFamily="34" charset="-120"/>
              </a:rPr>
              <a:t>React client</a:t>
            </a:r>
            <a:endParaRPr lang="en-US" sz="2000" dirty="0"/>
          </a:p>
        </p:txBody>
      </p:sp>
      <p:sp>
        <p:nvSpPr>
          <p:cNvPr id="8" name="Text 5"/>
          <p:cNvSpPr/>
          <p:nvPr/>
        </p:nvSpPr>
        <p:spPr>
          <a:xfrm>
            <a:off x="1027218" y="2823000"/>
            <a:ext cx="269773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AC8"/>
                </a:solidFill>
                <a:latin typeface="IBM Plex Sans" pitchFamily="34" charset="0"/>
                <a:ea typeface="IBM Plex Sans" pitchFamily="34" charset="-122"/>
                <a:cs typeface="IBM Plex Sans" pitchFamily="34" charset="-120"/>
              </a:rPr>
              <a:t>React 18 and Vite. A push to main deploys it.</a:t>
            </a:r>
            <a:endParaRPr lang="en-US" sz="1400" dirty="0"/>
          </a:p>
        </p:txBody>
      </p:sp>
      <p:pic>
        <p:nvPicPr>
          <p:cNvPr id="9" name="Image 1" descr="arrow-right">    </p:cNvPr>
          <p:cNvPicPr>
            <a:picLocks noChangeAspect="1"/>
          </p:cNvPicPr>
          <p:nvPr/>
        </p:nvPicPr>
        <p:blipFill>
          <a:blip r:embed="rId2"/>
          <a:srcRect l="0" r="0" t="0" b="0"/>
          <a:stretch/>
        </p:blipFill>
        <p:spPr>
          <a:xfrm>
            <a:off x="4013200" y="2633768"/>
            <a:ext cx="406400" cy="203200"/>
          </a:xfrm>
          <a:prstGeom prst="rect">
            <a:avLst/>
          </a:prstGeom>
        </p:spPr>
      </p:pic>
      <p:sp>
        <p:nvSpPr>
          <p:cNvPr id="10" name="Shape 6"/>
          <p:cNvSpPr/>
          <p:nvPr/>
        </p:nvSpPr>
        <p:spPr>
          <a:xfrm>
            <a:off x="4578350" y="1941829"/>
            <a:ext cx="3035300" cy="1587077"/>
          </a:xfrm>
          <a:prstGeom prst="roundRect">
            <a:avLst>
              <a:gd name="adj" fmla="val 7602"/>
            </a:avLst>
          </a:prstGeom>
          <a:solidFill>
            <a:srgbClr val="172A3B"/>
          </a:solidFill>
          <a:ln w="12700">
            <a:solidFill>
              <a:srgbClr val="28425A"/>
            </a:solidFill>
            <a:prstDash val="solid"/>
          </a:ln>
        </p:spPr>
      </p:sp>
      <p:sp>
        <p:nvSpPr>
          <p:cNvPr id="11" name="Text 7"/>
          <p:cNvSpPr/>
          <p:nvPr/>
        </p:nvSpPr>
        <p:spPr>
          <a:xfrm>
            <a:off x="4786418" y="2170218"/>
            <a:ext cx="76809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B544"/>
                </a:solidFill>
                <a:latin typeface="JetBrains Mono" pitchFamily="49" charset="0"/>
                <a:ea typeface="JetBrains Mono" pitchFamily="49" charset="-122"/>
                <a:cs typeface="JetBrains Mono" pitchFamily="49" charset="-120"/>
              </a:rPr>
              <a:t>Workers</a:t>
            </a:r>
            <a:endParaRPr lang="en-US" sz="1200" dirty="0"/>
          </a:p>
        </p:txBody>
      </p:sp>
      <p:pic>
        <p:nvPicPr>
          <p:cNvPr id="12" name="Image 2" descr="Lightning">    </p:cNvPr>
          <p:cNvPicPr>
            <a:picLocks noChangeAspect="1"/>
          </p:cNvPicPr>
          <p:nvPr/>
        </p:nvPicPr>
        <p:blipFill>
          <a:blip r:embed="rId3"/>
          <a:srcRect l="0" r="0" t="0" b="0"/>
          <a:stretch/>
        </p:blipFill>
        <p:spPr>
          <a:xfrm>
            <a:off x="7151582" y="2149900"/>
            <a:ext cx="254000" cy="254000"/>
          </a:xfrm>
          <a:prstGeom prst="rect">
            <a:avLst/>
          </a:prstGeom>
        </p:spPr>
      </p:pic>
      <p:sp>
        <p:nvSpPr>
          <p:cNvPr id="13" name="Text 8"/>
          <p:cNvSpPr/>
          <p:nvPr/>
        </p:nvSpPr>
        <p:spPr>
          <a:xfrm>
            <a:off x="4786418" y="2467400"/>
            <a:ext cx="2697738"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F4F1EA"/>
                </a:solidFill>
                <a:latin typeface="Space Grotesk" pitchFamily="34" charset="0"/>
                <a:ea typeface="Space Grotesk" pitchFamily="34" charset="-122"/>
                <a:cs typeface="Space Grotesk" pitchFamily="34" charset="-120"/>
              </a:rPr>
              <a:t>Hono API</a:t>
            </a:r>
            <a:endParaRPr lang="en-US" sz="2000" dirty="0"/>
          </a:p>
        </p:txBody>
      </p:sp>
      <p:sp>
        <p:nvSpPr>
          <p:cNvPr id="14" name="Text 9"/>
          <p:cNvSpPr/>
          <p:nvPr/>
        </p:nvSpPr>
        <p:spPr>
          <a:xfrm>
            <a:off x="4786418" y="2823000"/>
            <a:ext cx="269773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AC8"/>
                </a:solidFill>
                <a:latin typeface="IBM Plex Sans" pitchFamily="34" charset="0"/>
                <a:ea typeface="IBM Plex Sans" pitchFamily="34" charset="-122"/>
                <a:cs typeface="IBM Plex Sans" pitchFamily="34" charset="-120"/>
              </a:rPr>
              <a:t>Routed under /user/*, deployed with wrangler.</a:t>
            </a:r>
            <a:endParaRPr lang="en-US" sz="1400" dirty="0"/>
          </a:p>
        </p:txBody>
      </p:sp>
      <p:pic>
        <p:nvPicPr>
          <p:cNvPr id="15" name="Image 3" descr="arrow-right">    </p:cNvPr>
          <p:cNvPicPr>
            <a:picLocks noChangeAspect="1"/>
          </p:cNvPicPr>
          <p:nvPr/>
        </p:nvPicPr>
        <p:blipFill>
          <a:blip r:embed="rId4"/>
          <a:srcRect l="0" r="0" t="0" b="0"/>
          <a:stretch/>
        </p:blipFill>
        <p:spPr>
          <a:xfrm>
            <a:off x="7772400" y="2633768"/>
            <a:ext cx="406400" cy="203200"/>
          </a:xfrm>
          <a:prstGeom prst="rect">
            <a:avLst/>
          </a:prstGeom>
        </p:spPr>
      </p:pic>
      <p:sp>
        <p:nvSpPr>
          <p:cNvPr id="16" name="Shape 10"/>
          <p:cNvSpPr/>
          <p:nvPr/>
        </p:nvSpPr>
        <p:spPr>
          <a:xfrm>
            <a:off x="8337550" y="1941829"/>
            <a:ext cx="3035300" cy="1587077"/>
          </a:xfrm>
          <a:prstGeom prst="roundRect">
            <a:avLst>
              <a:gd name="adj" fmla="val 7602"/>
            </a:avLst>
          </a:prstGeom>
          <a:solidFill>
            <a:srgbClr val="172A3B"/>
          </a:solidFill>
          <a:ln w="12700">
            <a:solidFill>
              <a:srgbClr val="28425A"/>
            </a:solidFill>
            <a:prstDash val="solid"/>
          </a:ln>
        </p:spPr>
      </p:sp>
      <p:sp>
        <p:nvSpPr>
          <p:cNvPr id="17" name="Text 11"/>
          <p:cNvSpPr/>
          <p:nvPr/>
        </p:nvSpPr>
        <p:spPr>
          <a:xfrm>
            <a:off x="8545618" y="2170218"/>
            <a:ext cx="2336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B544"/>
                </a:solidFill>
                <a:latin typeface="JetBrains Mono" pitchFamily="49" charset="0"/>
                <a:ea typeface="JetBrains Mono" pitchFamily="49" charset="-122"/>
                <a:cs typeface="JetBrains Mono" pitchFamily="49" charset="-120"/>
              </a:rPr>
              <a:t>D1</a:t>
            </a:r>
            <a:endParaRPr lang="en-US" sz="1200" dirty="0"/>
          </a:p>
        </p:txBody>
      </p:sp>
      <p:pic>
        <p:nvPicPr>
          <p:cNvPr id="18" name="Image 4" descr="Database">    </p:cNvPr>
          <p:cNvPicPr>
            <a:picLocks noChangeAspect="1"/>
          </p:cNvPicPr>
          <p:nvPr/>
        </p:nvPicPr>
        <p:blipFill>
          <a:blip r:embed="rId5"/>
          <a:srcRect l="0" r="0" t="0" b="0"/>
          <a:stretch/>
        </p:blipFill>
        <p:spPr>
          <a:xfrm>
            <a:off x="10910782" y="2149900"/>
            <a:ext cx="254000" cy="254000"/>
          </a:xfrm>
          <a:prstGeom prst="rect">
            <a:avLst/>
          </a:prstGeom>
        </p:spPr>
      </p:pic>
      <p:sp>
        <p:nvSpPr>
          <p:cNvPr id="19" name="Text 12"/>
          <p:cNvSpPr/>
          <p:nvPr/>
        </p:nvSpPr>
        <p:spPr>
          <a:xfrm>
            <a:off x="8545618" y="2467400"/>
            <a:ext cx="2820882"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F4F1EA"/>
                </a:solidFill>
                <a:latin typeface="Space Grotesk" pitchFamily="34" charset="0"/>
                <a:ea typeface="Space Grotesk" pitchFamily="34" charset="-122"/>
                <a:cs typeface="Space Grotesk" pitchFamily="34" charset="-120"/>
              </a:rPr>
              <a:t>Accounts and scores</a:t>
            </a:r>
            <a:endParaRPr lang="en-US" sz="2000" dirty="0"/>
          </a:p>
        </p:txBody>
      </p:sp>
      <p:sp>
        <p:nvSpPr>
          <p:cNvPr id="20" name="Text 13"/>
          <p:cNvSpPr/>
          <p:nvPr/>
        </p:nvSpPr>
        <p:spPr>
          <a:xfrm>
            <a:off x="8545618" y="2823000"/>
            <a:ext cx="269773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AC8"/>
                </a:solidFill>
                <a:latin typeface="IBM Plex Sans" pitchFamily="34" charset="0"/>
                <a:ea typeface="IBM Plex Sans" pitchFamily="34" charset="-122"/>
                <a:cs typeface="IBM Plex Sans" pitchFamily="34" charset="-120"/>
              </a:rPr>
              <a:t>Users, rounds and scores, with migrations.</a:t>
            </a:r>
            <a:endParaRPr lang="en-US" sz="1400" dirty="0"/>
          </a:p>
        </p:txBody>
      </p:sp>
      <p:sp>
        <p:nvSpPr>
          <p:cNvPr id="21" name="Shape 14"/>
          <p:cNvSpPr/>
          <p:nvPr/>
        </p:nvSpPr>
        <p:spPr>
          <a:xfrm>
            <a:off x="819150" y="3744807"/>
            <a:ext cx="3407833" cy="1338157"/>
          </a:xfrm>
          <a:prstGeom prst="roundRect">
            <a:avLst>
              <a:gd name="adj" fmla="val 9016"/>
            </a:avLst>
          </a:prstGeom>
          <a:solidFill>
            <a:srgbClr val="172A3B"/>
          </a:solidFill>
          <a:ln w="12700">
            <a:solidFill>
              <a:srgbClr val="28425A"/>
            </a:solidFill>
            <a:prstDash val="solid"/>
          </a:ln>
        </p:spPr>
      </p:sp>
      <p:sp>
        <p:nvSpPr>
          <p:cNvPr id="22" name="Text 15"/>
          <p:cNvSpPr/>
          <p:nvPr/>
        </p:nvSpPr>
        <p:spPr>
          <a:xfrm>
            <a:off x="1027218" y="3973196"/>
            <a:ext cx="120700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D0C5"/>
                </a:solidFill>
                <a:latin typeface="JetBrains Mono" pitchFamily="49" charset="0"/>
                <a:ea typeface="JetBrains Mono" pitchFamily="49" charset="-122"/>
                <a:cs typeface="JetBrains Mono" pitchFamily="49" charset="-120"/>
              </a:rPr>
              <a:t>Static JSON</a:t>
            </a:r>
            <a:endParaRPr lang="en-US" sz="1200" dirty="0"/>
          </a:p>
        </p:txBody>
      </p:sp>
      <p:pic>
        <p:nvPicPr>
          <p:cNvPr id="23" name="Image 5" descr="Book">    </p:cNvPr>
          <p:cNvPicPr>
            <a:picLocks noChangeAspect="1"/>
          </p:cNvPicPr>
          <p:nvPr/>
        </p:nvPicPr>
        <p:blipFill>
          <a:blip r:embed="rId6"/>
          <a:srcRect l="0" r="0" t="0" b="0"/>
          <a:stretch/>
        </p:blipFill>
        <p:spPr>
          <a:xfrm>
            <a:off x="3764915" y="3952875"/>
            <a:ext cx="254000" cy="254000"/>
          </a:xfrm>
          <a:prstGeom prst="rect">
            <a:avLst/>
          </a:prstGeom>
        </p:spPr>
      </p:pic>
      <p:sp>
        <p:nvSpPr>
          <p:cNvPr id="24" name="Text 16"/>
          <p:cNvSpPr/>
          <p:nvPr/>
        </p:nvSpPr>
        <p:spPr>
          <a:xfrm>
            <a:off x="1027218" y="4270375"/>
            <a:ext cx="3081448"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F4F1EA"/>
                </a:solidFill>
                <a:latin typeface="Space Grotesk" pitchFamily="34" charset="0"/>
                <a:ea typeface="Space Grotesk" pitchFamily="34" charset="-122"/>
                <a:cs typeface="Space Grotesk" pitchFamily="34" charset="-120"/>
              </a:rPr>
              <a:t>105-word manifest</a:t>
            </a:r>
            <a:endParaRPr lang="en-US" sz="2000" dirty="0"/>
          </a:p>
        </p:txBody>
      </p:sp>
      <p:sp>
        <p:nvSpPr>
          <p:cNvPr id="25" name="Text 17"/>
          <p:cNvSpPr/>
          <p:nvPr/>
        </p:nvSpPr>
        <p:spPr>
          <a:xfrm>
            <a:off x="1027218" y="4625975"/>
            <a:ext cx="308144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AC8"/>
                </a:solidFill>
                <a:latin typeface="IBM Plex Sans" pitchFamily="34" charset="0"/>
                <a:ea typeface="IBM Plex Sans" pitchFamily="34" charset="-122"/>
                <a:cs typeface="IBM Plex Sans" pitchFamily="34" charset="-120"/>
              </a:rPr>
              <a:t>No runtime word API at all.</a:t>
            </a:r>
            <a:endParaRPr lang="en-US" sz="1400" dirty="0"/>
          </a:p>
        </p:txBody>
      </p:sp>
      <p:sp>
        <p:nvSpPr>
          <p:cNvPr id="26" name="Shape 18"/>
          <p:cNvSpPr/>
          <p:nvPr/>
        </p:nvSpPr>
        <p:spPr>
          <a:xfrm>
            <a:off x="4392083" y="3744807"/>
            <a:ext cx="3407833" cy="1338157"/>
          </a:xfrm>
          <a:prstGeom prst="roundRect">
            <a:avLst>
              <a:gd name="adj" fmla="val 9016"/>
            </a:avLst>
          </a:prstGeom>
          <a:solidFill>
            <a:srgbClr val="172A3B"/>
          </a:solidFill>
          <a:ln w="12700">
            <a:solidFill>
              <a:srgbClr val="28425A"/>
            </a:solidFill>
            <a:prstDash val="solid"/>
          </a:ln>
        </p:spPr>
      </p:sp>
      <p:sp>
        <p:nvSpPr>
          <p:cNvPr id="27" name="Text 19"/>
          <p:cNvSpPr/>
          <p:nvPr/>
        </p:nvSpPr>
        <p:spPr>
          <a:xfrm>
            <a:off x="4600152" y="3973196"/>
            <a:ext cx="2336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D0C5"/>
                </a:solidFill>
                <a:latin typeface="JetBrains Mono" pitchFamily="49" charset="0"/>
                <a:ea typeface="JetBrains Mono" pitchFamily="49" charset="-122"/>
                <a:cs typeface="JetBrains Mono" pitchFamily="49" charset="-120"/>
              </a:rPr>
              <a:t>R2</a:t>
            </a:r>
            <a:endParaRPr lang="en-US" sz="1200" dirty="0"/>
          </a:p>
        </p:txBody>
      </p:sp>
      <p:pic>
        <p:nvPicPr>
          <p:cNvPr id="28" name="Image 6" descr="Cloud">    </p:cNvPr>
          <p:cNvPicPr>
            <a:picLocks noChangeAspect="1"/>
          </p:cNvPicPr>
          <p:nvPr/>
        </p:nvPicPr>
        <p:blipFill>
          <a:blip r:embed="rId7"/>
          <a:srcRect l="0" r="0" t="0" b="0"/>
          <a:stretch/>
        </p:blipFill>
        <p:spPr>
          <a:xfrm>
            <a:off x="7337848" y="3952875"/>
            <a:ext cx="254000" cy="254000"/>
          </a:xfrm>
          <a:prstGeom prst="rect">
            <a:avLst/>
          </a:prstGeom>
        </p:spPr>
      </p:pic>
      <p:sp>
        <p:nvSpPr>
          <p:cNvPr id="29" name="Text 20"/>
          <p:cNvSpPr/>
          <p:nvPr/>
        </p:nvSpPr>
        <p:spPr>
          <a:xfrm>
            <a:off x="4600152" y="4270375"/>
            <a:ext cx="3081448"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F4F1EA"/>
                </a:solidFill>
                <a:latin typeface="Space Grotesk" pitchFamily="34" charset="0"/>
                <a:ea typeface="Space Grotesk" pitchFamily="34" charset="-122"/>
                <a:cs typeface="Space Grotesk" pitchFamily="34" charset="-120"/>
              </a:rPr>
              <a:t>105 paintings</a:t>
            </a:r>
            <a:endParaRPr lang="en-US" sz="2000" dirty="0"/>
          </a:p>
        </p:txBody>
      </p:sp>
      <p:sp>
        <p:nvSpPr>
          <p:cNvPr id="30" name="Text 21"/>
          <p:cNvSpPr/>
          <p:nvPr/>
        </p:nvSpPr>
        <p:spPr>
          <a:xfrm>
            <a:off x="4600152" y="4625975"/>
            <a:ext cx="3193415"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AC8"/>
                </a:solidFill>
                <a:latin typeface="IBM Plex Sans" pitchFamily="34" charset="0"/>
                <a:ea typeface="IBM Plex Sans" pitchFamily="34" charset="-122"/>
                <a:cs typeface="IBM Plex Sans" pitchFamily="34" charset="-120"/>
              </a:rPr>
              <a:t>Served from a custom asset domain.</a:t>
            </a:r>
            <a:endParaRPr lang="en-US" sz="1400" dirty="0"/>
          </a:p>
        </p:txBody>
      </p:sp>
      <p:sp>
        <p:nvSpPr>
          <p:cNvPr id="31" name="Shape 22"/>
          <p:cNvSpPr/>
          <p:nvPr/>
        </p:nvSpPr>
        <p:spPr>
          <a:xfrm>
            <a:off x="7965017" y="3744807"/>
            <a:ext cx="3407833" cy="1338157"/>
          </a:xfrm>
          <a:prstGeom prst="roundRect">
            <a:avLst>
              <a:gd name="adj" fmla="val 9016"/>
            </a:avLst>
          </a:prstGeom>
          <a:solidFill>
            <a:srgbClr val="F2B544"/>
          </a:solidFill>
          <a:ln w="12700">
            <a:solidFill>
              <a:srgbClr val="F2B544"/>
            </a:solidFill>
            <a:prstDash val="solid"/>
          </a:ln>
        </p:spPr>
      </p:sp>
      <p:sp>
        <p:nvSpPr>
          <p:cNvPr id="32" name="Text 23"/>
          <p:cNvSpPr/>
          <p:nvPr/>
        </p:nvSpPr>
        <p:spPr>
          <a:xfrm>
            <a:off x="8173085" y="3973196"/>
            <a:ext cx="76809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202C"/>
                </a:solidFill>
                <a:latin typeface="JetBrains Mono" pitchFamily="49" charset="0"/>
                <a:ea typeface="JetBrains Mono" pitchFamily="49" charset="-122"/>
                <a:cs typeface="JetBrains Mono" pitchFamily="49" charset="-120"/>
              </a:rPr>
              <a:t>Release</a:t>
            </a:r>
            <a:endParaRPr lang="en-US" sz="1200" dirty="0"/>
          </a:p>
        </p:txBody>
      </p:sp>
      <p:pic>
        <p:nvPicPr>
          <p:cNvPr id="33" name="Image 7" descr="PaperPlane">    </p:cNvPr>
          <p:cNvPicPr>
            <a:picLocks noChangeAspect="1"/>
          </p:cNvPicPr>
          <p:nvPr/>
        </p:nvPicPr>
        <p:blipFill>
          <a:blip r:embed="rId8"/>
          <a:srcRect l="0" r="0" t="0" b="0"/>
          <a:stretch/>
        </p:blipFill>
        <p:spPr>
          <a:xfrm>
            <a:off x="10910782" y="3952875"/>
            <a:ext cx="254000" cy="254000"/>
          </a:xfrm>
          <a:prstGeom prst="rect">
            <a:avLst/>
          </a:prstGeom>
        </p:spPr>
      </p:pic>
      <p:sp>
        <p:nvSpPr>
          <p:cNvPr id="34" name="Text 24"/>
          <p:cNvSpPr/>
          <p:nvPr/>
        </p:nvSpPr>
        <p:spPr>
          <a:xfrm>
            <a:off x="8173085" y="4270375"/>
            <a:ext cx="3081448"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12202C"/>
                </a:solidFill>
                <a:latin typeface="Space Grotesk" pitchFamily="34" charset="0"/>
                <a:ea typeface="Space Grotesk" pitchFamily="34" charset="-122"/>
                <a:cs typeface="Space Grotesk" pitchFamily="34" charset="-120"/>
              </a:rPr>
              <a:t>Every deploy is live</a:t>
            </a:r>
            <a:endParaRPr lang="en-US" sz="2000" dirty="0"/>
          </a:p>
        </p:txBody>
      </p:sp>
      <p:sp>
        <p:nvSpPr>
          <p:cNvPr id="35" name="Text 25"/>
          <p:cNvSpPr/>
          <p:nvPr/>
        </p:nvSpPr>
        <p:spPr>
          <a:xfrm>
            <a:off x="8173085" y="4625975"/>
            <a:ext cx="308144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202C"/>
                </a:solidFill>
                <a:latin typeface="IBM Plex Sans" pitchFamily="34" charset="0"/>
                <a:ea typeface="IBM Plex Sans" pitchFamily="34" charset="-122"/>
                <a:cs typeface="IBM Plex Sans" pitchFamily="34" charset="-120"/>
              </a:rPr>
              <a:t>There is no staging environment.</a:t>
            </a:r>
            <a:endParaRPr lang="en-US" sz="1400" dirty="0"/>
          </a:p>
        </p:txBody>
      </p:sp>
      <p:sp>
        <p:nvSpPr>
          <p:cNvPr id="36" name="Text 26"/>
          <p:cNvSpPr/>
          <p:nvPr/>
        </p:nvSpPr>
        <p:spPr>
          <a:xfrm>
            <a:off x="812800" y="6238239"/>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296A6"/>
                </a:solidFill>
                <a:latin typeface="IBM Plex Sans" pitchFamily="34" charset="0"/>
                <a:ea typeface="IBM Plex Sans" pitchFamily="34" charset="-122"/>
                <a:cs typeface="IBM Plex Sans" pitchFamily="34" charset="-120"/>
              </a:rPr>
              <a:t>Hangman: Rescue Mission</a:t>
            </a:r>
            <a:endParaRPr lang="en-US" sz="1200" dirty="0"/>
          </a:p>
        </p:txBody>
      </p:sp>
      <p:sp>
        <p:nvSpPr>
          <p:cNvPr id="37" name="Text 27"/>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296A6"/>
                </a:solidFill>
                <a:latin typeface="IBM Plex Sans" pitchFamily="34" charset="0"/>
                <a:ea typeface="IBM Plex Sans" pitchFamily="34" charset="-122"/>
                <a:cs typeface="IBM Plex Sans" pitchFamily="34" charset="-120"/>
              </a:rPr>
              <a:t>6 / 15</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E7C70"/>
                </a:solidFill>
                <a:latin typeface="JetBrains Mono" pitchFamily="49" charset="0"/>
                <a:ea typeface="JetBrains Mono" pitchFamily="49" charset="-122"/>
                <a:cs typeface="JetBrains Mono" pitchFamily="49" charset="-120"/>
              </a:rPr>
              <a:t>06 · THE NUMBERS</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202C"/>
                </a:solidFill>
                <a:latin typeface="Space Grotesk" pitchFamily="34" charset="0"/>
                <a:ea typeface="Space Grotesk" pitchFamily="34" charset="-122"/>
                <a:cs typeface="Space Grotesk" pitchFamily="34" charset="-120"/>
              </a:rPr>
              <a:t>What the $0 constraint looks like</a:t>
            </a:r>
            <a:endParaRPr lang="en-US" sz="3600" dirty="0"/>
          </a:p>
        </p:txBody>
      </p:sp>
      <p:sp>
        <p:nvSpPr>
          <p:cNvPr id="4" name="Shape 2"/>
          <p:cNvSpPr/>
          <p:nvPr/>
        </p:nvSpPr>
        <p:spPr>
          <a:xfrm>
            <a:off x="819150" y="1941829"/>
            <a:ext cx="5168900" cy="1693757"/>
          </a:xfrm>
          <a:prstGeom prst="roundRect">
            <a:avLst>
              <a:gd name="adj" fmla="val 7123"/>
            </a:avLst>
          </a:prstGeom>
          <a:solidFill>
            <a:srgbClr val="FBF9F4"/>
          </a:solidFill>
          <a:ln w="12700">
            <a:solidFill>
              <a:srgbClr val="D9D3C4"/>
            </a:solidFill>
            <a:prstDash val="solid"/>
          </a:ln>
        </p:spPr>
      </p:sp>
      <p:sp>
        <p:nvSpPr>
          <p:cNvPr id="5" name="Text 3"/>
          <p:cNvSpPr/>
          <p:nvPr/>
        </p:nvSpPr>
        <p:spPr>
          <a:xfrm>
            <a:off x="1078018" y="2149900"/>
            <a:ext cx="4790698" cy="718820"/>
          </a:xfrm>
          <a:prstGeom prst="rect">
            <a:avLst/>
          </a:prstGeom>
          <a:noFill/>
          <a:ln/>
        </p:spPr>
        <p:txBody>
          <a:bodyPr wrap="square" lIns="0" tIns="0" rIns="0" bIns="0" rtlCol="0" anchor="t">
            <a:normAutofit/>
          </a:bodyPr>
          <a:lstStyle/>
          <a:p>
            <a:pPr algn="l" indent="0" marL="0">
              <a:lnSpc>
                <a:spcPts val="5460"/>
              </a:lnSpc>
              <a:buNone/>
            </a:pPr>
            <a:r>
              <a:rPr lang="en-US" sz="5200" b="1" dirty="0">
                <a:solidFill>
                  <a:srgbClr val="0E7C70"/>
                </a:solidFill>
                <a:latin typeface="Space Grotesk" pitchFamily="34" charset="0"/>
                <a:ea typeface="Space Grotesk" pitchFamily="34" charset="-122"/>
                <a:cs typeface="Space Grotesk" pitchFamily="34" charset="-120"/>
              </a:rPr>
              <a:t>$0</a:t>
            </a:r>
            <a:endParaRPr lang="en-US" sz="5200" dirty="0"/>
          </a:p>
        </p:txBody>
      </p:sp>
      <p:sp>
        <p:nvSpPr>
          <p:cNvPr id="6" name="Text 4"/>
          <p:cNvSpPr/>
          <p:nvPr/>
        </p:nvSpPr>
        <p:spPr>
          <a:xfrm>
            <a:off x="1078018" y="2894118"/>
            <a:ext cx="479069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C59"/>
                </a:solidFill>
                <a:latin typeface="IBM Plex Sans" pitchFamily="34" charset="0"/>
                <a:ea typeface="IBM Plex Sans" pitchFamily="34" charset="-122"/>
                <a:cs typeface="IBM Plex Sans" pitchFamily="34" charset="-120"/>
              </a:rPr>
              <a:t>Monthly running cost. Free allowances are ceilings, never targets.</a:t>
            </a:r>
            <a:endParaRPr lang="en-US" sz="1500" dirty="0"/>
          </a:p>
        </p:txBody>
      </p:sp>
      <p:sp>
        <p:nvSpPr>
          <p:cNvPr id="7" name="Shape 5"/>
          <p:cNvSpPr/>
          <p:nvPr/>
        </p:nvSpPr>
        <p:spPr>
          <a:xfrm>
            <a:off x="6203950" y="1941829"/>
            <a:ext cx="5168900" cy="1693757"/>
          </a:xfrm>
          <a:prstGeom prst="roundRect">
            <a:avLst>
              <a:gd name="adj" fmla="val 7123"/>
            </a:avLst>
          </a:prstGeom>
          <a:solidFill>
            <a:srgbClr val="FBF9F4"/>
          </a:solidFill>
          <a:ln w="12700">
            <a:solidFill>
              <a:srgbClr val="D9D3C4"/>
            </a:solidFill>
            <a:prstDash val="solid"/>
          </a:ln>
        </p:spPr>
      </p:sp>
      <p:sp>
        <p:nvSpPr>
          <p:cNvPr id="8" name="Text 6"/>
          <p:cNvSpPr/>
          <p:nvPr/>
        </p:nvSpPr>
        <p:spPr>
          <a:xfrm>
            <a:off x="6462818" y="2149900"/>
            <a:ext cx="4790698" cy="718820"/>
          </a:xfrm>
          <a:prstGeom prst="rect">
            <a:avLst/>
          </a:prstGeom>
          <a:noFill/>
          <a:ln/>
        </p:spPr>
        <p:txBody>
          <a:bodyPr wrap="square" lIns="0" tIns="0" rIns="0" bIns="0" rtlCol="0" anchor="t">
            <a:normAutofit/>
          </a:bodyPr>
          <a:lstStyle/>
          <a:p>
            <a:pPr algn="l" indent="0" marL="0">
              <a:lnSpc>
                <a:spcPts val="5460"/>
              </a:lnSpc>
              <a:buNone/>
            </a:pPr>
            <a:r>
              <a:rPr lang="en-US" sz="5200" b="1" dirty="0">
                <a:solidFill>
                  <a:srgbClr val="0E7C70"/>
                </a:solidFill>
                <a:latin typeface="Space Grotesk" pitchFamily="34" charset="0"/>
                <a:ea typeface="Space Grotesk" pitchFamily="34" charset="-122"/>
                <a:cs typeface="Space Grotesk" pitchFamily="34" charset="-120"/>
              </a:rPr>
              <a:t>105</a:t>
            </a:r>
            <a:endParaRPr lang="en-US" sz="5200" dirty="0"/>
          </a:p>
        </p:txBody>
      </p:sp>
      <p:sp>
        <p:nvSpPr>
          <p:cNvPr id="9" name="Text 7"/>
          <p:cNvSpPr/>
          <p:nvPr/>
        </p:nvSpPr>
        <p:spPr>
          <a:xfrm>
            <a:off x="6462818" y="2894118"/>
            <a:ext cx="479069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C59"/>
                </a:solidFill>
                <a:latin typeface="IBM Plex Sans" pitchFamily="34" charset="0"/>
                <a:ea typeface="IBM Plex Sans" pitchFamily="34" charset="-122"/>
                <a:cs typeface="IBM Plex Sans" pitchFamily="34" charset="-120"/>
              </a:rPr>
              <a:t>Words in the game, each with a rescued painting served from R2.</a:t>
            </a:r>
            <a:endParaRPr lang="en-US" sz="1500" dirty="0"/>
          </a:p>
        </p:txBody>
      </p:sp>
      <p:sp>
        <p:nvSpPr>
          <p:cNvPr id="10" name="Shape 8"/>
          <p:cNvSpPr/>
          <p:nvPr/>
        </p:nvSpPr>
        <p:spPr>
          <a:xfrm>
            <a:off x="819150" y="3851486"/>
            <a:ext cx="5168900" cy="1693757"/>
          </a:xfrm>
          <a:prstGeom prst="roundRect">
            <a:avLst>
              <a:gd name="adj" fmla="val 7123"/>
            </a:avLst>
          </a:prstGeom>
          <a:solidFill>
            <a:srgbClr val="FBF9F4"/>
          </a:solidFill>
          <a:ln w="12700">
            <a:solidFill>
              <a:srgbClr val="D9D3C4"/>
            </a:solidFill>
            <a:prstDash val="solid"/>
          </a:ln>
        </p:spPr>
      </p:sp>
      <p:sp>
        <p:nvSpPr>
          <p:cNvPr id="11" name="Text 9"/>
          <p:cNvSpPr/>
          <p:nvPr/>
        </p:nvSpPr>
        <p:spPr>
          <a:xfrm>
            <a:off x="1078018" y="4059554"/>
            <a:ext cx="4790698" cy="718820"/>
          </a:xfrm>
          <a:prstGeom prst="rect">
            <a:avLst/>
          </a:prstGeom>
          <a:noFill/>
          <a:ln/>
        </p:spPr>
        <p:txBody>
          <a:bodyPr wrap="square" lIns="0" tIns="0" rIns="0" bIns="0" rtlCol="0" anchor="t">
            <a:normAutofit/>
          </a:bodyPr>
          <a:lstStyle/>
          <a:p>
            <a:pPr algn="l" indent="0" marL="0">
              <a:lnSpc>
                <a:spcPts val="5460"/>
              </a:lnSpc>
              <a:buNone/>
            </a:pPr>
            <a:r>
              <a:rPr lang="en-US" sz="5200" b="1" dirty="0">
                <a:solidFill>
                  <a:srgbClr val="0E7C70"/>
                </a:solidFill>
                <a:latin typeface="Space Grotesk" pitchFamily="34" charset="0"/>
                <a:ea typeface="Space Grotesk" pitchFamily="34" charset="-122"/>
                <a:cs typeface="Space Grotesk" pitchFamily="34" charset="-120"/>
              </a:rPr>
              <a:t>135,897</a:t>
            </a:r>
            <a:endParaRPr lang="en-US" sz="5200" dirty="0"/>
          </a:p>
        </p:txBody>
      </p:sp>
      <p:sp>
        <p:nvSpPr>
          <p:cNvPr id="12" name="Text 10"/>
          <p:cNvSpPr/>
          <p:nvPr/>
        </p:nvSpPr>
        <p:spPr>
          <a:xfrm>
            <a:off x="1078018" y="4803775"/>
            <a:ext cx="479069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C59"/>
                </a:solidFill>
                <a:latin typeface="IBM Plex Sans" pitchFamily="34" charset="0"/>
                <a:ea typeface="IBM Plex Sans" pitchFamily="34" charset="-122"/>
                <a:cs typeface="IBM Plex Sans" pitchFamily="34" charset="-120"/>
              </a:rPr>
              <a:t>Words in the Illucia vocabulary, 4 to 15 letters, profanity-filtered.</a:t>
            </a:r>
            <a:endParaRPr lang="en-US" sz="1500" dirty="0"/>
          </a:p>
        </p:txBody>
      </p:sp>
      <p:sp>
        <p:nvSpPr>
          <p:cNvPr id="13" name="Shape 11"/>
          <p:cNvSpPr/>
          <p:nvPr/>
        </p:nvSpPr>
        <p:spPr>
          <a:xfrm>
            <a:off x="6203950" y="3851486"/>
            <a:ext cx="5168900" cy="1693757"/>
          </a:xfrm>
          <a:prstGeom prst="roundRect">
            <a:avLst>
              <a:gd name="adj" fmla="val 7123"/>
            </a:avLst>
          </a:prstGeom>
          <a:solidFill>
            <a:srgbClr val="FBF9F4"/>
          </a:solidFill>
          <a:ln w="12700">
            <a:solidFill>
              <a:srgbClr val="D9D3C4"/>
            </a:solidFill>
            <a:prstDash val="solid"/>
          </a:ln>
        </p:spPr>
      </p:sp>
      <p:sp>
        <p:nvSpPr>
          <p:cNvPr id="14" name="Text 12"/>
          <p:cNvSpPr/>
          <p:nvPr/>
        </p:nvSpPr>
        <p:spPr>
          <a:xfrm>
            <a:off x="6462818" y="4059554"/>
            <a:ext cx="4790698" cy="718820"/>
          </a:xfrm>
          <a:prstGeom prst="rect">
            <a:avLst/>
          </a:prstGeom>
          <a:noFill/>
          <a:ln/>
        </p:spPr>
        <p:txBody>
          <a:bodyPr wrap="square" lIns="0" tIns="0" rIns="0" bIns="0" rtlCol="0" anchor="t">
            <a:normAutofit/>
          </a:bodyPr>
          <a:lstStyle/>
          <a:p>
            <a:pPr algn="l" indent="0" marL="0">
              <a:lnSpc>
                <a:spcPts val="5460"/>
              </a:lnSpc>
              <a:buNone/>
            </a:pPr>
            <a:r>
              <a:rPr lang="en-US" sz="5200" b="1" dirty="0">
                <a:solidFill>
                  <a:srgbClr val="0E7C70"/>
                </a:solidFill>
                <a:latin typeface="Space Grotesk" pitchFamily="34" charset="0"/>
                <a:ea typeface="Space Grotesk" pitchFamily="34" charset="-122"/>
                <a:cs typeface="Space Grotesk" pitchFamily="34" charset="-120"/>
              </a:rPr>
              <a:t>1.96 ms</a:t>
            </a:r>
            <a:endParaRPr lang="en-US" sz="5200" dirty="0"/>
          </a:p>
        </p:txBody>
      </p:sp>
      <p:sp>
        <p:nvSpPr>
          <p:cNvPr id="15" name="Text 13"/>
          <p:cNvSpPr/>
          <p:nvPr/>
        </p:nvSpPr>
        <p:spPr>
          <a:xfrm>
            <a:off x="6462818" y="4803775"/>
            <a:ext cx="479069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C59"/>
                </a:solidFill>
                <a:latin typeface="IBM Plex Sans" pitchFamily="34" charset="0"/>
                <a:ea typeface="IBM Plex Sans" pitchFamily="34" charset="-122"/>
                <a:cs typeface="IBM Plex Sans" pitchFamily="34" charset="-120"/>
              </a:rPr>
              <a:t>Median Worker CPU at launch on the Free plan (3.56 ms at P99, small sample).</a:t>
            </a:r>
            <a:endParaRPr lang="en-US" sz="1500" dirty="0"/>
          </a:p>
        </p:txBody>
      </p:sp>
      <p:sp>
        <p:nvSpPr>
          <p:cNvPr id="16" name="Text 14"/>
          <p:cNvSpPr/>
          <p:nvPr/>
        </p:nvSpPr>
        <p:spPr>
          <a:xfrm>
            <a:off x="812800" y="6238239"/>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977"/>
                </a:solidFill>
                <a:latin typeface="IBM Plex Sans" pitchFamily="34" charset="0"/>
                <a:ea typeface="IBM Plex Sans" pitchFamily="34" charset="-122"/>
                <a:cs typeface="IBM Plex Sans" pitchFamily="34" charset="-120"/>
              </a:rPr>
              <a:t>Hangman: Rescue Mission</a:t>
            </a:r>
            <a:endParaRPr lang="en-US" sz="1200" dirty="0"/>
          </a:p>
        </p:txBody>
      </p:sp>
      <p:sp>
        <p:nvSpPr>
          <p:cNvPr id="17" name="Text 15"/>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977"/>
                </a:solidFill>
                <a:latin typeface="IBM Plex Sans" pitchFamily="34" charset="0"/>
                <a:ea typeface="IBM Plex Sans" pitchFamily="34" charset="-122"/>
                <a:cs typeface="IBM Plex Sans" pitchFamily="34" charset="-120"/>
              </a:rPr>
              <a:t>7 / 15</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A2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F2B544"/>
                </a:solidFill>
                <a:latin typeface="JetBrains Mono" pitchFamily="49" charset="0"/>
                <a:ea typeface="JetBrains Mono" pitchFamily="49" charset="-122"/>
                <a:cs typeface="JetBrains Mono" pitchFamily="49" charset="-120"/>
              </a:rPr>
              <a:t>07 · WORD DATA</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1EA"/>
                </a:solidFill>
                <a:latin typeface="Space Grotesk" pitchFamily="34" charset="0"/>
                <a:ea typeface="Space Grotesk" pitchFamily="34" charset="-122"/>
                <a:cs typeface="Space Grotesk" pitchFamily="34" charset="-120"/>
              </a:rPr>
              <a:t>Assembled offline, never generated at runtime</a:t>
            </a:r>
            <a:endParaRPr lang="en-US" sz="3600" dirty="0"/>
          </a:p>
        </p:txBody>
      </p:sp>
      <p:sp>
        <p:nvSpPr>
          <p:cNvPr id="4" name="Shape 2"/>
          <p:cNvSpPr/>
          <p:nvPr/>
        </p:nvSpPr>
        <p:spPr>
          <a:xfrm>
            <a:off x="819150" y="1941829"/>
            <a:ext cx="5168900" cy="1749637"/>
          </a:xfrm>
          <a:prstGeom prst="roundRect">
            <a:avLst>
              <a:gd name="adj" fmla="val 6896"/>
            </a:avLst>
          </a:prstGeom>
          <a:solidFill>
            <a:srgbClr val="172A3B"/>
          </a:solidFill>
          <a:ln w="12700">
            <a:solidFill>
              <a:srgbClr val="28425A"/>
            </a:solidFill>
            <a:prstDash val="solid"/>
          </a:ln>
        </p:spPr>
      </p:sp>
      <p:sp>
        <p:nvSpPr>
          <p:cNvPr id="5" name="Text 3"/>
          <p:cNvSpPr/>
          <p:nvPr/>
        </p:nvSpPr>
        <p:spPr>
          <a:xfrm>
            <a:off x="1052618" y="2195618"/>
            <a:ext cx="65836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B544"/>
                </a:solidFill>
                <a:latin typeface="JetBrains Mono" pitchFamily="49" charset="0"/>
                <a:ea typeface="JetBrains Mono" pitchFamily="49" charset="-122"/>
                <a:cs typeface="JetBrains Mono" pitchFamily="49" charset="-120"/>
              </a:rPr>
              <a:t>Step 1</a:t>
            </a:r>
            <a:endParaRPr lang="en-US" sz="1200" dirty="0"/>
          </a:p>
        </p:txBody>
      </p:sp>
      <p:pic>
        <p:nvPicPr>
          <p:cNvPr id="6" name="Image 0" descr="Book">    </p:cNvPr>
          <p:cNvPicPr>
            <a:picLocks noChangeAspect="1"/>
          </p:cNvPicPr>
          <p:nvPr/>
        </p:nvPicPr>
        <p:blipFill>
          <a:blip r:embed="rId1"/>
          <a:srcRect l="0" r="0" t="0" b="0"/>
          <a:stretch/>
        </p:blipFill>
        <p:spPr>
          <a:xfrm>
            <a:off x="5500582" y="2175300"/>
            <a:ext cx="254000" cy="254000"/>
          </a:xfrm>
          <a:prstGeom prst="rect">
            <a:avLst/>
          </a:prstGeom>
        </p:spPr>
      </p:pic>
      <p:sp>
        <p:nvSpPr>
          <p:cNvPr id="7" name="Text 4"/>
          <p:cNvSpPr/>
          <p:nvPr/>
        </p:nvSpPr>
        <p:spPr>
          <a:xfrm>
            <a:off x="1052618" y="2530900"/>
            <a:ext cx="4843022"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F4F1EA"/>
                </a:solidFill>
                <a:latin typeface="Space Grotesk" pitchFamily="34" charset="0"/>
                <a:ea typeface="Space Grotesk" pitchFamily="34" charset="-122"/>
                <a:cs typeface="Space Grotesk" pitchFamily="34" charset="-120"/>
              </a:rPr>
              <a:t>Merriam-Webster</a:t>
            </a:r>
            <a:endParaRPr lang="en-US" sz="2000" dirty="0"/>
          </a:p>
        </p:txBody>
      </p:sp>
      <p:sp>
        <p:nvSpPr>
          <p:cNvPr id="8" name="Text 5"/>
          <p:cNvSpPr/>
          <p:nvPr/>
        </p:nvSpPr>
        <p:spPr>
          <a:xfrm>
            <a:off x="1052618" y="2924600"/>
            <a:ext cx="484302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9BAC8"/>
                </a:solidFill>
                <a:latin typeface="IBM Plex Sans" pitchFamily="34" charset="0"/>
                <a:ea typeface="IBM Plex Sans" pitchFamily="34" charset="-122"/>
                <a:cs typeface="IBM Plex Sans" pitchFamily="34" charset="-120"/>
              </a:rPr>
              <a:t>Collegiate Dictionary only: definition, pronunciation, audio and a real, attributed example.</a:t>
            </a:r>
            <a:endParaRPr lang="en-US" sz="1500" dirty="0"/>
          </a:p>
        </p:txBody>
      </p:sp>
      <p:sp>
        <p:nvSpPr>
          <p:cNvPr id="9" name="Shape 6"/>
          <p:cNvSpPr/>
          <p:nvPr/>
        </p:nvSpPr>
        <p:spPr>
          <a:xfrm>
            <a:off x="6203950" y="1941829"/>
            <a:ext cx="5168900" cy="1749637"/>
          </a:xfrm>
          <a:prstGeom prst="roundRect">
            <a:avLst>
              <a:gd name="adj" fmla="val 6896"/>
            </a:avLst>
          </a:prstGeom>
          <a:solidFill>
            <a:srgbClr val="172A3B"/>
          </a:solidFill>
          <a:ln w="12700">
            <a:solidFill>
              <a:srgbClr val="28425A"/>
            </a:solidFill>
            <a:prstDash val="solid"/>
          </a:ln>
        </p:spPr>
      </p:sp>
      <p:sp>
        <p:nvSpPr>
          <p:cNvPr id="10" name="Text 7"/>
          <p:cNvSpPr/>
          <p:nvPr/>
        </p:nvSpPr>
        <p:spPr>
          <a:xfrm>
            <a:off x="6437418" y="2195618"/>
            <a:ext cx="65836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B544"/>
                </a:solidFill>
                <a:latin typeface="JetBrains Mono" pitchFamily="49" charset="0"/>
                <a:ea typeface="JetBrains Mono" pitchFamily="49" charset="-122"/>
                <a:cs typeface="JetBrains Mono" pitchFamily="49" charset="-120"/>
              </a:rPr>
              <a:t>Step 2</a:t>
            </a:r>
            <a:endParaRPr lang="en-US" sz="1200" dirty="0"/>
          </a:p>
        </p:txBody>
      </p:sp>
      <p:pic>
        <p:nvPicPr>
          <p:cNvPr id="11" name="Image 1" descr="Users">    </p:cNvPr>
          <p:cNvPicPr>
            <a:picLocks noChangeAspect="1"/>
          </p:cNvPicPr>
          <p:nvPr/>
        </p:nvPicPr>
        <p:blipFill>
          <a:blip r:embed="rId2"/>
          <a:srcRect l="0" r="0" t="0" b="0"/>
          <a:stretch/>
        </p:blipFill>
        <p:spPr>
          <a:xfrm>
            <a:off x="10885382" y="2175300"/>
            <a:ext cx="254000" cy="254000"/>
          </a:xfrm>
          <a:prstGeom prst="rect">
            <a:avLst/>
          </a:prstGeom>
        </p:spPr>
      </p:pic>
      <p:sp>
        <p:nvSpPr>
          <p:cNvPr id="12" name="Text 8"/>
          <p:cNvSpPr/>
          <p:nvPr/>
        </p:nvSpPr>
        <p:spPr>
          <a:xfrm>
            <a:off x="6437418" y="2530900"/>
            <a:ext cx="4843022"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F4F1EA"/>
                </a:solidFill>
                <a:latin typeface="Space Grotesk" pitchFamily="34" charset="0"/>
                <a:ea typeface="Space Grotesk" pitchFamily="34" charset="-122"/>
                <a:cs typeface="Space Grotesk" pitchFamily="34" charset="-120"/>
              </a:rPr>
              <a:t>Human overrides</a:t>
            </a:r>
            <a:endParaRPr lang="en-US" sz="2000" dirty="0"/>
          </a:p>
        </p:txBody>
      </p:sp>
      <p:sp>
        <p:nvSpPr>
          <p:cNvPr id="13" name="Text 9"/>
          <p:cNvSpPr/>
          <p:nvPr/>
        </p:nvSpPr>
        <p:spPr>
          <a:xfrm>
            <a:off x="6437418" y="2924600"/>
            <a:ext cx="484302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9BAC8"/>
                </a:solidFill>
                <a:latin typeface="IBM Plex Sans" pitchFamily="34" charset="0"/>
                <a:ea typeface="IBM Plex Sans" pitchFamily="34" charset="-122"/>
                <a:cs typeface="IBM Plex Sans" pitchFamily="34" charset="-120"/>
              </a:rPr>
              <a:t>76 explicit entry choices settle ambiguity. No hidden ranking decides.</a:t>
            </a:r>
            <a:endParaRPr lang="en-US" sz="1500" dirty="0"/>
          </a:p>
        </p:txBody>
      </p:sp>
      <p:sp>
        <p:nvSpPr>
          <p:cNvPr id="14" name="Shape 10"/>
          <p:cNvSpPr/>
          <p:nvPr/>
        </p:nvSpPr>
        <p:spPr>
          <a:xfrm>
            <a:off x="819150" y="3907368"/>
            <a:ext cx="5168900" cy="1749637"/>
          </a:xfrm>
          <a:prstGeom prst="roundRect">
            <a:avLst>
              <a:gd name="adj" fmla="val 6896"/>
            </a:avLst>
          </a:prstGeom>
          <a:solidFill>
            <a:srgbClr val="172A3B"/>
          </a:solidFill>
          <a:ln w="12700">
            <a:solidFill>
              <a:srgbClr val="28425A"/>
            </a:solidFill>
            <a:prstDash val="solid"/>
          </a:ln>
        </p:spPr>
      </p:sp>
      <p:sp>
        <p:nvSpPr>
          <p:cNvPr id="15" name="Text 11"/>
          <p:cNvSpPr/>
          <p:nvPr/>
        </p:nvSpPr>
        <p:spPr>
          <a:xfrm>
            <a:off x="1052618" y="4161154"/>
            <a:ext cx="65836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D0C5"/>
                </a:solidFill>
                <a:latin typeface="JetBrains Mono" pitchFamily="49" charset="0"/>
                <a:ea typeface="JetBrains Mono" pitchFamily="49" charset="-122"/>
                <a:cs typeface="JetBrains Mono" pitchFamily="49" charset="-120"/>
              </a:rPr>
              <a:t>Step 3</a:t>
            </a:r>
            <a:endParaRPr lang="en-US" sz="1200" dirty="0"/>
          </a:p>
        </p:txBody>
      </p:sp>
      <p:pic>
        <p:nvPicPr>
          <p:cNvPr id="16" name="Image 2" descr="Lightbulb">    </p:cNvPr>
          <p:cNvPicPr>
            <a:picLocks noChangeAspect="1"/>
          </p:cNvPicPr>
          <p:nvPr/>
        </p:nvPicPr>
        <p:blipFill>
          <a:blip r:embed="rId3"/>
          <a:srcRect l="0" r="0" t="0" b="0"/>
          <a:stretch/>
        </p:blipFill>
        <p:spPr>
          <a:xfrm>
            <a:off x="5500582" y="4140833"/>
            <a:ext cx="254000" cy="254000"/>
          </a:xfrm>
          <a:prstGeom prst="rect">
            <a:avLst/>
          </a:prstGeom>
        </p:spPr>
      </p:pic>
      <p:sp>
        <p:nvSpPr>
          <p:cNvPr id="17" name="Text 12"/>
          <p:cNvSpPr/>
          <p:nvPr/>
        </p:nvSpPr>
        <p:spPr>
          <a:xfrm>
            <a:off x="1052618" y="4496433"/>
            <a:ext cx="4843022"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F4F1EA"/>
                </a:solidFill>
                <a:latin typeface="Space Grotesk" pitchFamily="34" charset="0"/>
                <a:ea typeface="Space Grotesk" pitchFamily="34" charset="-122"/>
                <a:cs typeface="Space Grotesk" pitchFamily="34" charset="-120"/>
              </a:rPr>
              <a:t>Reviewed enrichment</a:t>
            </a:r>
            <a:endParaRPr lang="en-US" sz="2000" dirty="0"/>
          </a:p>
        </p:txBody>
      </p:sp>
      <p:sp>
        <p:nvSpPr>
          <p:cNvPr id="18" name="Text 13"/>
          <p:cNvSpPr/>
          <p:nvPr/>
        </p:nvSpPr>
        <p:spPr>
          <a:xfrm>
            <a:off x="1052618" y="4890133"/>
            <a:ext cx="484302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9BAC8"/>
                </a:solidFill>
                <a:latin typeface="IBM Plex Sans" pitchFamily="34" charset="0"/>
                <a:ea typeface="IBM Plex Sans" pitchFamily="34" charset="-122"/>
                <a:cs typeface="IBM Plex Sans" pitchFamily="34" charset="-120"/>
              </a:rPr>
              <a:t>Hints and explanations drafted with an LLM, human-reviewed, committed as static data.</a:t>
            </a:r>
            <a:endParaRPr lang="en-US" sz="1500" dirty="0"/>
          </a:p>
        </p:txBody>
      </p:sp>
      <p:sp>
        <p:nvSpPr>
          <p:cNvPr id="19" name="Shape 14"/>
          <p:cNvSpPr/>
          <p:nvPr/>
        </p:nvSpPr>
        <p:spPr>
          <a:xfrm>
            <a:off x="6203950" y="3907368"/>
            <a:ext cx="5168900" cy="1749637"/>
          </a:xfrm>
          <a:prstGeom prst="roundRect">
            <a:avLst>
              <a:gd name="adj" fmla="val 6896"/>
            </a:avLst>
          </a:prstGeom>
          <a:solidFill>
            <a:srgbClr val="172A3B"/>
          </a:solidFill>
          <a:ln w="12700">
            <a:solidFill>
              <a:srgbClr val="28425A"/>
            </a:solidFill>
            <a:prstDash val="solid"/>
          </a:ln>
        </p:spPr>
      </p:sp>
      <p:sp>
        <p:nvSpPr>
          <p:cNvPr id="20" name="Text 15"/>
          <p:cNvSpPr/>
          <p:nvPr/>
        </p:nvSpPr>
        <p:spPr>
          <a:xfrm>
            <a:off x="6437418" y="4161154"/>
            <a:ext cx="65836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D0C5"/>
                </a:solidFill>
                <a:latin typeface="JetBrains Mono" pitchFamily="49" charset="0"/>
                <a:ea typeface="JetBrains Mono" pitchFamily="49" charset="-122"/>
                <a:cs typeface="JetBrains Mono" pitchFamily="49" charset="-120"/>
              </a:rPr>
              <a:t>Step 4</a:t>
            </a:r>
            <a:endParaRPr lang="en-US" sz="1200" dirty="0"/>
          </a:p>
        </p:txBody>
      </p:sp>
      <p:pic>
        <p:nvPicPr>
          <p:cNvPr id="21" name="Image 3" descr="Verified">    </p:cNvPr>
          <p:cNvPicPr>
            <a:picLocks noChangeAspect="1"/>
          </p:cNvPicPr>
          <p:nvPr/>
        </p:nvPicPr>
        <p:blipFill>
          <a:blip r:embed="rId4"/>
          <a:srcRect l="0" r="0" t="0" b="0"/>
          <a:stretch/>
        </p:blipFill>
        <p:spPr>
          <a:xfrm>
            <a:off x="10885382" y="4140833"/>
            <a:ext cx="254000" cy="254000"/>
          </a:xfrm>
          <a:prstGeom prst="rect">
            <a:avLst/>
          </a:prstGeom>
        </p:spPr>
      </p:pic>
      <p:sp>
        <p:nvSpPr>
          <p:cNvPr id="22" name="Text 16"/>
          <p:cNvSpPr/>
          <p:nvPr/>
        </p:nvSpPr>
        <p:spPr>
          <a:xfrm>
            <a:off x="6437418" y="4496433"/>
            <a:ext cx="4843022"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F4F1EA"/>
                </a:solidFill>
                <a:latin typeface="Space Grotesk" pitchFamily="34" charset="0"/>
                <a:ea typeface="Space Grotesk" pitchFamily="34" charset="-122"/>
                <a:cs typeface="Space Grotesk" pitchFamily="34" charset="-120"/>
              </a:rPr>
              <a:t>Assemble and validate</a:t>
            </a:r>
            <a:endParaRPr lang="en-US" sz="2000" dirty="0"/>
          </a:p>
        </p:txBody>
      </p:sp>
      <p:sp>
        <p:nvSpPr>
          <p:cNvPr id="23" name="Text 17"/>
          <p:cNvSpPr/>
          <p:nvPr/>
        </p:nvSpPr>
        <p:spPr>
          <a:xfrm>
            <a:off x="6437418" y="4890133"/>
            <a:ext cx="484302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9BAC8"/>
                </a:solidFill>
                <a:latin typeface="IBM Plex Sans" pitchFamily="34" charset="0"/>
                <a:ea typeface="IBM Plex Sans" pitchFamily="34" charset="-122"/>
                <a:cs typeface="IBM Plex Sans" pitchFamily="34" charset="-120"/>
              </a:rPr>
              <a:t>A deterministic assembler builds the manifest. A validator rejects hints that leak the answer.</a:t>
            </a:r>
            <a:endParaRPr lang="en-US" sz="1500" dirty="0"/>
          </a:p>
        </p:txBody>
      </p:sp>
      <p:sp>
        <p:nvSpPr>
          <p:cNvPr id="24" name="Text 18"/>
          <p:cNvSpPr/>
          <p:nvPr/>
        </p:nvSpPr>
        <p:spPr>
          <a:xfrm>
            <a:off x="812800" y="6238242"/>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296A6"/>
                </a:solidFill>
                <a:latin typeface="IBM Plex Sans" pitchFamily="34" charset="0"/>
                <a:ea typeface="IBM Plex Sans" pitchFamily="34" charset="-122"/>
                <a:cs typeface="IBM Plex Sans" pitchFamily="34" charset="-120"/>
              </a:rPr>
              <a:t>Hangman: Rescue Mission</a:t>
            </a:r>
            <a:endParaRPr lang="en-US" sz="1200" dirty="0"/>
          </a:p>
        </p:txBody>
      </p:sp>
      <p:sp>
        <p:nvSpPr>
          <p:cNvPr id="25" name="Text 19"/>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296A6"/>
                </a:solidFill>
                <a:latin typeface="IBM Plex Sans" pitchFamily="34" charset="0"/>
                <a:ea typeface="IBM Plex Sans" pitchFamily="34" charset="-122"/>
                <a:cs typeface="IBM Plex Sans" pitchFamily="34" charset="-120"/>
              </a:rPr>
              <a:t>8 / 15</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E7C70"/>
                </a:solidFill>
                <a:latin typeface="JetBrains Mono" pitchFamily="49" charset="0"/>
                <a:ea typeface="JetBrains Mono" pitchFamily="49" charset="-122"/>
                <a:cs typeface="JetBrains Mono" pitchFamily="49" charset="-120"/>
              </a:rPr>
              <a:t>08 · SECURITY DECISION</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202C"/>
                </a:solidFill>
                <a:latin typeface="Space Grotesk" pitchFamily="34" charset="0"/>
                <a:ea typeface="Space Grotesk" pitchFamily="34" charset="-122"/>
                <a:cs typeface="Space Grotesk" pitchFamily="34" charset="-120"/>
              </a:rPr>
              <a:t>The raw password never leaves the browser</a:t>
            </a:r>
            <a:endParaRPr lang="en-US" sz="3600" dirty="0"/>
          </a:p>
        </p:txBody>
      </p:sp>
      <p:sp>
        <p:nvSpPr>
          <p:cNvPr id="4" name="Shape 2"/>
          <p:cNvSpPr/>
          <p:nvPr/>
        </p:nvSpPr>
        <p:spPr>
          <a:xfrm>
            <a:off x="819150" y="1941829"/>
            <a:ext cx="5869940" cy="1184487"/>
          </a:xfrm>
          <a:prstGeom prst="roundRect">
            <a:avLst>
              <a:gd name="adj" fmla="val 10186"/>
            </a:avLst>
          </a:prstGeom>
          <a:solidFill>
            <a:srgbClr val="FBF9F4"/>
          </a:solidFill>
          <a:ln w="12700">
            <a:solidFill>
              <a:srgbClr val="D9D3C4"/>
            </a:solidFill>
            <a:prstDash val="solid"/>
          </a:ln>
        </p:spPr>
      </p:sp>
      <p:sp>
        <p:nvSpPr>
          <p:cNvPr id="5" name="Text 3"/>
          <p:cNvSpPr/>
          <p:nvPr/>
        </p:nvSpPr>
        <p:spPr>
          <a:xfrm>
            <a:off x="1052618" y="2144818"/>
            <a:ext cx="15361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E7C70"/>
                </a:solidFill>
                <a:latin typeface="JetBrains Mono" pitchFamily="49" charset="0"/>
                <a:ea typeface="JetBrains Mono" pitchFamily="49" charset="-122"/>
                <a:cs typeface="JetBrains Mono" pitchFamily="49" charset="-120"/>
              </a:rPr>
              <a:t>In the browser</a:t>
            </a:r>
            <a:endParaRPr lang="en-US" sz="1200" dirty="0"/>
          </a:p>
        </p:txBody>
      </p:sp>
      <p:pic>
        <p:nvPicPr>
          <p:cNvPr id="6" name="Image 0" descr="Globe">    </p:cNvPr>
          <p:cNvPicPr>
            <a:picLocks noChangeAspect="1"/>
          </p:cNvPicPr>
          <p:nvPr/>
        </p:nvPicPr>
        <p:blipFill>
          <a:blip r:embed="rId1"/>
          <a:srcRect l="0" r="0" t="0" b="0"/>
          <a:stretch/>
        </p:blipFill>
        <p:spPr>
          <a:xfrm>
            <a:off x="6201621" y="2124497"/>
            <a:ext cx="254000" cy="254000"/>
          </a:xfrm>
          <a:prstGeom prst="rect">
            <a:avLst/>
          </a:prstGeom>
        </p:spPr>
      </p:pic>
      <p:sp>
        <p:nvSpPr>
          <p:cNvPr id="7" name="Text 4"/>
          <p:cNvSpPr/>
          <p:nvPr/>
        </p:nvSpPr>
        <p:spPr>
          <a:xfrm>
            <a:off x="1052618" y="2429297"/>
            <a:ext cx="5565094"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2202C"/>
                </a:solidFill>
                <a:latin typeface="IBM Plex Sans" pitchFamily="34" charset="0"/>
                <a:ea typeface="IBM Plex Sans" pitchFamily="34" charset="-122"/>
                <a:cs typeface="IBM Plex Sans" pitchFamily="34" charset="-120"/>
              </a:rPr>
              <a:t>PBKDF2-HMAC-SHA-256, 600,000 iterations, a random salt per account.</a:t>
            </a:r>
            <a:endParaRPr lang="en-US" sz="1500" dirty="0"/>
          </a:p>
        </p:txBody>
      </p:sp>
      <p:sp>
        <p:nvSpPr>
          <p:cNvPr id="8" name="Shape 5"/>
          <p:cNvSpPr/>
          <p:nvPr/>
        </p:nvSpPr>
        <p:spPr>
          <a:xfrm>
            <a:off x="819150" y="3266015"/>
            <a:ext cx="5869940" cy="1184487"/>
          </a:xfrm>
          <a:prstGeom prst="roundRect">
            <a:avLst>
              <a:gd name="adj" fmla="val 10186"/>
            </a:avLst>
          </a:prstGeom>
          <a:solidFill>
            <a:srgbClr val="FBF9F4"/>
          </a:solidFill>
          <a:ln w="12700">
            <a:solidFill>
              <a:srgbClr val="D9D3C4"/>
            </a:solidFill>
            <a:prstDash val="solid"/>
          </a:ln>
        </p:spPr>
      </p:sp>
      <p:sp>
        <p:nvSpPr>
          <p:cNvPr id="9" name="Text 6"/>
          <p:cNvSpPr/>
          <p:nvPr/>
        </p:nvSpPr>
        <p:spPr>
          <a:xfrm>
            <a:off x="1052618" y="3469004"/>
            <a:ext cx="142646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E7C70"/>
                </a:solidFill>
                <a:latin typeface="JetBrains Mono" pitchFamily="49" charset="0"/>
                <a:ea typeface="JetBrains Mono" pitchFamily="49" charset="-122"/>
                <a:cs typeface="JetBrains Mono" pitchFamily="49" charset="-120"/>
              </a:rPr>
              <a:t>In the Worker</a:t>
            </a:r>
            <a:endParaRPr lang="en-US" sz="1200" dirty="0"/>
          </a:p>
        </p:txBody>
      </p:sp>
      <p:pic>
        <p:nvPicPr>
          <p:cNvPr id="10" name="Image 1" descr="Lightning">    </p:cNvPr>
          <p:cNvPicPr>
            <a:picLocks noChangeAspect="1"/>
          </p:cNvPicPr>
          <p:nvPr/>
        </p:nvPicPr>
        <p:blipFill>
          <a:blip r:embed="rId2"/>
          <a:srcRect l="0" r="0" t="0" b="0"/>
          <a:stretch/>
        </p:blipFill>
        <p:spPr>
          <a:xfrm>
            <a:off x="6201621" y="3448683"/>
            <a:ext cx="254000" cy="254000"/>
          </a:xfrm>
          <a:prstGeom prst="rect">
            <a:avLst/>
          </a:prstGeom>
        </p:spPr>
      </p:pic>
      <p:sp>
        <p:nvSpPr>
          <p:cNvPr id="11" name="Text 7"/>
          <p:cNvSpPr/>
          <p:nvPr/>
        </p:nvSpPr>
        <p:spPr>
          <a:xfrm>
            <a:off x="1052618" y="3753483"/>
            <a:ext cx="5565094"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2202C"/>
                </a:solidFill>
                <a:latin typeface="IBM Plex Sans" pitchFamily="34" charset="0"/>
                <a:ea typeface="IBM Plex Sans" pitchFamily="34" charset="-122"/>
                <a:cs typeface="IBM Plex Sans" pitchFamily="34" charset="-120"/>
              </a:rPr>
              <a:t>Only an HMAC verifier under a secret pepper. The derived credential is never stored or logged.</a:t>
            </a:r>
            <a:endParaRPr lang="en-US" sz="1500" dirty="0"/>
          </a:p>
        </p:txBody>
      </p:sp>
      <p:sp>
        <p:nvSpPr>
          <p:cNvPr id="12" name="Shape 8"/>
          <p:cNvSpPr/>
          <p:nvPr/>
        </p:nvSpPr>
        <p:spPr>
          <a:xfrm>
            <a:off x="819150" y="4590200"/>
            <a:ext cx="5869940" cy="927312"/>
          </a:xfrm>
          <a:prstGeom prst="roundRect">
            <a:avLst>
              <a:gd name="adj" fmla="val 13011"/>
            </a:avLst>
          </a:prstGeom>
          <a:solidFill>
            <a:srgbClr val="FBF9F4"/>
          </a:solidFill>
          <a:ln w="12700">
            <a:solidFill>
              <a:srgbClr val="D9D3C4"/>
            </a:solidFill>
            <a:prstDash val="solid"/>
          </a:ln>
        </p:spPr>
      </p:sp>
      <p:sp>
        <p:nvSpPr>
          <p:cNvPr id="13" name="Text 9"/>
          <p:cNvSpPr/>
          <p:nvPr/>
        </p:nvSpPr>
        <p:spPr>
          <a:xfrm>
            <a:off x="1052618" y="4793190"/>
            <a:ext cx="76809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E7C70"/>
                </a:solidFill>
                <a:latin typeface="JetBrains Mono" pitchFamily="49" charset="0"/>
                <a:ea typeface="JetBrains Mono" pitchFamily="49" charset="-122"/>
                <a:cs typeface="JetBrains Mono" pitchFamily="49" charset="-120"/>
              </a:rPr>
              <a:t>Session</a:t>
            </a:r>
            <a:endParaRPr lang="en-US" sz="1200" dirty="0"/>
          </a:p>
        </p:txBody>
      </p:sp>
      <p:pic>
        <p:nvPicPr>
          <p:cNvPr id="14" name="Image 2" descr="Key">    </p:cNvPr>
          <p:cNvPicPr>
            <a:picLocks noChangeAspect="1"/>
          </p:cNvPicPr>
          <p:nvPr/>
        </p:nvPicPr>
        <p:blipFill>
          <a:blip r:embed="rId3"/>
          <a:srcRect l="0" r="0" t="0" b="0"/>
          <a:stretch/>
        </p:blipFill>
        <p:spPr>
          <a:xfrm>
            <a:off x="6201621" y="4772875"/>
            <a:ext cx="254000" cy="254000"/>
          </a:xfrm>
          <a:prstGeom prst="rect">
            <a:avLst/>
          </a:prstGeom>
        </p:spPr>
      </p:pic>
      <p:sp>
        <p:nvSpPr>
          <p:cNvPr id="15" name="Text 10"/>
          <p:cNvSpPr/>
          <p:nvPr/>
        </p:nvSpPr>
        <p:spPr>
          <a:xfrm>
            <a:off x="1052618" y="5077675"/>
            <a:ext cx="5565094"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2202C"/>
                </a:solidFill>
                <a:latin typeface="IBM Plex Sans" pitchFamily="34" charset="0"/>
                <a:ea typeface="IBM Plex Sans" pitchFamily="34" charset="-122"/>
                <a:cs typeface="IBM Plex Sans" pitchFamily="34" charset="-120"/>
              </a:rPr>
              <a:t>A jose JWT in an HttpOnly cookie, expiring after 24 hours.</a:t>
            </a:r>
            <a:endParaRPr lang="en-US" sz="1500" dirty="0"/>
          </a:p>
        </p:txBody>
      </p:sp>
      <p:sp>
        <p:nvSpPr>
          <p:cNvPr id="16" name="Shape 11"/>
          <p:cNvSpPr/>
          <p:nvPr/>
        </p:nvSpPr>
        <p:spPr>
          <a:xfrm>
            <a:off x="6898640" y="1935479"/>
            <a:ext cx="4480560" cy="3588385"/>
          </a:xfrm>
          <a:prstGeom prst="roundRect">
            <a:avLst>
              <a:gd name="adj" fmla="val 3539"/>
            </a:avLst>
          </a:prstGeom>
          <a:solidFill>
            <a:srgbClr val="12202C"/>
          </a:solidFill>
          <a:ln/>
        </p:spPr>
      </p:sp>
      <p:sp>
        <p:nvSpPr>
          <p:cNvPr id="17" name="Text 12"/>
          <p:cNvSpPr/>
          <p:nvPr/>
        </p:nvSpPr>
        <p:spPr>
          <a:xfrm>
            <a:off x="7178040" y="2214879"/>
            <a:ext cx="403941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B544"/>
                </a:solidFill>
                <a:latin typeface="JetBrains Mono" pitchFamily="49" charset="0"/>
                <a:ea typeface="JetBrains Mono" pitchFamily="49" charset="-122"/>
                <a:cs typeface="JetBrains Mono" pitchFamily="49" charset="-120"/>
              </a:rPr>
              <a:t>The reasoning</a:t>
            </a:r>
            <a:endParaRPr lang="en-US" sz="1200" dirty="0"/>
          </a:p>
        </p:txBody>
      </p:sp>
      <p:sp>
        <p:nvSpPr>
          <p:cNvPr id="18" name="Text 13"/>
          <p:cNvSpPr/>
          <p:nvPr/>
        </p:nvSpPr>
        <p:spPr>
          <a:xfrm>
            <a:off x="7178040" y="3084513"/>
            <a:ext cx="4039413" cy="103124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4F1EA"/>
                </a:solidFill>
                <a:latin typeface="Space Grotesk" pitchFamily="34" charset="0"/>
                <a:ea typeface="Space Grotesk" pitchFamily="34" charset="-122"/>
                <a:cs typeface="Space Grotesk" pitchFamily="34" charset="-120"/>
              </a:rPr>
              <a:t>Bcrypt hit the Worker's CPU limit, so the work moved to the browser.</a:t>
            </a:r>
            <a:endParaRPr lang="en-US" sz="2200" dirty="0"/>
          </a:p>
        </p:txBody>
      </p:sp>
      <p:sp>
        <p:nvSpPr>
          <p:cNvPr id="19" name="Text 14"/>
          <p:cNvSpPr/>
          <p:nvPr/>
        </p:nvSpPr>
        <p:spPr>
          <a:xfrm>
            <a:off x="7178040" y="4746625"/>
            <a:ext cx="403941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AC8"/>
                </a:solidFill>
                <a:latin typeface="IBM Plex Sans" pitchFamily="34" charset="0"/>
                <a:ea typeface="IBM Plex Sans" pitchFamily="34" charset="-122"/>
                <a:cs typeface="IBM Plex Sans" pitchFamily="34" charset="-120"/>
              </a:rPr>
              <a:t>The work factor only ever rises, through a new kdf_version. It is never lowered to fit a limit.</a:t>
            </a:r>
            <a:endParaRPr lang="en-US" sz="1400" dirty="0"/>
          </a:p>
        </p:txBody>
      </p:sp>
      <p:sp>
        <p:nvSpPr>
          <p:cNvPr id="20" name="Text 15"/>
          <p:cNvSpPr/>
          <p:nvPr/>
        </p:nvSpPr>
        <p:spPr>
          <a:xfrm>
            <a:off x="812800" y="6238242"/>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977"/>
                </a:solidFill>
                <a:latin typeface="IBM Plex Sans" pitchFamily="34" charset="0"/>
                <a:ea typeface="IBM Plex Sans" pitchFamily="34" charset="-122"/>
                <a:cs typeface="IBM Plex Sans" pitchFamily="34" charset="-120"/>
              </a:rPr>
              <a:t>Hangman: Rescue Mission</a:t>
            </a:r>
            <a:endParaRPr lang="en-US" sz="1200" dirty="0"/>
          </a:p>
        </p:txBody>
      </p:sp>
      <p:sp>
        <p:nvSpPr>
          <p:cNvPr id="21" name="Text 16"/>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977"/>
                </a:solidFill>
                <a:latin typeface="IBM Plex Sans" pitchFamily="34" charset="0"/>
                <a:ea typeface="IBM Plex Sans" pitchFamily="34" charset="-122"/>
                <a:cs typeface="IBM Plex Sans" pitchFamily="34" charset="-120"/>
              </a:rPr>
              <a:t>9 / 15</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A2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F2B544"/>
                </a:solidFill>
                <a:latin typeface="JetBrains Mono" pitchFamily="49" charset="0"/>
                <a:ea typeface="JetBrains Mono" pitchFamily="49" charset="-122"/>
                <a:cs typeface="JetBrains Mono" pitchFamily="49" charset="-120"/>
              </a:rPr>
              <a:t>09 · HONEST SCORING</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1EA"/>
                </a:solidFill>
                <a:latin typeface="Space Grotesk" pitchFamily="34" charset="0"/>
                <a:ea typeface="Space Grotesk" pitchFamily="34" charset="-122"/>
                <a:cs typeface="Space Grotesk" pitchFamily="34" charset="-120"/>
              </a:rPr>
              <a:t>A leaderboard that states its limits</a:t>
            </a:r>
            <a:endParaRPr lang="en-US" sz="3600" dirty="0"/>
          </a:p>
        </p:txBody>
      </p:sp>
      <p:sp>
        <p:nvSpPr>
          <p:cNvPr id="4" name="Shape 2"/>
          <p:cNvSpPr/>
          <p:nvPr/>
        </p:nvSpPr>
        <p:spPr>
          <a:xfrm>
            <a:off x="819150" y="1941829"/>
            <a:ext cx="3373967" cy="1937597"/>
          </a:xfrm>
          <a:prstGeom prst="roundRect">
            <a:avLst>
              <a:gd name="adj" fmla="val 6227"/>
            </a:avLst>
          </a:prstGeom>
          <a:solidFill>
            <a:srgbClr val="172A3B"/>
          </a:solidFill>
          <a:ln w="12700">
            <a:solidFill>
              <a:srgbClr val="28425A"/>
            </a:solidFill>
            <a:prstDash val="solid"/>
          </a:ln>
        </p:spPr>
      </p:sp>
      <p:sp>
        <p:nvSpPr>
          <p:cNvPr id="5" name="Text 3"/>
          <p:cNvSpPr/>
          <p:nvPr/>
        </p:nvSpPr>
        <p:spPr>
          <a:xfrm>
            <a:off x="1052618" y="2195618"/>
            <a:ext cx="65836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B544"/>
                </a:solidFill>
                <a:latin typeface="JetBrains Mono" pitchFamily="49" charset="0"/>
                <a:ea typeface="JetBrains Mono" pitchFamily="49" charset="-122"/>
                <a:cs typeface="JetBrains Mono" pitchFamily="49" charset="-120"/>
              </a:rPr>
              <a:t>Ticket</a:t>
            </a:r>
            <a:endParaRPr lang="en-US" sz="1200" dirty="0"/>
          </a:p>
        </p:txBody>
      </p:sp>
      <p:pic>
        <p:nvPicPr>
          <p:cNvPr id="6" name="Image 0" descr="Key">    </p:cNvPr>
          <p:cNvPicPr>
            <a:picLocks noChangeAspect="1"/>
          </p:cNvPicPr>
          <p:nvPr/>
        </p:nvPicPr>
        <p:blipFill>
          <a:blip r:embed="rId1"/>
          <a:srcRect l="0" r="0" t="0" b="0"/>
          <a:stretch/>
        </p:blipFill>
        <p:spPr>
          <a:xfrm>
            <a:off x="3705648" y="2175297"/>
            <a:ext cx="254000" cy="254000"/>
          </a:xfrm>
          <a:prstGeom prst="rect">
            <a:avLst/>
          </a:prstGeom>
        </p:spPr>
      </p:pic>
      <p:sp>
        <p:nvSpPr>
          <p:cNvPr id="7" name="Text 4"/>
          <p:cNvSpPr/>
          <p:nvPr/>
        </p:nvSpPr>
        <p:spPr>
          <a:xfrm>
            <a:off x="1052618" y="2518197"/>
            <a:ext cx="2994241"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F4F1EA"/>
                </a:solidFill>
                <a:latin typeface="Space Grotesk" pitchFamily="34" charset="0"/>
                <a:ea typeface="Space Grotesk" pitchFamily="34" charset="-122"/>
                <a:cs typeface="Space Grotesk" pitchFamily="34" charset="-120"/>
              </a:rPr>
              <a:t>Server picks the word</a:t>
            </a:r>
            <a:endParaRPr lang="en-US" sz="2000" dirty="0"/>
          </a:p>
        </p:txBody>
      </p:sp>
      <p:sp>
        <p:nvSpPr>
          <p:cNvPr id="8" name="Text 5"/>
          <p:cNvSpPr/>
          <p:nvPr/>
        </p:nvSpPr>
        <p:spPr>
          <a:xfrm>
            <a:off x="1052618" y="2899197"/>
            <a:ext cx="2994241"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AC8"/>
                </a:solidFill>
                <a:latin typeface="IBM Plex Sans" pitchFamily="34" charset="0"/>
                <a:ea typeface="IBM Plex Sans" pitchFamily="34" charset="-122"/>
                <a:cs typeface="IBM Plex Sans" pitchFamily="34" charset="-120"/>
              </a:rPr>
              <a:t>The Worker issues an account-bound round ticket. Play itself stays local.</a:t>
            </a:r>
            <a:endParaRPr lang="en-US" sz="1400" dirty="0"/>
          </a:p>
        </p:txBody>
      </p:sp>
      <p:sp>
        <p:nvSpPr>
          <p:cNvPr id="9" name="Shape 6"/>
          <p:cNvSpPr/>
          <p:nvPr/>
        </p:nvSpPr>
        <p:spPr>
          <a:xfrm>
            <a:off x="4409017" y="1941829"/>
            <a:ext cx="3373967" cy="1937597"/>
          </a:xfrm>
          <a:prstGeom prst="roundRect">
            <a:avLst>
              <a:gd name="adj" fmla="val 6227"/>
            </a:avLst>
          </a:prstGeom>
          <a:solidFill>
            <a:srgbClr val="172A3B"/>
          </a:solidFill>
          <a:ln w="12700">
            <a:solidFill>
              <a:srgbClr val="28425A"/>
            </a:solidFill>
            <a:prstDash val="solid"/>
          </a:ln>
        </p:spPr>
      </p:sp>
      <p:sp>
        <p:nvSpPr>
          <p:cNvPr id="10" name="Text 7"/>
          <p:cNvSpPr/>
          <p:nvPr/>
        </p:nvSpPr>
        <p:spPr>
          <a:xfrm>
            <a:off x="4642485" y="2195618"/>
            <a:ext cx="5486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B544"/>
                </a:solidFill>
                <a:latin typeface="JetBrains Mono" pitchFamily="49" charset="0"/>
                <a:ea typeface="JetBrains Mono" pitchFamily="49" charset="-122"/>
                <a:cs typeface="JetBrains Mono" pitchFamily="49" charset="-120"/>
              </a:rPr>
              <a:t>Claim</a:t>
            </a:r>
            <a:endParaRPr lang="en-US" sz="1200" dirty="0"/>
          </a:p>
        </p:txBody>
      </p:sp>
      <p:pic>
        <p:nvPicPr>
          <p:cNvPr id="11" name="Image 1" descr="CheckCircle">    </p:cNvPr>
          <p:cNvPicPr>
            <a:picLocks noChangeAspect="1"/>
          </p:cNvPicPr>
          <p:nvPr/>
        </p:nvPicPr>
        <p:blipFill>
          <a:blip r:embed="rId2"/>
          <a:srcRect l="0" r="0" t="0" b="0"/>
          <a:stretch/>
        </p:blipFill>
        <p:spPr>
          <a:xfrm>
            <a:off x="7295515" y="2175297"/>
            <a:ext cx="254000" cy="254000"/>
          </a:xfrm>
          <a:prstGeom prst="rect">
            <a:avLst/>
          </a:prstGeom>
        </p:spPr>
      </p:pic>
      <p:sp>
        <p:nvSpPr>
          <p:cNvPr id="12" name="Text 8"/>
          <p:cNvSpPr/>
          <p:nvPr/>
        </p:nvSpPr>
        <p:spPr>
          <a:xfrm>
            <a:off x="4642485" y="2518197"/>
            <a:ext cx="2994241"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F4F1EA"/>
                </a:solidFill>
                <a:latin typeface="Space Grotesk" pitchFamily="34" charset="0"/>
                <a:ea typeface="Space Grotesk" pitchFamily="34" charset="-122"/>
                <a:cs typeface="Space Grotesk" pitchFamily="34" charset="-120"/>
              </a:rPr>
              <a:t>Replay, then award</a:t>
            </a:r>
            <a:endParaRPr lang="en-US" sz="2000" dirty="0"/>
          </a:p>
        </p:txBody>
      </p:sp>
      <p:sp>
        <p:nvSpPr>
          <p:cNvPr id="13" name="Text 9"/>
          <p:cNvSpPr/>
          <p:nvPr/>
        </p:nvSpPr>
        <p:spPr>
          <a:xfrm>
            <a:off x="4642485" y="2899197"/>
            <a:ext cx="2994241"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AC8"/>
                </a:solidFill>
                <a:latin typeface="IBM Plex Sans" pitchFamily="34" charset="0"/>
                <a:ea typeface="IBM Plex Sans" pitchFamily="34" charset="-122"/>
                <a:cs typeface="IBM Plex Sans" pitchFamily="34" charset="-120"/>
              </a:rPr>
              <a:t>A win sends the guesses. The Worker replays them and awards 100 points once.</a:t>
            </a:r>
            <a:endParaRPr lang="en-US" sz="1400" dirty="0"/>
          </a:p>
        </p:txBody>
      </p:sp>
      <p:sp>
        <p:nvSpPr>
          <p:cNvPr id="14" name="Shape 10"/>
          <p:cNvSpPr/>
          <p:nvPr/>
        </p:nvSpPr>
        <p:spPr>
          <a:xfrm>
            <a:off x="7998883" y="1941829"/>
            <a:ext cx="3373967" cy="1937597"/>
          </a:xfrm>
          <a:prstGeom prst="roundRect">
            <a:avLst>
              <a:gd name="adj" fmla="val 6227"/>
            </a:avLst>
          </a:prstGeom>
          <a:solidFill>
            <a:srgbClr val="172A3B"/>
          </a:solidFill>
          <a:ln w="12700">
            <a:solidFill>
              <a:srgbClr val="28425A"/>
            </a:solidFill>
            <a:prstDash val="solid"/>
          </a:ln>
        </p:spPr>
      </p:sp>
      <p:sp>
        <p:nvSpPr>
          <p:cNvPr id="15" name="Text 11"/>
          <p:cNvSpPr/>
          <p:nvPr/>
        </p:nvSpPr>
        <p:spPr>
          <a:xfrm>
            <a:off x="8232352" y="2195618"/>
            <a:ext cx="5486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B544"/>
                </a:solidFill>
                <a:latin typeface="JetBrains Mono" pitchFamily="49" charset="0"/>
                <a:ea typeface="JetBrains Mono" pitchFamily="49" charset="-122"/>
                <a:cs typeface="JetBrains Mono" pitchFamily="49" charset="-120"/>
              </a:rPr>
              <a:t>Floor</a:t>
            </a:r>
            <a:endParaRPr lang="en-US" sz="1200" dirty="0"/>
          </a:p>
        </p:txBody>
      </p:sp>
      <p:pic>
        <p:nvPicPr>
          <p:cNvPr id="16" name="Image 2" descr="Clock">    </p:cNvPr>
          <p:cNvPicPr>
            <a:picLocks noChangeAspect="1"/>
          </p:cNvPicPr>
          <p:nvPr/>
        </p:nvPicPr>
        <p:blipFill>
          <a:blip r:embed="rId3"/>
          <a:srcRect l="0" r="0" t="0" b="0"/>
          <a:stretch/>
        </p:blipFill>
        <p:spPr>
          <a:xfrm>
            <a:off x="10885382" y="2175297"/>
            <a:ext cx="254000" cy="254000"/>
          </a:xfrm>
          <a:prstGeom prst="rect">
            <a:avLst/>
          </a:prstGeom>
        </p:spPr>
      </p:pic>
      <p:sp>
        <p:nvSpPr>
          <p:cNvPr id="17" name="Text 12"/>
          <p:cNvSpPr/>
          <p:nvPr/>
        </p:nvSpPr>
        <p:spPr>
          <a:xfrm>
            <a:off x="8232352" y="2518197"/>
            <a:ext cx="2994241"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F4F1EA"/>
                </a:solidFill>
                <a:latin typeface="Space Grotesk" pitchFamily="34" charset="0"/>
                <a:ea typeface="Space Grotesk" pitchFamily="34" charset="-122"/>
                <a:cs typeface="Space Grotesk" pitchFamily="34" charset="-120"/>
              </a:rPr>
              <a:t>Five-second minimum</a:t>
            </a:r>
            <a:endParaRPr lang="en-US" sz="2000" dirty="0"/>
          </a:p>
        </p:txBody>
      </p:sp>
      <p:sp>
        <p:nvSpPr>
          <p:cNvPr id="18" name="Text 13"/>
          <p:cNvSpPr/>
          <p:nvPr/>
        </p:nvSpPr>
        <p:spPr>
          <a:xfrm>
            <a:off x="8232352" y="2899197"/>
            <a:ext cx="2994241"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AC8"/>
                </a:solidFill>
                <a:latin typeface="IBM Plex Sans" pitchFamily="34" charset="0"/>
                <a:ea typeface="IBM Plex Sans" pitchFamily="34" charset="-122"/>
                <a:cs typeface="IBM Plex Sans" pitchFamily="34" charset="-120"/>
              </a:rPr>
              <a:t>No earlier claim is accepted, so each account tops out at 12 awards a minute.</a:t>
            </a:r>
            <a:endParaRPr lang="en-US" sz="1400" dirty="0"/>
          </a:p>
        </p:txBody>
      </p:sp>
      <p:sp>
        <p:nvSpPr>
          <p:cNvPr id="19" name="Text 14"/>
          <p:cNvSpPr/>
          <p:nvPr/>
        </p:nvSpPr>
        <p:spPr>
          <a:xfrm>
            <a:off x="812800" y="4190578"/>
            <a:ext cx="10566400" cy="1092200"/>
          </a:xfrm>
          <a:prstGeom prst="roundRect">
            <a:avLst>
              <a:gd name="adj" fmla="val 11628"/>
            </a:avLst>
          </a:prstGeom>
          <a:solidFill>
            <a:srgbClr val="F2B544"/>
          </a:solidFill>
          <a:ln/>
        </p:spPr>
        <p:txBody>
          <a:bodyPr wrap="square" lIns="242203" tIns="191403" rIns="0" bIns="166003" rtlCol="0" anchor="t">
            <a:normAutofit/>
          </a:bodyPr>
          <a:lstStyle/>
          <a:p>
            <a:pPr algn="l" indent="0" marL="0">
              <a:lnSpc>
                <a:spcPts val="2500"/>
              </a:lnSpc>
              <a:buNone/>
            </a:pPr>
            <a:r>
              <a:rPr lang="en-US" sz="2000" b="1" dirty="0">
                <a:solidFill>
                  <a:srgbClr val="12202C"/>
                </a:solidFill>
                <a:latin typeface="Space Grotesk" pitchFamily="34" charset="0"/>
                <a:ea typeface="Space Grotesk" pitchFamily="34" charset="-122"/>
                <a:cs typeface="Space Grotesk" pitchFamily="34" charset="-120"/>
              </a:rPr>
              <a:t>Answers are public by design, so valid scores do not prove honest play. The Hall of Fame is not a trusted ranking.</a:t>
            </a:r>
            <a:endParaRPr lang="en-US" sz="2000" dirty="0"/>
          </a:p>
        </p:txBody>
      </p:sp>
      <p:sp>
        <p:nvSpPr>
          <p:cNvPr id="20" name="Text 15"/>
          <p:cNvSpPr/>
          <p:nvPr/>
        </p:nvSpPr>
        <p:spPr>
          <a:xfrm>
            <a:off x="812800" y="6238242"/>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296A6"/>
                </a:solidFill>
                <a:latin typeface="IBM Plex Sans" pitchFamily="34" charset="0"/>
                <a:ea typeface="IBM Plex Sans" pitchFamily="34" charset="-122"/>
                <a:cs typeface="IBM Plex Sans" pitchFamily="34" charset="-120"/>
              </a:rPr>
              <a:t>Hangman: Rescue Mission</a:t>
            </a:r>
            <a:endParaRPr lang="en-US" sz="1200" dirty="0"/>
          </a:p>
        </p:txBody>
      </p:sp>
      <p:sp>
        <p:nvSpPr>
          <p:cNvPr id="21" name="Text 16"/>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296A6"/>
                </a:solidFill>
                <a:latin typeface="IBM Plex Sans" pitchFamily="34" charset="0"/>
                <a:ea typeface="IBM Plex Sans" pitchFamily="34" charset="-122"/>
                <a:cs typeface="IBM Plex Sans" pitchFamily="34" charset="-120"/>
              </a:rPr>
              <a:t>10 / 15</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E7C70"/>
                </a:solidFill>
                <a:latin typeface="JetBrains Mono" pitchFamily="49" charset="0"/>
                <a:ea typeface="JetBrains Mono" pitchFamily="49" charset="-122"/>
                <a:cs typeface="JetBrains Mono" pitchFamily="49" charset="-120"/>
              </a:rPr>
              <a:t>10 · ILLUCIA, THE REVERSE GAME</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202C"/>
                </a:solidFill>
                <a:latin typeface="Space Grotesk" pitchFamily="34" charset="0"/>
                <a:ea typeface="Space Grotesk" pitchFamily="34" charset="-122"/>
                <a:cs typeface="Space Grotesk" pitchFamily="34" charset="-120"/>
              </a:rPr>
              <a:t>Measuring her broke an assumption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018" y="1895897"/>
          <a:ext cx="10555182" cy="1233805"/>
        </p:xfrm>
        <a:graphic>
          <a:graphicData uri="http://schemas.openxmlformats.org/drawingml/2006/table">
            <a:tbl>
              <a:tblPr/>
              <a:tblGrid>
                <a:gridCol w="4855384"/>
                <a:gridCol w="1899933"/>
                <a:gridCol w="1899933"/>
                <a:gridCol w="1899933"/>
              </a:tblGrid>
              <a:tr h="411268">
                <a:tc>
                  <a:txBody>
                    <a:bodyPr/>
                    <a:lstStyle/>
                    <a:p>
                      <a:pPr indent="0" marL="0">
                        <a:lnSpc>
                          <a:spcPts val="2100"/>
                        </a:lnSpc>
                        <a:buNone/>
                      </a:pPr>
                      <a:r>
                        <a:rPr lang="en-US" sz="1500" b="1" dirty="0">
                          <a:solidFill>
                            <a:srgbClr val="12202C"/>
                          </a:solidFill>
                          <a:latin typeface="IBM Plex Sans" pitchFamily="34" charset="0"/>
                          <a:ea typeface="IBM Plex Sans" pitchFamily="34" charset="-122"/>
                          <a:cs typeface="IBM Plex Sans" pitchFamily="34" charset="-120"/>
                        </a:rPr>
                        <a:t>Win rate against common words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3C0BB"/>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c>
                  <a:txBody>
                    <a:bodyPr/>
                    <a:lstStyle/>
                    <a:p>
                      <a:pPr algn="r" indent="0" marL="0">
                        <a:lnSpc>
                          <a:spcPts val="2100"/>
                        </a:lnSpc>
                        <a:buNone/>
                      </a:pPr>
                      <a:r>
                        <a:rPr lang="en-US" sz="1500" b="1" dirty="0">
                          <a:solidFill>
                            <a:srgbClr val="12202C"/>
                          </a:solidFill>
                          <a:latin typeface="IBM Plex Sans" pitchFamily="34" charset="0"/>
                          <a:ea typeface="IBM Plex Sans" pitchFamily="34" charset="-122"/>
                          <a:cs typeface="IBM Plex Sans" pitchFamily="34" charset="-120"/>
                        </a:rPr>
                        <a:t>Apprentice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c>
                  <a:txBody>
                    <a:bodyPr/>
                    <a:lstStyle/>
                    <a:p>
                      <a:pPr algn="r" indent="0" marL="0">
                        <a:lnSpc>
                          <a:spcPts val="2100"/>
                        </a:lnSpc>
                        <a:buNone/>
                      </a:pPr>
                      <a:r>
                        <a:rPr lang="en-US" sz="1500" b="1" dirty="0">
                          <a:solidFill>
                            <a:srgbClr val="12202C"/>
                          </a:solidFill>
                          <a:latin typeface="IBM Plex Sans" pitchFamily="34" charset="0"/>
                          <a:ea typeface="IBM Plex Sans" pitchFamily="34" charset="-122"/>
                          <a:cs typeface="IBM Plex Sans" pitchFamily="34" charset="-120"/>
                        </a:rPr>
                        <a:t>Scholar</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c>
                  <a:txBody>
                    <a:bodyPr/>
                    <a:lstStyle/>
                    <a:p>
                      <a:pPr algn="r" indent="0" marL="0">
                        <a:lnSpc>
                          <a:spcPts val="2100"/>
                        </a:lnSpc>
                        <a:buNone/>
                      </a:pPr>
                      <a:r>
                        <a:rPr lang="en-US" sz="1500" b="1" dirty="0">
                          <a:solidFill>
                            <a:srgbClr val="12202C"/>
                          </a:solidFill>
                          <a:latin typeface="IBM Plex Sans" pitchFamily="34" charset="0"/>
                          <a:ea typeface="IBM Plex Sans" pitchFamily="34" charset="-122"/>
                          <a:cs typeface="IBM Plex Sans" pitchFamily="34" charset="-120"/>
                        </a:rPr>
                        <a:t>Master</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r>
              <a:tr h="411268">
                <a:tc>
                  <a:txBody>
                    <a:bodyPr/>
                    <a:lstStyle/>
                    <a:p>
                      <a:pPr indent="0" marL="0">
                        <a:lnSpc>
                          <a:spcPts val="2100"/>
                        </a:lnSpc>
                        <a:buNone/>
                      </a:pPr>
                      <a:r>
                        <a:rPr lang="en-US" sz="1500" dirty="0">
                          <a:solidFill>
                            <a:srgbClr val="12202C"/>
                          </a:solidFill>
                          <a:latin typeface="IBM Plex Sans" pitchFamily="34" charset="0"/>
                          <a:ea typeface="IBM Plex Sans" pitchFamily="34" charset="-122"/>
                          <a:cs typeface="IBM Plex Sans" pitchFamily="34" charset="-120"/>
                        </a:rPr>
                        <a:t>Before: 4 letters, unweighted</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algn="r" indent="0" marL="0">
                        <a:lnSpc>
                          <a:spcPts val="2100"/>
                        </a:lnSpc>
                        <a:buNone/>
                      </a:pPr>
                      <a:r>
                        <a:rPr lang="en-US" sz="1500" dirty="0">
                          <a:solidFill>
                            <a:srgbClr val="12202C"/>
                          </a:solidFill>
                          <a:latin typeface="IBM Plex Sans" pitchFamily="34" charset="0"/>
                          <a:ea typeface="IBM Plex Sans" pitchFamily="34" charset="-122"/>
                          <a:cs typeface="IBM Plex Sans" pitchFamily="34" charset="-120"/>
                        </a:rPr>
                        <a:t>56%</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algn="r" indent="0" marL="0">
                        <a:lnSpc>
                          <a:spcPts val="2100"/>
                        </a:lnSpc>
                        <a:buNone/>
                      </a:pPr>
                      <a:r>
                        <a:rPr lang="en-US" sz="1500" dirty="0">
                          <a:solidFill>
                            <a:srgbClr val="12202C"/>
                          </a:solidFill>
                          <a:latin typeface="IBM Plex Sans" pitchFamily="34" charset="0"/>
                          <a:ea typeface="IBM Plex Sans" pitchFamily="34" charset="-122"/>
                          <a:cs typeface="IBM Plex Sans" pitchFamily="34" charset="-120"/>
                        </a:rPr>
                        <a:t>46%</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algn="r" indent="0" marL="0">
                        <a:lnSpc>
                          <a:spcPts val="2100"/>
                        </a:lnSpc>
                        <a:buNone/>
                      </a:pPr>
                      <a:r>
                        <a:rPr lang="en-US" sz="1500" dirty="0">
                          <a:solidFill>
                            <a:srgbClr val="12202C"/>
                          </a:solidFill>
                          <a:latin typeface="IBM Plex Sans" pitchFamily="34" charset="0"/>
                          <a:ea typeface="IBM Plex Sans" pitchFamily="34" charset="-122"/>
                          <a:cs typeface="IBM Plex Sans" pitchFamily="34" charset="-120"/>
                        </a:rPr>
                        <a:t>42%</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411268">
                <a:tc>
                  <a:txBody>
                    <a:bodyPr/>
                    <a:lstStyle/>
                    <a:p>
                      <a:pPr indent="0" marL="0">
                        <a:lnSpc>
                          <a:spcPts val="2100"/>
                        </a:lnSpc>
                        <a:buNone/>
                      </a:pPr>
                      <a:r>
                        <a:rPr lang="en-US" sz="1500" dirty="0">
                          <a:solidFill>
                            <a:srgbClr val="12202C"/>
                          </a:solidFill>
                          <a:latin typeface="IBM Plex Sans" pitchFamily="34" charset="0"/>
                          <a:ea typeface="IBM Plex Sans" pitchFamily="34" charset="-122"/>
                          <a:cs typeface="IBM Plex Sans" pitchFamily="34" charset="-120"/>
                        </a:rPr>
                        <a:t>After: 4 to 6 letters, weighted</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algn="r" indent="0" marL="0">
                        <a:lnSpc>
                          <a:spcPts val="2100"/>
                        </a:lnSpc>
                        <a:buNone/>
                      </a:pPr>
                      <a:r>
                        <a:rPr lang="en-US" sz="1500" dirty="0">
                          <a:solidFill>
                            <a:srgbClr val="12202C"/>
                          </a:solidFill>
                          <a:latin typeface="IBM Plex Sans" pitchFamily="34" charset="0"/>
                          <a:ea typeface="IBM Plex Sans" pitchFamily="34" charset="-122"/>
                          <a:cs typeface="IBM Plex Sans" pitchFamily="34" charset="-120"/>
                        </a:rPr>
                        <a:t>72.9%</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algn="r" indent="0" marL="0">
                        <a:lnSpc>
                          <a:spcPts val="2100"/>
                        </a:lnSpc>
                        <a:buNone/>
                      </a:pPr>
                      <a:r>
                        <a:rPr lang="en-US" sz="1500" dirty="0">
                          <a:solidFill>
                            <a:srgbClr val="12202C"/>
                          </a:solidFill>
                          <a:latin typeface="IBM Plex Sans" pitchFamily="34" charset="0"/>
                          <a:ea typeface="IBM Plex Sans" pitchFamily="34" charset="-122"/>
                          <a:cs typeface="IBM Plex Sans" pitchFamily="34" charset="-120"/>
                        </a:rPr>
                        <a:t>72.3%</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algn="r" indent="0" marL="0">
                        <a:lnSpc>
                          <a:spcPts val="2100"/>
                        </a:lnSpc>
                        <a:buNone/>
                      </a:pPr>
                      <a:r>
                        <a:rPr lang="en-US" sz="1500" dirty="0">
                          <a:solidFill>
                            <a:srgbClr val="12202C"/>
                          </a:solidFill>
                          <a:latin typeface="IBM Plex Sans" pitchFamily="34" charset="0"/>
                          <a:ea typeface="IBM Plex Sans" pitchFamily="34" charset="-122"/>
                          <a:cs typeface="IBM Plex Sans" pitchFamily="34" charset="-120"/>
                        </a:rPr>
                        <a:t>72.5%</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bl>
          </a:graphicData>
        </a:graphic>
      </p:graphicFrame>
      <p:sp>
        <p:nvSpPr>
          <p:cNvPr id="5" name="Shape 2"/>
          <p:cNvSpPr/>
          <p:nvPr/>
        </p:nvSpPr>
        <p:spPr>
          <a:xfrm>
            <a:off x="819150" y="3390050"/>
            <a:ext cx="5180118" cy="1253067"/>
          </a:xfrm>
          <a:prstGeom prst="roundRect">
            <a:avLst>
              <a:gd name="adj" fmla="val 9628"/>
            </a:avLst>
          </a:prstGeom>
          <a:solidFill>
            <a:srgbClr val="FBF9F4"/>
          </a:solidFill>
          <a:ln w="12700">
            <a:solidFill>
              <a:srgbClr val="D9D3C4"/>
            </a:solidFill>
            <a:prstDash val="solid"/>
          </a:ln>
        </p:spPr>
      </p:sp>
      <p:sp>
        <p:nvSpPr>
          <p:cNvPr id="6" name="Text 3"/>
          <p:cNvSpPr/>
          <p:nvPr/>
        </p:nvSpPr>
        <p:spPr>
          <a:xfrm>
            <a:off x="1052618" y="3598125"/>
            <a:ext cx="4854577" cy="288290"/>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12202C"/>
                </a:solidFill>
                <a:latin typeface="Space Grotesk" pitchFamily="34" charset="0"/>
                <a:ea typeface="Space Grotesk" pitchFamily="34" charset="-122"/>
                <a:cs typeface="Space Grotesk" pitchFamily="34" charset="-120"/>
              </a:rPr>
              <a:t>What I found</a:t>
            </a:r>
            <a:endParaRPr lang="en-US" sz="1800" dirty="0"/>
          </a:p>
        </p:txBody>
      </p:sp>
      <p:sp>
        <p:nvSpPr>
          <p:cNvPr id="7" name="Text 4"/>
          <p:cNvSpPr/>
          <p:nvPr/>
        </p:nvSpPr>
        <p:spPr>
          <a:xfrm>
            <a:off x="1052618" y="3937211"/>
            <a:ext cx="485457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9"/>
                </a:solidFill>
                <a:latin typeface="IBM Plex Sans" pitchFamily="34" charset="0"/>
                <a:ea typeface="IBM Plex Sans" pitchFamily="34" charset="-122"/>
                <a:cs typeface="IBM Plex Sans" pitchFamily="34" charset="-120"/>
              </a:rPr>
              <a:t>A bigger vocabulary holds more short look-alikes, so the cleverer tiers played worse on common words.</a:t>
            </a:r>
            <a:endParaRPr lang="en-US" sz="1400" dirty="0"/>
          </a:p>
        </p:txBody>
      </p:sp>
      <p:sp>
        <p:nvSpPr>
          <p:cNvPr id="8" name="Shape 5"/>
          <p:cNvSpPr/>
          <p:nvPr/>
        </p:nvSpPr>
        <p:spPr>
          <a:xfrm>
            <a:off x="6208818" y="3383700"/>
            <a:ext cx="5170382" cy="1265767"/>
          </a:xfrm>
          <a:prstGeom prst="roundRect">
            <a:avLst>
              <a:gd name="adj" fmla="val 10033"/>
            </a:avLst>
          </a:prstGeom>
          <a:solidFill>
            <a:srgbClr val="12202C"/>
          </a:solidFill>
          <a:ln/>
        </p:spPr>
      </p:sp>
      <p:sp>
        <p:nvSpPr>
          <p:cNvPr id="9" name="Text 6"/>
          <p:cNvSpPr/>
          <p:nvPr/>
        </p:nvSpPr>
        <p:spPr>
          <a:xfrm>
            <a:off x="6437418" y="3586900"/>
            <a:ext cx="4854577" cy="288290"/>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F2B544"/>
                </a:solidFill>
                <a:latin typeface="Space Grotesk" pitchFamily="34" charset="0"/>
                <a:ea typeface="Space Grotesk" pitchFamily="34" charset="-122"/>
                <a:cs typeface="Space Grotesk" pitchFamily="34" charset="-120"/>
              </a:rPr>
              <a:t>What I changed</a:t>
            </a:r>
            <a:endParaRPr lang="en-US" sz="1800" dirty="0"/>
          </a:p>
        </p:txBody>
      </p:sp>
      <p:sp>
        <p:nvSpPr>
          <p:cNvPr id="10" name="Text 7"/>
          <p:cNvSpPr/>
          <p:nvPr/>
        </p:nvSpPr>
        <p:spPr>
          <a:xfrm>
            <a:off x="6437418" y="3925993"/>
            <a:ext cx="485457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4E8EB"/>
                </a:solidFill>
                <a:latin typeface="IBM Plex Sans" pitchFamily="34" charset="0"/>
                <a:ea typeface="IBM Plex Sans" pitchFamily="34" charset="-122"/>
                <a:cs typeface="IBM Plex Sans" pitchFamily="34" charset="-120"/>
              </a:rPr>
              <a:t>Candidates are weighted by how common they are. A gate now checks tier order: 0 of 171 comparisons fail.</a:t>
            </a:r>
            <a:endParaRPr lang="en-US" sz="1400" dirty="0"/>
          </a:p>
        </p:txBody>
      </p:sp>
      <p:sp>
        <p:nvSpPr>
          <p:cNvPr id="11" name="Text 8"/>
          <p:cNvSpPr/>
          <p:nvPr/>
        </p:nvSpPr>
        <p:spPr>
          <a:xfrm>
            <a:off x="812800" y="6238242"/>
            <a:ext cx="83820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977"/>
                </a:solidFill>
                <a:latin typeface="IBM Plex Sans" pitchFamily="34" charset="0"/>
                <a:ea typeface="IBM Plex Sans" pitchFamily="34" charset="-122"/>
                <a:cs typeface="IBM Plex Sans" pitchFamily="34" charset="-120"/>
              </a:rPr>
              <a:t>Two different word sets, so compare rows by their trend only. Cost: rare words are guessed less often.</a:t>
            </a:r>
            <a:endParaRPr lang="en-US" sz="1200" dirty="0"/>
          </a:p>
        </p:txBody>
      </p:sp>
      <p:sp>
        <p:nvSpPr>
          <p:cNvPr id="12" name="Text 9"/>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977"/>
                </a:solidFill>
                <a:latin typeface="IBM Plex Sans" pitchFamily="34" charset="0"/>
                <a:ea typeface="IBM Plex Sans" pitchFamily="34" charset="-122"/>
                <a:cs typeface="IBM Plex Sans" pitchFamily="34" charset="-120"/>
              </a:rPr>
              <a:t>11 / 15</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A2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F2B544"/>
                </a:solidFill>
                <a:latin typeface="JetBrains Mono" pitchFamily="49" charset="0"/>
                <a:ea typeface="JetBrains Mono" pitchFamily="49" charset="-122"/>
                <a:cs typeface="JetBrains Mono" pitchFamily="49" charset="-120"/>
              </a:rPr>
              <a:t>11 · HER REASONING</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1EA"/>
                </a:solidFill>
                <a:latin typeface="Space Grotesk" pitchFamily="34" charset="0"/>
                <a:ea typeface="Space Grotesk" pitchFamily="34" charset="-122"/>
                <a:cs typeface="Space Grotesk" pitchFamily="34" charset="-120"/>
              </a:rPr>
              <a:t>She explains each guess, and it is true</a:t>
            </a:r>
            <a:endParaRPr lang="en-US" sz="3600" dirty="0"/>
          </a:p>
        </p:txBody>
      </p:sp>
      <p:pic>
        <p:nvPicPr>
          <p:cNvPr id="4" name="Image 0" descr="The Illucia Observatory mid-duel: the robot Illucia beside her notebook, a bar chart of letter scores with N highlighted, her reasoning line, and the five words still possible: burden, garden, harden, hordes, warden.">    </p:cNvPr>
          <p:cNvPicPr>
            <a:picLocks noChangeAspect="1"/>
          </p:cNvPicPr>
          <p:nvPr/>
        </p:nvPicPr>
        <p:blipFill>
          <a:blip r:embed="rId1"/>
          <a:srcRect l="0" r="0" t="232" b="232"/>
          <a:stretch/>
        </p:blipFill>
        <p:spPr>
          <a:xfrm>
            <a:off x="825500" y="1948179"/>
            <a:ext cx="6959600" cy="3403600"/>
          </a:xfrm>
          <a:prstGeom prst="roundRect">
            <a:avLst>
              <a:gd name="adj" fmla="val 2612"/>
            </a:avLst>
          </a:prstGeom>
        </p:spPr>
      </p:pic>
      <p:sp>
        <p:nvSpPr>
          <p:cNvPr id="5" name="Shape 2"/>
          <p:cNvSpPr/>
          <p:nvPr/>
        </p:nvSpPr>
        <p:spPr>
          <a:xfrm>
            <a:off x="819150" y="1941829"/>
            <a:ext cx="6972300" cy="3416300"/>
          </a:xfrm>
          <a:prstGeom prst="roundRect">
            <a:avLst>
              <a:gd name="adj" fmla="val 2788"/>
            </a:avLst>
          </a:prstGeom>
          <a:noFill/>
          <a:ln w="12700">
            <a:solidFill>
              <a:srgbClr val="28425A"/>
            </a:solidFill>
            <a:prstDash val="solid"/>
          </a:ln>
        </p:spPr>
      </p:sp>
      <p:sp>
        <p:nvSpPr>
          <p:cNvPr id="6" name="Text 3"/>
          <p:cNvSpPr/>
          <p:nvPr/>
        </p:nvSpPr>
        <p:spPr>
          <a:xfrm>
            <a:off x="812800" y="5466079"/>
            <a:ext cx="7194550" cy="26543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F4F1EA"/>
                </a:solidFill>
                <a:latin typeface="IBM Plex Sans" pitchFamily="34" charset="0"/>
                <a:ea typeface="IBM Plex Sans" pitchFamily="34" charset="-122"/>
                <a:cs typeface="IBM Plex Sans" pitchFamily="34" charset="-120"/>
              </a:rPr>
              <a:t>The Observatory.</a:t>
            </a:r>
            <a:r>
              <a:rPr lang="en-US" sz="1400" dirty="0">
                <a:solidFill>
                  <a:srgbClr val="A9BAC8"/>
                </a:solidFill>
                <a:latin typeface="IBM Plex Sans" pitchFamily="34" charset="0"/>
                <a:ea typeface="IBM Plex Sans" pitchFamily="34" charset="-122"/>
                <a:cs typeface="IBM Plex Sans" pitchFamily="34" charset="-120"/>
              </a:rPr>
              <a:t> A live duel, Apprentice level, turn 4.</a:t>
            </a:r>
            <a:endParaRPr lang="en-US" sz="1400" dirty="0"/>
          </a:p>
        </p:txBody>
      </p:sp>
      <p:sp>
        <p:nvSpPr>
          <p:cNvPr id="7" name="Shape 4"/>
          <p:cNvSpPr/>
          <p:nvPr/>
        </p:nvSpPr>
        <p:spPr>
          <a:xfrm>
            <a:off x="8058150" y="1941829"/>
            <a:ext cx="3314700" cy="1122257"/>
          </a:xfrm>
          <a:prstGeom prst="roundRect">
            <a:avLst>
              <a:gd name="adj" fmla="val 10751"/>
            </a:avLst>
          </a:prstGeom>
          <a:solidFill>
            <a:srgbClr val="172A3B"/>
          </a:solidFill>
          <a:ln w="12700">
            <a:solidFill>
              <a:srgbClr val="28425A"/>
            </a:solidFill>
            <a:prstDash val="solid"/>
          </a:ln>
        </p:spPr>
      </p:sp>
      <p:sp>
        <p:nvSpPr>
          <p:cNvPr id="8" name="Text 5"/>
          <p:cNvSpPr/>
          <p:nvPr/>
        </p:nvSpPr>
        <p:spPr>
          <a:xfrm>
            <a:off x="8266218" y="2124497"/>
            <a:ext cx="298552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B544"/>
                </a:solidFill>
                <a:latin typeface="JetBrains Mono" pitchFamily="49" charset="0"/>
                <a:ea typeface="JetBrains Mono" pitchFamily="49" charset="-122"/>
                <a:cs typeface="JetBrains Mono" pitchFamily="49" charset="-120"/>
              </a:rPr>
              <a:t>The chart</a:t>
            </a:r>
            <a:endParaRPr lang="en-US" sz="1200" dirty="0"/>
          </a:p>
        </p:txBody>
      </p:sp>
      <p:sp>
        <p:nvSpPr>
          <p:cNvPr id="9" name="Text 6"/>
          <p:cNvSpPr/>
          <p:nvPr/>
        </p:nvSpPr>
        <p:spPr>
          <a:xfrm>
            <a:off x="8266218" y="2401360"/>
            <a:ext cx="2985520"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E4E8EB"/>
                </a:solidFill>
                <a:latin typeface="IBM Plex Sans" pitchFamily="34" charset="0"/>
                <a:ea typeface="IBM Plex Sans" pitchFamily="34" charset="-122"/>
                <a:cs typeface="IBM Plex Sans" pitchFamily="34" charset="-120"/>
              </a:rPr>
              <a:t>One bar per letter. Her shortlist sits above the dashed line.</a:t>
            </a:r>
            <a:endParaRPr lang="en-US" sz="1400" dirty="0"/>
          </a:p>
        </p:txBody>
      </p:sp>
      <p:sp>
        <p:nvSpPr>
          <p:cNvPr id="10" name="Shape 7"/>
          <p:cNvSpPr/>
          <p:nvPr/>
        </p:nvSpPr>
        <p:spPr>
          <a:xfrm>
            <a:off x="8058150" y="3229186"/>
            <a:ext cx="3314700" cy="1122257"/>
          </a:xfrm>
          <a:prstGeom prst="roundRect">
            <a:avLst>
              <a:gd name="adj" fmla="val 10751"/>
            </a:avLst>
          </a:prstGeom>
          <a:solidFill>
            <a:srgbClr val="172A3B"/>
          </a:solidFill>
          <a:ln w="12700">
            <a:solidFill>
              <a:srgbClr val="28425A"/>
            </a:solidFill>
            <a:prstDash val="solid"/>
          </a:ln>
        </p:spPr>
      </p:sp>
      <p:sp>
        <p:nvSpPr>
          <p:cNvPr id="11" name="Text 8"/>
          <p:cNvSpPr/>
          <p:nvPr/>
        </p:nvSpPr>
        <p:spPr>
          <a:xfrm>
            <a:off x="8266218" y="3411854"/>
            <a:ext cx="298552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B544"/>
                </a:solidFill>
                <a:latin typeface="JetBrains Mono" pitchFamily="49" charset="0"/>
                <a:ea typeface="JetBrains Mono" pitchFamily="49" charset="-122"/>
                <a:cs typeface="JetBrains Mono" pitchFamily="49" charset="-120"/>
              </a:rPr>
              <a:t>The line</a:t>
            </a:r>
            <a:endParaRPr lang="en-US" sz="1200" dirty="0"/>
          </a:p>
        </p:txBody>
      </p:sp>
      <p:sp>
        <p:nvSpPr>
          <p:cNvPr id="12" name="Text 9"/>
          <p:cNvSpPr/>
          <p:nvPr/>
        </p:nvSpPr>
        <p:spPr>
          <a:xfrm>
            <a:off x="8266218" y="3688717"/>
            <a:ext cx="2985520"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E4E8EB"/>
                </a:solidFill>
                <a:latin typeface="IBM Plex Sans" pitchFamily="34" charset="0"/>
                <a:ea typeface="IBM Plex Sans" pitchFamily="34" charset="-122"/>
                <a:cs typeface="IBM Plex Sans" pitchFamily="34" charset="-120"/>
              </a:rPr>
              <a:t>Written from her real decision record, not from a template.</a:t>
            </a:r>
            <a:endParaRPr lang="en-US" sz="1400" dirty="0"/>
          </a:p>
        </p:txBody>
      </p:sp>
      <p:sp>
        <p:nvSpPr>
          <p:cNvPr id="13" name="Shape 10"/>
          <p:cNvSpPr/>
          <p:nvPr/>
        </p:nvSpPr>
        <p:spPr>
          <a:xfrm>
            <a:off x="8051800" y="4510193"/>
            <a:ext cx="3327400" cy="1112520"/>
          </a:xfrm>
          <a:prstGeom prst="roundRect">
            <a:avLst>
              <a:gd name="adj" fmla="val 11416"/>
            </a:avLst>
          </a:prstGeom>
          <a:solidFill>
            <a:srgbClr val="F2B544"/>
          </a:solidFill>
          <a:ln/>
        </p:spPr>
      </p:sp>
      <p:sp>
        <p:nvSpPr>
          <p:cNvPr id="14" name="Text 11"/>
          <p:cNvSpPr/>
          <p:nvPr/>
        </p:nvSpPr>
        <p:spPr>
          <a:xfrm>
            <a:off x="8255000" y="4687993"/>
            <a:ext cx="300863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202C"/>
                </a:solidFill>
                <a:latin typeface="JetBrains Mono" pitchFamily="49" charset="0"/>
                <a:ea typeface="JetBrains Mono" pitchFamily="49" charset="-122"/>
                <a:cs typeface="JetBrains Mono" pitchFamily="49" charset="-120"/>
              </a:rPr>
              <a:t>Why</a:t>
            </a:r>
            <a:endParaRPr lang="en-US" sz="1200" dirty="0"/>
          </a:p>
        </p:txBody>
      </p:sp>
      <p:sp>
        <p:nvSpPr>
          <p:cNvPr id="15" name="Text 12"/>
          <p:cNvSpPr/>
          <p:nvPr/>
        </p:nvSpPr>
        <p:spPr>
          <a:xfrm>
            <a:off x="8255000" y="4964850"/>
            <a:ext cx="3008630"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2202C"/>
                </a:solidFill>
                <a:latin typeface="IBM Plex Sans" pitchFamily="34" charset="0"/>
                <a:ea typeface="IBM Plex Sans" pitchFamily="34" charset="-122"/>
                <a:cs typeface="IBM Plex Sans" pitchFamily="34" charset="-120"/>
              </a:rPr>
              <a:t>A line that describes something she did not do is a bug.</a:t>
            </a:r>
            <a:endParaRPr lang="en-US" sz="1400" dirty="0"/>
          </a:p>
        </p:txBody>
      </p:sp>
      <p:sp>
        <p:nvSpPr>
          <p:cNvPr id="16" name="Text 13"/>
          <p:cNvSpPr/>
          <p:nvPr/>
        </p:nvSpPr>
        <p:spPr>
          <a:xfrm>
            <a:off x="812800" y="6238242"/>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296A6"/>
                </a:solidFill>
                <a:latin typeface="IBM Plex Sans" pitchFamily="34" charset="0"/>
                <a:ea typeface="IBM Plex Sans" pitchFamily="34" charset="-122"/>
                <a:cs typeface="IBM Plex Sans" pitchFamily="34" charset="-120"/>
              </a:rPr>
              <a:t>Screenshot of hangman.spyrostrimis.com/illucia-observatory, October 2026.</a:t>
            </a:r>
            <a:endParaRPr lang="en-US" sz="1200" dirty="0"/>
          </a:p>
        </p:txBody>
      </p:sp>
      <p:sp>
        <p:nvSpPr>
          <p:cNvPr id="17" name="Text 14"/>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296A6"/>
                </a:solidFill>
                <a:latin typeface="IBM Plex Sans" pitchFamily="34" charset="0"/>
                <a:ea typeface="IBM Plex Sans" pitchFamily="34" charset="-122"/>
                <a:cs typeface="IBM Plex Sans" pitchFamily="34" charset="-120"/>
              </a:rPr>
              <a:t>12 / 15</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A2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F2B544"/>
                </a:solidFill>
                <a:latin typeface="JetBrains Mono" pitchFamily="49" charset="0"/>
                <a:ea typeface="JetBrains Mono" pitchFamily="49" charset="-122"/>
                <a:cs typeface="JetBrains Mono" pitchFamily="49" charset="-120"/>
              </a:rPr>
              <a:t>12 · HOW I WORK</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1EA"/>
                </a:solidFill>
                <a:latin typeface="Space Grotesk" pitchFamily="34" charset="0"/>
                <a:ea typeface="Space Grotesk" pitchFamily="34" charset="-122"/>
                <a:cs typeface="Space Grotesk" pitchFamily="34" charset="-120"/>
              </a:rPr>
              <a:t>Chat plans, Code executes, tests decide</a:t>
            </a:r>
            <a:endParaRPr lang="en-US" sz="3600" dirty="0"/>
          </a:p>
        </p:txBody>
      </p:sp>
      <p:sp>
        <p:nvSpPr>
          <p:cNvPr id="4" name="Shape 2"/>
          <p:cNvSpPr/>
          <p:nvPr/>
        </p:nvSpPr>
        <p:spPr>
          <a:xfrm>
            <a:off x="819150" y="1941829"/>
            <a:ext cx="3373967" cy="2186517"/>
          </a:xfrm>
          <a:prstGeom prst="roundRect">
            <a:avLst>
              <a:gd name="adj" fmla="val 5518"/>
            </a:avLst>
          </a:prstGeom>
          <a:solidFill>
            <a:srgbClr val="172A3B"/>
          </a:solidFill>
          <a:ln w="12700">
            <a:solidFill>
              <a:srgbClr val="28425A"/>
            </a:solidFill>
            <a:prstDash val="solid"/>
          </a:ln>
        </p:spPr>
      </p:sp>
      <p:sp>
        <p:nvSpPr>
          <p:cNvPr id="5" name="Text 3"/>
          <p:cNvSpPr/>
          <p:nvPr/>
        </p:nvSpPr>
        <p:spPr>
          <a:xfrm>
            <a:off x="1052618" y="2195618"/>
            <a:ext cx="43891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B544"/>
                </a:solidFill>
                <a:latin typeface="JetBrains Mono" pitchFamily="49" charset="0"/>
                <a:ea typeface="JetBrains Mono" pitchFamily="49" charset="-122"/>
                <a:cs typeface="JetBrains Mono" pitchFamily="49" charset="-120"/>
              </a:rPr>
              <a:t>Plan</a:t>
            </a:r>
            <a:endParaRPr lang="en-US" sz="1200" dirty="0"/>
          </a:p>
        </p:txBody>
      </p:sp>
      <p:pic>
        <p:nvPicPr>
          <p:cNvPr id="6" name="Image 0" descr="Chat">    </p:cNvPr>
          <p:cNvPicPr>
            <a:picLocks noChangeAspect="1"/>
          </p:cNvPicPr>
          <p:nvPr/>
        </p:nvPicPr>
        <p:blipFill>
          <a:blip r:embed="rId1"/>
          <a:srcRect l="0" r="0" t="0" b="0"/>
          <a:stretch/>
        </p:blipFill>
        <p:spPr>
          <a:xfrm>
            <a:off x="3705648" y="2175297"/>
            <a:ext cx="254000" cy="254000"/>
          </a:xfrm>
          <a:prstGeom prst="rect">
            <a:avLst/>
          </a:prstGeom>
        </p:spPr>
      </p:pic>
      <p:sp>
        <p:nvSpPr>
          <p:cNvPr id="7" name="Text 4"/>
          <p:cNvSpPr/>
          <p:nvPr/>
        </p:nvSpPr>
        <p:spPr>
          <a:xfrm>
            <a:off x="1052618" y="2518197"/>
            <a:ext cx="2994241"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F4F1EA"/>
                </a:solidFill>
                <a:latin typeface="Space Grotesk" pitchFamily="34" charset="0"/>
                <a:ea typeface="Space Grotesk" pitchFamily="34" charset="-122"/>
                <a:cs typeface="Space Grotesk" pitchFamily="34" charset="-120"/>
              </a:rPr>
              <a:t>In Claude chat</a:t>
            </a:r>
            <a:endParaRPr lang="en-US" sz="2000" dirty="0"/>
          </a:p>
        </p:txBody>
      </p:sp>
      <p:sp>
        <p:nvSpPr>
          <p:cNvPr id="8" name="Text 5"/>
          <p:cNvSpPr/>
          <p:nvPr/>
        </p:nvSpPr>
        <p:spPr>
          <a:xfrm>
            <a:off x="1052618" y="2899197"/>
            <a:ext cx="2994241"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AC8"/>
                </a:solidFill>
                <a:latin typeface="IBM Plex Sans" pitchFamily="34" charset="0"/>
                <a:ea typeface="IBM Plex Sans" pitchFamily="34" charset="-122"/>
                <a:cs typeface="IBM Plex Sans" pitchFamily="34" charset="-120"/>
              </a:rPr>
              <a:t>A Project holds the instructions, a living state.md and a build diary. Decisions are made here.</a:t>
            </a:r>
            <a:endParaRPr lang="en-US" sz="1400" dirty="0"/>
          </a:p>
        </p:txBody>
      </p:sp>
      <p:sp>
        <p:nvSpPr>
          <p:cNvPr id="9" name="Shape 6"/>
          <p:cNvSpPr/>
          <p:nvPr/>
        </p:nvSpPr>
        <p:spPr>
          <a:xfrm>
            <a:off x="4409017" y="1941829"/>
            <a:ext cx="3373967" cy="2186517"/>
          </a:xfrm>
          <a:prstGeom prst="roundRect">
            <a:avLst>
              <a:gd name="adj" fmla="val 5518"/>
            </a:avLst>
          </a:prstGeom>
          <a:solidFill>
            <a:srgbClr val="172A3B"/>
          </a:solidFill>
          <a:ln w="12700">
            <a:solidFill>
              <a:srgbClr val="28425A"/>
            </a:solidFill>
            <a:prstDash val="solid"/>
          </a:ln>
        </p:spPr>
      </p:sp>
      <p:sp>
        <p:nvSpPr>
          <p:cNvPr id="10" name="Text 7"/>
          <p:cNvSpPr/>
          <p:nvPr/>
        </p:nvSpPr>
        <p:spPr>
          <a:xfrm>
            <a:off x="4642485" y="2195618"/>
            <a:ext cx="76809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B544"/>
                </a:solidFill>
                <a:latin typeface="JetBrains Mono" pitchFamily="49" charset="0"/>
                <a:ea typeface="JetBrains Mono" pitchFamily="49" charset="-122"/>
                <a:cs typeface="JetBrains Mono" pitchFamily="49" charset="-120"/>
              </a:rPr>
              <a:t>Execute</a:t>
            </a:r>
            <a:endParaRPr lang="en-US" sz="1200" dirty="0"/>
          </a:p>
        </p:txBody>
      </p:sp>
      <p:pic>
        <p:nvPicPr>
          <p:cNvPr id="11" name="Image 1" descr="Code">    </p:cNvPr>
          <p:cNvPicPr>
            <a:picLocks noChangeAspect="1"/>
          </p:cNvPicPr>
          <p:nvPr/>
        </p:nvPicPr>
        <p:blipFill>
          <a:blip r:embed="rId2"/>
          <a:srcRect l="0" r="0" t="0" b="0"/>
          <a:stretch/>
        </p:blipFill>
        <p:spPr>
          <a:xfrm>
            <a:off x="7295515" y="2175297"/>
            <a:ext cx="254000" cy="254000"/>
          </a:xfrm>
          <a:prstGeom prst="rect">
            <a:avLst/>
          </a:prstGeom>
        </p:spPr>
      </p:pic>
      <p:sp>
        <p:nvSpPr>
          <p:cNvPr id="12" name="Text 8"/>
          <p:cNvSpPr/>
          <p:nvPr/>
        </p:nvSpPr>
        <p:spPr>
          <a:xfrm>
            <a:off x="4642485" y="2518197"/>
            <a:ext cx="2994241"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F4F1EA"/>
                </a:solidFill>
                <a:latin typeface="Space Grotesk" pitchFamily="34" charset="0"/>
                <a:ea typeface="Space Grotesk" pitchFamily="34" charset="-122"/>
                <a:cs typeface="Space Grotesk" pitchFamily="34" charset="-120"/>
              </a:rPr>
              <a:t>In Claude Code</a:t>
            </a:r>
            <a:endParaRPr lang="en-US" sz="2000" dirty="0"/>
          </a:p>
        </p:txBody>
      </p:sp>
      <p:sp>
        <p:nvSpPr>
          <p:cNvPr id="13" name="Text 9"/>
          <p:cNvSpPr/>
          <p:nvPr/>
        </p:nvSpPr>
        <p:spPr>
          <a:xfrm>
            <a:off x="4642485" y="2899197"/>
            <a:ext cx="2994241"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AC8"/>
                </a:solidFill>
                <a:latin typeface="IBM Plex Sans" pitchFamily="34" charset="0"/>
                <a:ea typeface="IBM Plex Sans" pitchFamily="34" charset="-122"/>
                <a:cs typeface="IBM Plex Sans" pitchFamily="34" charset="-120"/>
              </a:rPr>
              <a:t>One scoped task per session. CLAUDE.md carries the constraints, and the opening prompt is the handoff.</a:t>
            </a:r>
            <a:endParaRPr lang="en-US" sz="1400" dirty="0"/>
          </a:p>
        </p:txBody>
      </p:sp>
      <p:sp>
        <p:nvSpPr>
          <p:cNvPr id="14" name="Shape 10"/>
          <p:cNvSpPr/>
          <p:nvPr/>
        </p:nvSpPr>
        <p:spPr>
          <a:xfrm>
            <a:off x="7998883" y="1941829"/>
            <a:ext cx="3373967" cy="2186517"/>
          </a:xfrm>
          <a:prstGeom prst="roundRect">
            <a:avLst>
              <a:gd name="adj" fmla="val 5518"/>
            </a:avLst>
          </a:prstGeom>
          <a:solidFill>
            <a:srgbClr val="172A3B"/>
          </a:solidFill>
          <a:ln w="12700">
            <a:solidFill>
              <a:srgbClr val="28425A"/>
            </a:solidFill>
            <a:prstDash val="solid"/>
          </a:ln>
        </p:spPr>
      </p:sp>
      <p:sp>
        <p:nvSpPr>
          <p:cNvPr id="15" name="Text 11"/>
          <p:cNvSpPr/>
          <p:nvPr/>
        </p:nvSpPr>
        <p:spPr>
          <a:xfrm>
            <a:off x="8232352" y="2195618"/>
            <a:ext cx="65836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D0C5"/>
                </a:solidFill>
                <a:latin typeface="JetBrains Mono" pitchFamily="49" charset="0"/>
                <a:ea typeface="JetBrains Mono" pitchFamily="49" charset="-122"/>
                <a:cs typeface="JetBrains Mono" pitchFamily="49" charset="-120"/>
              </a:rPr>
              <a:t>Verify</a:t>
            </a:r>
            <a:endParaRPr lang="en-US" sz="1200" dirty="0"/>
          </a:p>
        </p:txBody>
      </p:sp>
      <p:pic>
        <p:nvPicPr>
          <p:cNvPr id="16" name="Image 2" descr="CheckCircle">    </p:cNvPr>
          <p:cNvPicPr>
            <a:picLocks noChangeAspect="1"/>
          </p:cNvPicPr>
          <p:nvPr/>
        </p:nvPicPr>
        <p:blipFill>
          <a:blip r:embed="rId3"/>
          <a:srcRect l="0" r="0" t="0" b="0"/>
          <a:stretch/>
        </p:blipFill>
        <p:spPr>
          <a:xfrm>
            <a:off x="10885382" y="2175297"/>
            <a:ext cx="254000" cy="254000"/>
          </a:xfrm>
          <a:prstGeom prst="rect">
            <a:avLst/>
          </a:prstGeom>
        </p:spPr>
      </p:pic>
      <p:sp>
        <p:nvSpPr>
          <p:cNvPr id="17" name="Text 12"/>
          <p:cNvSpPr/>
          <p:nvPr/>
        </p:nvSpPr>
        <p:spPr>
          <a:xfrm>
            <a:off x="8232352" y="2518197"/>
            <a:ext cx="2994241"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F4F1EA"/>
                </a:solidFill>
                <a:latin typeface="Space Grotesk" pitchFamily="34" charset="0"/>
                <a:ea typeface="Space Grotesk" pitchFamily="34" charset="-122"/>
                <a:cs typeface="Space Grotesk" pitchFamily="34" charset="-120"/>
              </a:rPr>
              <a:t>Before trusting</a:t>
            </a:r>
            <a:endParaRPr lang="en-US" sz="2000" dirty="0"/>
          </a:p>
        </p:txBody>
      </p:sp>
      <p:sp>
        <p:nvSpPr>
          <p:cNvPr id="18" name="Text 13"/>
          <p:cNvSpPr/>
          <p:nvPr/>
        </p:nvSpPr>
        <p:spPr>
          <a:xfrm>
            <a:off x="8232352" y="2899197"/>
            <a:ext cx="2994241"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AC8"/>
                </a:solidFill>
                <a:latin typeface="IBM Plex Sans" pitchFamily="34" charset="0"/>
                <a:ea typeface="IBM Plex Sans" pitchFamily="34" charset="-122"/>
                <a:cs typeface="IBM Plex Sans" pitchFamily="34" charset="-120"/>
              </a:rPr>
              <a:t>Real diffs and real test output before each commit. A test counts only once I have seen it fail.</a:t>
            </a:r>
            <a:endParaRPr lang="en-US" sz="1400" dirty="0"/>
          </a:p>
        </p:txBody>
      </p:sp>
      <p:sp>
        <p:nvSpPr>
          <p:cNvPr id="19" name="Shape 14"/>
          <p:cNvSpPr/>
          <p:nvPr/>
        </p:nvSpPr>
        <p:spPr>
          <a:xfrm>
            <a:off x="812800" y="4452200"/>
            <a:ext cx="10566400" cy="0"/>
          </a:xfrm>
          <a:prstGeom prst="line">
            <a:avLst/>
          </a:prstGeom>
          <a:noFill/>
          <a:ln w="25400">
            <a:solidFill>
              <a:srgbClr val="F2B544"/>
            </a:solidFill>
            <a:prstDash val="solid"/>
          </a:ln>
        </p:spPr>
      </p:sp>
      <p:sp>
        <p:nvSpPr>
          <p:cNvPr id="20" name="Text 15"/>
          <p:cNvSpPr/>
          <p:nvPr/>
        </p:nvSpPr>
        <p:spPr>
          <a:xfrm>
            <a:off x="812800" y="4614335"/>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4F1EA"/>
                </a:solidFill>
                <a:latin typeface="IBM Plex Sans" pitchFamily="34" charset="0"/>
                <a:ea typeface="IBM Plex Sans" pitchFamily="34" charset="-122"/>
                <a:cs typeface="IBM Plex Sans" pitchFamily="34" charset="-120"/>
              </a:rPr>
              <a:t>One concern per change. One commit per change. Flag every adjacent fix, never bundle it silently.</a:t>
            </a:r>
            <a:endParaRPr lang="en-US" sz="1600" dirty="0"/>
          </a:p>
        </p:txBody>
      </p:sp>
      <p:sp>
        <p:nvSpPr>
          <p:cNvPr id="21" name="Text 16"/>
          <p:cNvSpPr/>
          <p:nvPr/>
        </p:nvSpPr>
        <p:spPr>
          <a:xfrm>
            <a:off x="812800" y="6238242"/>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296A6"/>
                </a:solidFill>
                <a:latin typeface="IBM Plex Sans" pitchFamily="34" charset="0"/>
                <a:ea typeface="IBM Plex Sans" pitchFamily="34" charset="-122"/>
                <a:cs typeface="IBM Plex Sans" pitchFamily="34" charset="-120"/>
              </a:rPr>
              <a:t>Hangman: Rescue Mission</a:t>
            </a:r>
            <a:endParaRPr lang="en-US" sz="1200" dirty="0"/>
          </a:p>
        </p:txBody>
      </p:sp>
      <p:sp>
        <p:nvSpPr>
          <p:cNvPr id="22" name="Text 17"/>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296A6"/>
                </a:solidFill>
                <a:latin typeface="IBM Plex Sans" pitchFamily="34" charset="0"/>
                <a:ea typeface="IBM Plex Sans" pitchFamily="34" charset="-122"/>
                <a:cs typeface="IBM Plex Sans" pitchFamily="34" charset="-120"/>
              </a:rPr>
              <a:t>13 / 15</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E7C70"/>
                </a:solidFill>
                <a:latin typeface="JetBrains Mono" pitchFamily="49" charset="0"/>
                <a:ea typeface="JetBrains Mono" pitchFamily="49" charset="-122"/>
                <a:cs typeface="JetBrains Mono" pitchFamily="49" charset="-120"/>
              </a:rPr>
              <a:t>13 · WHERE IT STANDS</a:t>
            </a:r>
            <a:endParaRPr lang="en-US" sz="1200" dirty="0"/>
          </a:p>
        </p:txBody>
      </p:sp>
      <p:sp>
        <p:nvSpPr>
          <p:cNvPr id="3" name="Text 1"/>
          <p:cNvSpPr/>
          <p:nvPr>
            <p:ph type="title"/>
          </p:nvPr>
        </p:nvSpPr>
        <p:spPr>
          <a:xfrm>
            <a:off x="812800" y="1127758"/>
            <a:ext cx="11379200"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202C"/>
                </a:solidFill>
                <a:latin typeface="Space Grotesk" pitchFamily="34" charset="0"/>
                <a:ea typeface="Space Grotesk" pitchFamily="34" charset="-122"/>
                <a:cs typeface="Space Grotesk" pitchFamily="34" charset="-120"/>
              </a:rPr>
              <a:t>Built, tested and live are three different claims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018" y="1946697"/>
          <a:ext cx="10555182" cy="2556510"/>
        </p:xfrm>
        <a:graphic>
          <a:graphicData uri="http://schemas.openxmlformats.org/drawingml/2006/table">
            <a:tbl>
              <a:tblPr/>
              <a:tblGrid>
                <a:gridCol w="3799865"/>
                <a:gridCol w="6755316"/>
              </a:tblGrid>
              <a:tr h="384598">
                <a:tc>
                  <a:txBody>
                    <a:bodyPr/>
                    <a:lstStyle/>
                    <a:p>
                      <a:pPr indent="0" marL="0">
                        <a:lnSpc>
                          <a:spcPts val="1960"/>
                        </a:lnSpc>
                        <a:buNone/>
                      </a:pPr>
                      <a:r>
                        <a:rPr lang="en-US" sz="1400" b="1" dirty="0">
                          <a:solidFill>
                            <a:srgbClr val="12202C"/>
                          </a:solidFill>
                          <a:latin typeface="IBM Plex Sans" pitchFamily="34" charset="0"/>
                          <a:ea typeface="IBM Plex Sans" pitchFamily="34" charset="-122"/>
                          <a:cs typeface="IBM Plex Sans" pitchFamily="34" charset="-120"/>
                        </a:rPr>
                        <a:t>Area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c>
                  <a:txBody>
                    <a:bodyPr/>
                    <a:lstStyle/>
                    <a:p>
                      <a:pPr indent="0" marL="0">
                        <a:lnSpc>
                          <a:spcPts val="1960"/>
                        </a:lnSpc>
                        <a:buNone/>
                      </a:pPr>
                      <a:r>
                        <a:rPr lang="en-US" sz="1400" b="1" dirty="0">
                          <a:solidFill>
                            <a:srgbClr val="12202C"/>
                          </a:solidFill>
                          <a:latin typeface="IBM Plex Sans" pitchFamily="34" charset="0"/>
                          <a:ea typeface="IBM Plex Sans" pitchFamily="34" charset="-122"/>
                          <a:cs typeface="IBM Plex Sans" pitchFamily="34" charset="-120"/>
                        </a:rPr>
                        <a:t>State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r>
              <a:tr h="384598">
                <a:tc>
                  <a:txBody>
                    <a:bodyPr/>
                    <a:lstStyle/>
                    <a:p>
                      <a:pPr indent="0" marL="0">
                        <a:lnSpc>
                          <a:spcPts val="1960"/>
                        </a:lnSpc>
                        <a:buNone/>
                      </a:pPr>
                      <a:r>
                        <a:rPr lang="en-US" sz="1400" dirty="0">
                          <a:solidFill>
                            <a:srgbClr val="12202C"/>
                          </a:solidFill>
                          <a:latin typeface="IBM Plex Sans" pitchFamily="34" charset="0"/>
                          <a:ea typeface="IBM Plex Sans" pitchFamily="34" charset="-122"/>
                          <a:cs typeface="IBM Plex Sans" pitchFamily="34" charset="-120"/>
                        </a:rPr>
                        <a:t>Accounts and Hall of Fame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960"/>
                        </a:lnSpc>
                        <a:buNone/>
                      </a:pPr>
                      <a:r>
                        <a:rPr lang="en-US" sz="1400" dirty="0">
                          <a:solidFill>
                            <a:srgbClr val="12202C"/>
                          </a:solidFill>
                          <a:latin typeface="IBM Plex Sans" pitchFamily="34" charset="0"/>
                          <a:ea typeface="IBM Plex Sans" pitchFamily="34" charset="-122"/>
                          <a:cs typeface="IBM Plex Sans" pitchFamily="34" charset="-120"/>
                        </a:rPr>
                        <a:t>Live. Signup, login and a saved win were verified in a browser.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384598">
                <a:tc>
                  <a:txBody>
                    <a:bodyPr/>
                    <a:lstStyle/>
                    <a:p>
                      <a:pPr indent="0" marL="0">
                        <a:lnSpc>
                          <a:spcPts val="1960"/>
                        </a:lnSpc>
                        <a:buNone/>
                      </a:pPr>
                      <a:r>
                        <a:rPr lang="en-US" sz="1400" dirty="0">
                          <a:solidFill>
                            <a:srgbClr val="12202C"/>
                          </a:solidFill>
                          <a:latin typeface="IBM Plex Sans" pitchFamily="34" charset="0"/>
                          <a:ea typeface="IBM Plex Sans" pitchFamily="34" charset="-122"/>
                          <a:cs typeface="IBM Plex Sans" pitchFamily="34" charset="-120"/>
                        </a:rPr>
                        <a:t>Round-ticket scoring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960"/>
                        </a:lnSpc>
                        <a:buNone/>
                      </a:pPr>
                      <a:r>
                        <a:rPr lang="en-US" sz="1400" dirty="0">
                          <a:solidFill>
                            <a:srgbClr val="12202C"/>
                          </a:solidFill>
                          <a:latin typeface="IBM Plex Sans" pitchFamily="34" charset="0"/>
                          <a:ea typeface="IBM Plex Sans" pitchFamily="34" charset="-122"/>
                          <a:cs typeface="IBM Plex Sans" pitchFamily="34" charset="-120"/>
                        </a:rPr>
                        <a:t>Live. Production API checks passed; a production browser check was blocked.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633518">
                <a:tc>
                  <a:txBody>
                    <a:bodyPr/>
                    <a:lstStyle/>
                    <a:p>
                      <a:pPr indent="0" marL="0">
                        <a:lnSpc>
                          <a:spcPts val="1960"/>
                        </a:lnSpc>
                        <a:buNone/>
                      </a:pPr>
                      <a:r>
                        <a:rPr lang="en-US" sz="1400" dirty="0">
                          <a:solidFill>
                            <a:srgbClr val="12202C"/>
                          </a:solidFill>
                          <a:latin typeface="IBM Plex Sans" pitchFamily="34" charset="0"/>
                          <a:ea typeface="IBM Plex Sans" pitchFamily="34" charset="-122"/>
                          <a:cs typeface="IBM Plex Sans" pitchFamily="34" charset="-120"/>
                        </a:rPr>
                        <a:t>Illucia duel and Observatory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960"/>
                        </a:lnSpc>
                        <a:buNone/>
                      </a:pPr>
                      <a:r>
                        <a:rPr lang="en-US" sz="1400" dirty="0">
                          <a:solidFill>
                            <a:srgbClr val="12202C"/>
                          </a:solidFill>
                          <a:latin typeface="IBM Plex Sans" pitchFamily="34" charset="0"/>
                          <a:ea typeface="IBM Plex Sans" pitchFamily="34" charset="-122"/>
                          <a:cs typeface="IBM Plex Sans" pitchFamily="34" charset="-120"/>
                        </a:rPr>
                        <a:t>Live for signed-in players. No authenticated production check of a points claim is recorded.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384598">
                <a:tc>
                  <a:txBody>
                    <a:bodyPr/>
                    <a:lstStyle/>
                    <a:p>
                      <a:pPr indent="0" marL="0">
                        <a:lnSpc>
                          <a:spcPts val="1960"/>
                        </a:lnSpc>
                        <a:buNone/>
                      </a:pPr>
                      <a:r>
                        <a:rPr lang="en-US" sz="1400" dirty="0">
                          <a:solidFill>
                            <a:srgbClr val="12202C"/>
                          </a:solidFill>
                          <a:latin typeface="IBM Plex Sans" pitchFamily="34" charset="0"/>
                          <a:ea typeface="IBM Plex Sans" pitchFamily="34" charset="-122"/>
                          <a:cs typeface="IBM Plex Sans" pitchFamily="34" charset="-120"/>
                        </a:rPr>
                        <a:t>Account deletion, round expiry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960"/>
                        </a:lnSpc>
                        <a:buNone/>
                      </a:pPr>
                      <a:r>
                        <a:rPr lang="en-US" sz="1400" dirty="0">
                          <a:solidFill>
                            <a:srgbClr val="12202C"/>
                          </a:solidFill>
                          <a:latin typeface="IBM Plex Sans" pitchFamily="34" charset="0"/>
                          <a:ea typeface="IBM Plex Sans" pitchFamily="34" charset="-122"/>
                          <a:cs typeface="IBM Plex Sans" pitchFamily="34" charset="-120"/>
                        </a:rPr>
                        <a:t>Deployed. No production check of deletion or a retention run is recorded.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384598">
                <a:tc>
                  <a:txBody>
                    <a:bodyPr/>
                    <a:lstStyle/>
                    <a:p>
                      <a:pPr indent="0" marL="0">
                        <a:lnSpc>
                          <a:spcPts val="1960"/>
                        </a:lnSpc>
                        <a:buNone/>
                      </a:pPr>
                      <a:r>
                        <a:rPr lang="en-US" sz="1400" dirty="0">
                          <a:solidFill>
                            <a:srgbClr val="12202C"/>
                          </a:solidFill>
                          <a:latin typeface="IBM Plex Sans" pitchFamily="34" charset="0"/>
                          <a:ea typeface="IBM Plex Sans" pitchFamily="34" charset="-122"/>
                          <a:cs typeface="IBM Plex Sans" pitchFamily="34" charset="-120"/>
                        </a:rPr>
                        <a:t>Experimental AI mode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960"/>
                        </a:lnSpc>
                        <a:buNone/>
                      </a:pPr>
                      <a:r>
                        <a:rPr lang="en-US" sz="1400" dirty="0">
                          <a:solidFill>
                            <a:srgbClr val="12202C"/>
                          </a:solidFill>
                          <a:latin typeface="IBM Plex Sans" pitchFamily="34" charset="0"/>
                          <a:ea typeface="IBM Plex Sans" pitchFamily="34" charset="-122"/>
                          <a:cs typeface="IBM Plex Sans" pitchFamily="34" charset="-120"/>
                        </a:rPr>
                        <a:t>Page tested against a mocked route only. The Worker route is deployed.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bl>
          </a:graphicData>
        </a:graphic>
      </p:graphicFrame>
      <p:sp>
        <p:nvSpPr>
          <p:cNvPr id="5" name="Text 2"/>
          <p:cNvSpPr/>
          <p:nvPr/>
        </p:nvSpPr>
        <p:spPr>
          <a:xfrm>
            <a:off x="812800" y="6238242"/>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977"/>
                </a:solidFill>
                <a:latin typeface="IBM Plex Sans" pitchFamily="34" charset="0"/>
                <a:ea typeface="IBM Plex Sans" pitchFamily="34" charset="-122"/>
                <a:cs typeface="IBM Plex Sans" pitchFamily="34" charset="-120"/>
              </a:rPr>
              <a:t>Status from the project notes, early October 2026.</a:t>
            </a:r>
            <a:endParaRPr lang="en-US" sz="1200" dirty="0"/>
          </a:p>
        </p:txBody>
      </p:sp>
      <p:sp>
        <p:nvSpPr>
          <p:cNvPr id="6" name="Text 3"/>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977"/>
                </a:solidFill>
                <a:latin typeface="IBM Plex Sans" pitchFamily="34" charset="0"/>
                <a:ea typeface="IBM Plex Sans" pitchFamily="34" charset="-122"/>
                <a:cs typeface="IBM Plex Sans" pitchFamily="34" charset="-120"/>
              </a:rPr>
              <a:t>14 / 15</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A2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F2B544"/>
                </a:solidFill>
                <a:latin typeface="JetBrains Mono" pitchFamily="49" charset="0"/>
                <a:ea typeface="JetBrains Mono" pitchFamily="49" charset="-122"/>
                <a:cs typeface="JetBrains Mono" pitchFamily="49" charset="-120"/>
              </a:rPr>
              <a:t>14 · WHAT'S NEXT</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1EA"/>
                </a:solidFill>
                <a:latin typeface="Space Grotesk" pitchFamily="34" charset="0"/>
                <a:ea typeface="Space Grotesk" pitchFamily="34" charset="-122"/>
                <a:cs typeface="Space Grotesk" pitchFamily="34" charset="-120"/>
              </a:rPr>
              <a:t>Still redesigning, still inventing</a:t>
            </a:r>
            <a:endParaRPr lang="en-US" sz="3600" dirty="0"/>
          </a:p>
        </p:txBody>
      </p:sp>
      <p:sp>
        <p:nvSpPr>
          <p:cNvPr id="4" name="Text 2"/>
          <p:cNvSpPr/>
          <p:nvPr/>
        </p:nvSpPr>
        <p:spPr>
          <a:xfrm>
            <a:off x="870458" y="1935479"/>
            <a:ext cx="5948603" cy="1743710"/>
          </a:xfrm>
          <a:prstGeom prst="rect">
            <a:avLst/>
          </a:prstGeom>
          <a:noFill/>
          <a:ln/>
        </p:spPr>
        <p:txBody>
          <a:bodyPr wrap="square" lIns="0" tIns="0" rIns="0" bIns="0" rtlCol="0" anchor="t">
            <a:normAutofit/>
          </a:bodyPr>
          <a:lstStyle/>
          <a:p>
            <a:pPr algn="l" marL="196342" indent="-196342">
              <a:lnSpc>
                <a:spcPts val="2240"/>
              </a:lnSpc>
              <a:buSzPct val="100000"/>
              <a:buChar char="•"/>
            </a:pPr>
            <a:r>
              <a:rPr lang="en-US" sz="1600" dirty="0">
                <a:solidFill>
                  <a:srgbClr val="E4E8EB"/>
                </a:solidFill>
                <a:latin typeface="IBM Plex Sans" pitchFamily="34" charset="0"/>
                <a:ea typeface="IBM Plex Sans" pitchFamily="34" charset="-122"/>
                <a:cs typeface="IBM Plex Sans" pitchFamily="34" charset="-120"/>
              </a:rPr>
              <a:t>Illucia v2: player memory, WordNet questions and an experimental AI mode, still to be checked live</a:t>
            </a:r>
            <a:endParaRPr lang="en-US" sz="1600" dirty="0"/>
          </a:p>
          <a:p>
            <a:pPr algn="l" marL="196342" indent="-196342">
              <a:lnSpc>
                <a:spcPts val="2240"/>
              </a:lnSpc>
              <a:buSzPct val="100000"/>
              <a:buChar char="•"/>
            </a:pPr>
            <a:r>
              <a:rPr lang="en-US" sz="1600" dirty="0">
                <a:solidFill>
                  <a:srgbClr val="E4E8EB"/>
                </a:solidFill>
                <a:latin typeface="IBM Plex Sans" pitchFamily="34" charset="0"/>
                <a:ea typeface="IBM Plex Sans" pitchFamily="34" charset="-122"/>
                <a:cs typeface="IBM Plex Sans" pitchFamily="34" charset="-120"/>
              </a:rPr>
              <a:t>Close the open production checks: scoring in a browser, account deletion, Illucia claims</a:t>
            </a:r>
            <a:endParaRPr lang="en-US" sz="1600" dirty="0"/>
          </a:p>
          <a:p>
            <a:pPr algn="l" marL="196342" indent="-196342">
              <a:lnSpc>
                <a:spcPts val="2240"/>
              </a:lnSpc>
              <a:buSzPct val="100000"/>
              <a:buChar char="•"/>
            </a:pPr>
            <a:r>
              <a:rPr lang="en-US" sz="1600" dirty="0">
                <a:solidFill>
                  <a:srgbClr val="E4E8EB"/>
                </a:solidFill>
                <a:latin typeface="IBM Plex Sans" pitchFamily="34" charset="0"/>
                <a:ea typeface="IBM Plex Sans" pitchFamily="34" charset="-122"/>
                <a:cs typeface="IBM Plex Sans" pitchFamily="34" charset="-120"/>
              </a:rPr>
              <a:t>Self-host the Merriam-Webster audio, if the licence allows it</a:t>
            </a:r>
            <a:endParaRPr lang="en-US" sz="1600" dirty="0"/>
          </a:p>
          <a:p>
            <a:pPr algn="l" marL="196342" indent="-196342">
              <a:lnSpc>
                <a:spcPts val="2240"/>
              </a:lnSpc>
              <a:buSzPct val="100000"/>
              <a:buChar char="•"/>
            </a:pPr>
            <a:r>
              <a:rPr lang="en-US" sz="1600" dirty="0">
                <a:solidFill>
                  <a:srgbClr val="E4E8EB"/>
                </a:solidFill>
                <a:latin typeface="IBM Plex Sans" pitchFamily="34" charset="0"/>
                <a:ea typeface="IBM Plex Sans" pitchFamily="34" charset="-122"/>
                <a:cs typeface="IBM Plex Sans" pitchFamily="34" charset="-120"/>
              </a:rPr>
              <a:t>Clear the open dependency advisories</a:t>
            </a:r>
            <a:endParaRPr lang="en-US" sz="1600" dirty="0"/>
          </a:p>
        </p:txBody>
      </p:sp>
      <p:sp>
        <p:nvSpPr>
          <p:cNvPr id="5" name="Shape 3"/>
          <p:cNvSpPr/>
          <p:nvPr/>
        </p:nvSpPr>
        <p:spPr>
          <a:xfrm>
            <a:off x="6962670" y="1941829"/>
            <a:ext cx="4410181" cy="1820757"/>
          </a:xfrm>
          <a:prstGeom prst="roundRect">
            <a:avLst>
              <a:gd name="adj" fmla="val 6626"/>
            </a:avLst>
          </a:prstGeom>
          <a:solidFill>
            <a:srgbClr val="172A3B"/>
          </a:solidFill>
          <a:ln w="12700">
            <a:solidFill>
              <a:srgbClr val="28425A"/>
            </a:solidFill>
            <a:prstDash val="solid"/>
          </a:ln>
        </p:spPr>
      </p:sp>
      <p:sp>
        <p:nvSpPr>
          <p:cNvPr id="6" name="Text 4"/>
          <p:cNvSpPr/>
          <p:nvPr/>
        </p:nvSpPr>
        <p:spPr>
          <a:xfrm>
            <a:off x="7221538" y="2200697"/>
            <a:ext cx="400921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B544"/>
                </a:solidFill>
                <a:latin typeface="JetBrains Mono" pitchFamily="49" charset="0"/>
                <a:ea typeface="JetBrains Mono" pitchFamily="49" charset="-122"/>
                <a:cs typeface="JetBrains Mono" pitchFamily="49" charset="-120"/>
              </a:rPr>
              <a:t>Play it</a:t>
            </a:r>
            <a:endParaRPr lang="en-US" sz="1200" dirty="0"/>
          </a:p>
        </p:txBody>
      </p:sp>
      <p:sp>
        <p:nvSpPr>
          <p:cNvPr id="7" name="Text 5"/>
          <p:cNvSpPr/>
          <p:nvPr/>
        </p:nvSpPr>
        <p:spPr>
          <a:xfrm>
            <a:off x="7221538" y="2541060"/>
            <a:ext cx="4009218"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F4F1EA"/>
                </a:solidFill>
                <a:latin typeface="IBM Plex Sans" pitchFamily="34" charset="0"/>
                <a:ea typeface="IBM Plex Sans" pitchFamily="34" charset="-122"/>
                <a:cs typeface="IBM Plex Sans" pitchFamily="34" charset="-120"/>
              </a:rPr>
              <a:t>hangman.spyrostrimis.com</a:t>
            </a:r>
            <a:endParaRPr lang="en-US" sz="1500" dirty="0"/>
          </a:p>
        </p:txBody>
      </p:sp>
      <p:sp>
        <p:nvSpPr>
          <p:cNvPr id="8" name="Text 6"/>
          <p:cNvSpPr/>
          <p:nvPr/>
        </p:nvSpPr>
        <p:spPr>
          <a:xfrm>
            <a:off x="7221538" y="2915710"/>
            <a:ext cx="400921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B544"/>
                </a:solidFill>
                <a:latin typeface="JetBrains Mono" pitchFamily="49" charset="0"/>
                <a:ea typeface="JetBrains Mono" pitchFamily="49" charset="-122"/>
                <a:cs typeface="JetBrains Mono" pitchFamily="49" charset="-120"/>
              </a:rPr>
              <a:t>Read the code</a:t>
            </a:r>
            <a:endParaRPr lang="en-US" sz="1200" dirty="0"/>
          </a:p>
        </p:txBody>
      </p:sp>
      <p:sp>
        <p:nvSpPr>
          <p:cNvPr id="9" name="Text 7"/>
          <p:cNvSpPr/>
          <p:nvPr/>
        </p:nvSpPr>
        <p:spPr>
          <a:xfrm>
            <a:off x="7221538" y="3256068"/>
            <a:ext cx="4009218"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F4F1EA"/>
                </a:solidFill>
                <a:latin typeface="IBM Plex Sans" pitchFamily="34" charset="0"/>
                <a:ea typeface="IBM Plex Sans" pitchFamily="34" charset="-122"/>
                <a:cs typeface="IBM Plex Sans" pitchFamily="34" charset="-120"/>
              </a:rPr>
              <a:t>github.com/spyrostrimis/hangman</a:t>
            </a:r>
            <a:endParaRPr lang="en-US" sz="1500" dirty="0"/>
          </a:p>
        </p:txBody>
      </p:sp>
      <p:sp>
        <p:nvSpPr>
          <p:cNvPr id="10" name="Text 8"/>
          <p:cNvSpPr/>
          <p:nvPr/>
        </p:nvSpPr>
        <p:spPr>
          <a:xfrm>
            <a:off x="812800" y="6238242"/>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296A6"/>
                </a:solidFill>
                <a:latin typeface="IBM Plex Sans" pitchFamily="34" charset="0"/>
                <a:ea typeface="IBM Plex Sans" pitchFamily="34" charset="-122"/>
                <a:cs typeface="IBM Plex Sans" pitchFamily="34" charset="-120"/>
              </a:rPr>
              <a:t>Dictionary content: Merriam-Webster's Collegiate® Dictionary with Audio.</a:t>
            </a:r>
            <a:endParaRPr lang="en-US" sz="1200" dirty="0"/>
          </a:p>
        </p:txBody>
      </p:sp>
      <p:sp>
        <p:nvSpPr>
          <p:cNvPr id="11" name="Text 9"/>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296A6"/>
                </a:solidFill>
                <a:latin typeface="IBM Plex Sans" pitchFamily="34" charset="0"/>
                <a:ea typeface="IBM Plex Sans" pitchFamily="34" charset="-122"/>
                <a:cs typeface="IBM Plex Sans" pitchFamily="34" charset="-120"/>
              </a:rPr>
              <a:t>15 / 15</a:t>
            </a:r>
            <a:endParaRPr lang="en-US" sz="1200" dirty="0"/>
          </a:p>
        </p:txBody>
      </p:sp>
    </p:spTree>
  </p:cSld>
  <p:clrMapOvr>
    <a:masterClrMapping/>
  </p:clrMapOvr>
</p:sld>
</file>

<file path=ppt/theme/theme1.xml><?xml version="1.0" encoding="utf-8"?>
<a:theme xmlns:a="http://schemas.openxmlformats.org/drawingml/2006/main" name="Hangman: Rescue Mission">
  <a:themeElements>
    <a:clrScheme name="Hangman: Rescue Mission">
      <a:dk1>
        <a:srgbClr val="0F1A24"/>
      </a:dk1>
      <a:lt1>
        <a:srgbClr val="F4F1EA"/>
      </a:lt1>
      <a:dk2>
        <a:srgbClr val="263038"/>
      </a:dk2>
      <a:lt2>
        <a:srgbClr val="BBBBB9"/>
      </a:lt2>
      <a:accent1>
        <a:srgbClr val="F2B544"/>
      </a:accent1>
      <a:accent2>
        <a:srgbClr val="0E7C70"/>
      </a:accent2>
      <a:accent3>
        <a:srgbClr val="5FD0C5"/>
      </a:accent3>
      <a:accent4>
        <a:srgbClr val="A9BAC8"/>
      </a:accent4>
      <a:accent5>
        <a:srgbClr val="8296A6"/>
      </a:accent5>
      <a:accent6>
        <a:srgbClr val="5B6977"/>
      </a:accent6>
      <a:hlink>
        <a:srgbClr val="0563C1"/>
      </a:hlink>
      <a:folHlink>
        <a:srgbClr val="954F72"/>
      </a:folHlink>
    </a:clrScheme>
    <a:fontScheme name="Hangman: Rescue Mission">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Hangman: Rescue Mission</dc:title>
  <dc:subject/>
  <dc:creator/>
  <cp:lastModifiedBy/>
  <cp:revision>1</cp:revision>
  <dcterms:created xsi:type="dcterms:W3CDTF">2026-10-07T16:22:08Z</dcterms:created>
  <dcterms:modified xsi:type="dcterms:W3CDTF">2026-10-07T16:22:08Z</dcterms:modified>
</cp:coreProperties>
</file>